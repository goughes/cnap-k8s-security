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BCF243-58B9-0742-34B1-70B47124C2FD}">
          <p14:sldIdLst>
            <p14:sldId id="256"/>
            <p14:sldId id="257"/>
            <p14:sldId id="258"/>
            <p14:sldId id="259"/>
          </p14:sldIdLst>
        </p14:section>
        <p14:section name="01 Multitenancy" id="{37EBD2DC-B986-3902-B251-3B0BC0FABAA5}">
          <p14:sldIdLst>
            <p14:sldId id="260"/>
            <p14:sldId id="261"/>
            <p14:sldId id="262"/>
            <p14:sldId id="263"/>
            <p14:sldId id="264"/>
          </p14:sldIdLst>
        </p14:section>
        <p14:section name="02 Setup" id="{2FAE549F-EB44-9ABA-4689-3F16AE0BD437}">
          <p14:sldIdLst>
            <p14:sldId id="265"/>
            <p14:sldId id="266"/>
            <p14:sldId id="267"/>
            <p14:sldId id="268"/>
            <p14:sldId id="269"/>
            <p14:sldId id="270"/>
            <p14:sldId id="271"/>
          </p14:sldIdLst>
        </p14:section>
        <p14:section name="03 Admission control" id="{DBFE974A-E553-85BC-213E-906F6598F02C}">
          <p14:sldIdLst>
            <p14:sldId id="272"/>
            <p14:sldId id="273"/>
            <p14:sldId id="274"/>
            <p14:sldId id="275"/>
            <p14:sldId id="276"/>
            <p14:sldId id="277"/>
            <p14:sldId id="278"/>
            <p14:sldId id="279"/>
            <p14:sldId id="280"/>
            <p14:sldId id="281"/>
            <p14:sldId id="282"/>
            <p14:sldId id="283"/>
            <p14:sldId id="284"/>
            <p14:sldId id="285"/>
          </p14:sldIdLst>
        </p14:section>
        <p14:section name="04 RBAC" id="{A88592C3-2EB3-1E38-B51F-06FC223890D5}">
          <p14:sldIdLst>
            <p14:sldId id="286"/>
            <p14:sldId id="287"/>
            <p14:sldId id="288"/>
            <p14:sldId id="289"/>
            <p14:sldId id="290"/>
            <p14:sldId id="291"/>
          </p14:sldIdLst>
        </p14:section>
        <p14:section name="05 Network policy" id="{704FD98C-25BB-C990-0B21-9FFA3C04D477}">
          <p14:sldIdLst>
            <p14:sldId id="292"/>
            <p14:sldId id="293"/>
            <p14:sldId id="294"/>
            <p14:sldId id="295"/>
            <p14:sldId id="296"/>
            <p14:sldId id="297"/>
          </p14:sldIdLst>
        </p14:section>
        <p14:section name="06 Secrets" id="{F59A22C8-993D-1FCF-61AF-FCE06C6FBCEA}">
          <p14:sldIdLst>
            <p14:sldId id="298"/>
            <p14:sldId id="299"/>
            <p14:sldId id="300"/>
            <p14:sldId id="301"/>
            <p14:sldId id="302"/>
          </p14:sldIdLst>
        </p14:section>
        <p14:section name="07 Audit logging" id="{F99C20EE-8B8B-6C75-D766-712323ADB740}">
          <p14:sldIdLst>
            <p14:sldId id="303"/>
            <p14:sldId id="304"/>
            <p14:sldId id="305"/>
            <p14:sldId id="306"/>
            <p14:sldId id="307"/>
          </p14:sldIdLst>
        </p14:section>
        <p14:section name="Wrap-up" id="{FF3E0347-7E7D-EFEE-4323-56F94A54A936}">
          <p14:sldIdLst>
            <p14:sldId id="308"/>
            <p14:sldId id="309"/>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8"/>
    <p:restoredTop sz="94516"/>
  </p:normalViewPr>
  <p:slideViewPr>
    <p:cSldViewPr snapToGrid="0" snapToObjects="1">
      <p:cViewPr varScale="1">
        <p:scale>
          <a:sx n="209" d="100"/>
          <a:sy n="209" d="100"/>
        </p:scale>
        <p:origin x="11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721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MASTER SHEET — HOW TO USE THESE NOTES
Every slide's notes are the board script. Sections in each note:
  SAY = what to say out loud (paraphrase freely).
  WHY IT MATTERS / CLOUD LINK = the 'why should I care' angle.
  STUCK? = what to check when a hand goes up, with the literal error text.
!!! READ THIS FIRST — PRE-FLIGHT VERIFICATION IS MANDATORY !!!
This deck was written without live internet access to the Kubewarden / cert-manager / Calico docs, so a handful of strings are version-sensitive and MUST be dry-run before you present:
  1. The Kubewarden policy module references (registry://ghcr.io/kubewarden/policies/...). The deck uses the :latest tag so nothing 404s on a version bump, but confirm each module pulls.
  2. The helm chart names and the cert-manager '--set crds.enabled=true' flag (older chart versions used 'installCRDs=true').
  3. The exact wording of the Kubewarden rejection message on slide 'Flip the switch to protect'. Run the deny once and paste the real string onto the slide.
  4. The etcd data path /var/lib/minikube/etcd/member/snap/db used in the Secrets section.
  5. Whether minikube's bundled Calico lands in kube-system or calico-system on your minikube version.
Run scripts/preflight.sh in the workshop repo on one Mac and one Windows laptop. It checks all of the above and prints the real values. Budget 30 minutes for this a week out.
ROLES FOR THE DAY
  - 1 presenter driving slides and typing live on the projector.
  - At least 1 floater per ~10 students.
  - Floaters: if someone is stuck more than 2 minutes, move them to Killercoda (backup slide) so they keep up, and fix the laptop afterwards.
BEFORE THE WORKSHOP (this is the part that decides whether the day works)
  - Post the deck and the repo link in Discord 4-5 days ahead. Ask everyone to do the whole SETUP section at home.
  - The cluster start pulls Calico, cert-manager and Kubewarden images: several hundred MB. A room of 30 people doing that simultaneously on venue Wi-Fi will not work. Insist on the at-home run.
  - Docker Desktop memory must be raised to 6 GB or minikube cannot get 4 GB. This is the single most common blocker. Put it in the Discord message in bold.
  - Ask for a screenshot in Discord from anyone whose cluster does not come up.
SAY: 'Last time you packaged an app and handed it to Kubernetes. Today you're the platform team. Same cluster, but now other people are on it too, and you have to assume at least one of them is hostile. You're going to attack a cluster, break out of a container onto the node, and then close every door you just walked through.'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'Quick word on where I work, because it is the reason this workshop exists. The Rosen Center is Purdue's research computing group. We run the big machines — and we run the Kubernetes platform that the next slide is about.'
THE THREE MACHINES: Gautschi is the AI system, Anvil is an NSF-funded national resource that researchers anywhere in the US can get an allocation on, and Negishi is a community cluster for faculty research groups. Pick one and say a sentence; do not inventory all three.
BOARD: the captions were taken from the alt text on the photos — adjust the dates and descriptions to whatever is current before you present.
WHY STUDENTS SHOULD CARE (say this, it is the useful bit): 'These are on campus, and undergraduates can get access. If you want somewhere to practise what we do today beyond a laptop, RCAC is it.'
TRANSITION: 'But the system this workshop is really about is not a supercomputer. It is the Kubernetes platform next door.'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Geddes. It is RCAC's Community Composable Platform: an on-premise private cloud built on Kubernetes, funded by an NSF grant. And it is genuinely multitenant — not as an architecture diagram, but as a thing with real tenants who do not know each other.'
WALK THE RIGHT-HAND SIDE, because the tenant list is the point: national projects like NanoHUB and CyberFACES, international collaborations like CMS, the Purdue GenAI Studio, AI lifecycle work, plus individual research groups and student projects. All on the same physical hardware.
THE SENTENCE THAT SETS UP THE WHOLE WORKSHOP: 'None of those groups chose each other. A physics collaboration and an undergraduate project share nodes. If a student project gets compromised, nothing about Kubernetes stops it reaching the rest — unless somebody has already built the five controls we are about to build.'
SciOps: worth thirty seconds. The idea is applying DevOps practice — version control, CI, declarative infrastructure — to scientific computing, so that research software is reproducible and deployable instead of living on one postdoc's laptop.
RANCHER: mention it because students will see it in job ads. Rancher is a management layer on top of Kubernetes — multiple clusters, a UI, and centralised auth and policy. The controls we build today are the same ones underneath, whether you drive them through Rancher or kubectl.
HONEST NOTE: do not over-promise about Geddes' internal configuration in front of the room. Describe the platform and the tenancy problem; the workshop builds the controls on minikube.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'Ten minutes of why, then hands-on the rest of the way. The order matters: admission control first because it is the only thing that stops a bad pod from ever existing, then we tighten who can ask, who can talk to whom, what they can read, and finally how you prove what happened.'
TIMING: ~90 minutes. If you are running behind, the two slides marked BONUS (RBAC audit, encryption at rest) are the ones to cut. Never cut the container escape demo or the audit-log payoff — those are the two moments students remember.
SAY: 'One more thing. Every command you run today is recorded. We turned on API audit logging when we built the cluster. At the end you are going to go read the log and find your own attack in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we type anything: what actually changes when you are not the only person on the cluster?'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tenant is any group whose workloads share your cluster but whose trust level is not identical to yours. That is broader than people think.'
WALK THE CARDS: Pick two or three, don't read all six.
LOCAL HOOK (use this, it lands): 'Purdue runs shared research Kubernetes clusters. Research groups across departments get namespaces on the same cluster. Nobody there thinks the chemistry group is attacking the physics group — but if one group's web app gets popped, the blast radius had better stop at their namespace. That is exactly what we are building today.'
WHY IT MATTERS: Students assume multitenancy is a SaaS-company problem. It is far more common than that: every company with more than one team runs multitenant clusters, because giving each team its own cluster is expensive and nobody wants to patch forty control planes.
ASK THE ROOM: 'If you got a namespace on a shared cluster tomorrow, what would stop you from reading everyone else's data?' The honest answer on a default cluster is: almost nothing. That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single most important slide today. Everyone learns namespaces as the way you separate things in Kubernetes. They are not a security boundary. They are a naming scope with a couple of convenience features attached.'
SPELL IT OUT: A namespace gives you a place to put names so two teams can both have a Service called api, plus a handle for RBAC and quotas to point at. That is it. Out of the box it does NOT stop network traffic, it does NOT stop a pod from mounting the host disk, and it does NOT stop a pod from becoming root on the node — and once you are root on the node, every namespace on that node is yours.
THE SENTENCE TO REPEAT: 'Namespaces separate names. They do not separate tenants. Everything in the right-hand column is something YOU have to switch on.'
SOFT vs HARD (say it, don't slide it): What we build today is 'soft multitenancy' — good enough when tenants are semi-trusted, like teams at one company. 'Hard multitenancy', where you run genuinely hostile code, needs more: a sandboxed runtime like gVisor or Kata Containers, or just separate clusters. If you are running untrusted code from the internet, namespaces plus policy are not enough and you should say so in an interview.
CLOUD LINK: EKS, GKE and AKS all give you exactly this default. Managed Kubernetes manages the control plane, not your tenancy model. Everything in the right-hand column is still your job.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'Assume an attacker has got as far as being able to create a pod in one namespace. Maybe they are a tenant, maybe they phished a developer, maybe your CI token leaked. Here is what that one capability buys them on a cluster with no extra controls.'
THE BIG ONE: 'Create a pod' is close to 'root on the node'. Say that sentence slowly. Students consistently underestimate it. If I can create a pod, I can ask for privileged mode, mount the host filesystem, and read the kubelet's credentials — and then I am not a tenant any more, I am the cluster.
USE THIS AS A ROADMAP: point at each card and name the section number. It tells the room exactly where the workshop is going and why the order is what it is.
WHY THIS ORDER: Admission control is first because it is the only one of these that prevents the bad object from ever existing. RBAC limits who can ask. Network policy contains what can talk. Secrets reduce what is worth stealing. Audit tells you it happened. Prevent, limit, contain, protect, detect.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'Security people say defense in depth so often it stops meaning anything, so here is the concrete version. Each of these five assumes the one before it already failed.'
WALK LEFT TO RIGHT:
  PREVENT — admission control refuses to create the dangerous object at all. Cheapest possible place to stop an attack: it never exists.
  LIMIT — RBAC assumes something got created, and limits who can ask for it.
  CONTAIN — network policy assumes a pod is already hostile, and stops it reaching anything else.
  PROTECT — secrets handling assumes they reached it, and reduces what is worth taking.
  DETECT — audit assumes all four failed, and makes sure you can reconstruct what happened.
HONEST CAVEAT (say this): 'Detection is last for a reason. It stops nothing. But it is the only one that still works after you have lost, and in a real incident it is the difference between a two-hour investigation and a six-week one.'
INTERVIEW ANGLE: 'Walk me through how you would secure a multitenant cluster' is a real interview question for platform and security roles. This slide is a complete answer. Tell them to screenshot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need one cluster with two things the default does not give you: a network plugin that actually enforces NetworkPolicy, and API audit logging. Both have to be decided when the cluster is created, which is why we do them now even though we do not use them until much later.'
BOARD: If people did this at home, ask for a show of hands on 'kubectl get nodes says Ready?' and move fast. If a third of the room has not, do the cluster start now and talk over it — it takes 3-5 minutes.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tools. If you did Part 1 you already have kubectl. Everything from the next slide onward is the same on Mac and Windows, so there is no left column and right column today.'
THE MEMORY PROBLEM IS THE WHOLE GAME. Say this clearly: minikube with the docker driver runs inside Docker Desktop's VM. It cannot be given more memory than Docker Desktop itself has. Docker Desktop's default on an 8 GB laptop is well under 4 GB, so 'minikube start --memory=6144' fails with: 'Requested memory allocation 6144MiB is more than your system limit'. The fix is Docker Desktop -&gt; Settings -&gt; Resources -&gt; Memory, drag to 6 GB, Apply &amp; Restart. On Windows the WSL 2 equivalent is a .wslconfig file (right-hand card).
SAY: 'Also close Chrome, Slack and Teams before you start the cluster. On an 8 GB laptop that is genuinely the difference between this working and not.'
STUCK? MAC: 'minikube: command not found' -&gt; brew install minikube, then open a NEW terminal window.
STUCK? WINDOWS: 'minikube is not recognized' -&gt; winget install Kubernetes.minikube, then CLOSE PowerShell and open a new one. PowerShell only picks up new programs in new windows.
STUCK? BOTH: 'helm: command not found' -&gt; brew install helm (Mac) / winget install Helm.Helm (Windows).
LOW-RAM FALLBACK: a 4 GB laptop will not run Calico + cert-manager + Kubewarden. Send those students to Killercoda (see the backup slide) and pair them with a neighbour.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REPLACE THE URL ON THIS SLIDE with your real repo before presenting. The placeholder is github.com/cnap-purdue/k8s-security-workshop.
SAY: 'Clone this once. Everything we apply today lives here. I will show you the YAML on the slide every time so you are never applying something you have not read — that is a habit worth having.'
WHY A REPO: retyping YAML in a workshop wastes time and produces indentation bugs that look like policy failures. In real life manifests live in Git anyway, and a controller applies them — that is GitOps, and it is the normal way to run a cluster.
STUCK? 'git: command not found' on Mac -&gt; run git --version and macOS will offer to install the developer tools. On Windows -&gt; winget install Git.Git, then reopen PowerShell.
STUCK? Behind a proxy or git blocked -&gt; download the ZIP from the GitHub page and unzip it. Same files.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'Slightly odd step. We are putting a file in a magic folder on our laptop so that it appears inside a virtual machine that does not exist yet. minikube copies anything under ~/.minikube/files into the node, preserving the path, every time it starts a cluster.'
WHY NOT LATER: audit logging is configured by command-line flags on the API server, and those are set when the cluster is built. We want the log running from minute one so that at the end of the workshop you can go back and find everything you did. So the config has to be in place before the first start.
WHY /etc/ssl/certs SPECIFICALLY: the kube-apiserver runs as a static pod with a short list of hostPath mounts. If you point --audit-policy-file at a path that is not one of them, the API server cannot see the file and crash-loops. /etc/ssl/certs is on the list already. Later in the workshop you can show students how to discover those mounts themselves:
  kubectl -n kube-system get pod kube-apiserver-k8s-security -o jsonpath='{range .spec.volumes[*]}{.name}{"\t"}{.hostPath.path}{"\n"}{end}'
!!! BOARD TRAP, TELL THE FLOATERS: a BAD file left in ~/.minikube/files is re-copied into every profile on every start. If a student bricks their API server with a malformed audit policy, 'minikube delete' is NOT enough — they must also delete the staged file. This is the classic 'I deleted it and it is still broken' moment.
STUCK? WINDOWS: if mkdir complains the path exists, that is fine, carry on to the cp line.
STUCK? Validate the YAML before starting, it saves a rebuild:
  python3 -c "import yaml;yaml.safe_load(open('audit/audit-policy.yaml'))" &amp;&amp; echo 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big one. Three to five minutes the first time, because it is pulling Calico. Start it now and I will explain the flags while it runs.'
WALK THE FLAGS:
  -p k8s-security — a named profile. Your existing minikube clusters are untouched, and when something goes wrong you can delete just this one. It also means your node is called k8s-security, which is why the API server pod is kube-apiserver-k8s-security and not kube-apiserver-minikube. Students will copy-paste the wrong name all day if you do not say this now.
  --cni=calico — THE important one. We will come back to it hard in section 5. The default minikube network plugin accepts NetworkPolicy objects and silently ignores them.
  --cpus / --memory — Calico plus cert-manager plus Kubewarden needs roughly 2 GB of pods on top of the control plane.
  --extra-config=apiserver.X — injects a flag onto the kube-apiserver command line. audit-log-path=- means stdout, which is why we can read it later with plain kubectl logs instead of SSHing into the node.
WHY STDOUT AND NOT A FILE: writing to a file needs a writable hostPath mount, which means hand-editing the API server's static pod manifest. One bad indent and the control plane is gone. Stdout needs none of that, and it survives minikube stop/start because --extra-config is saved into the profile. Mention the file approach exists; do not do it live.
LOW MEMORY: if 6144 fails, 4096 works but is tight. Below that, send them to Killercoda.
STUCK? 'Requested memory allocation ... is more than your system limit' -&gt; Docker Desktop memory, see the setup slide. This is the most common failure of the whole workshop.
STUCK? Stuck on 'Waiting for apiserver' then times out -&gt; almost always the audit policy. Recovery runbook is on the troubleshooting slide. Fast fix: minikube delete -p k8s-security, remove ~/.minikube/files/etc/ssl/certs/audit-policy.yaml, re-copy a clean one from the repo, start again.
STUCK? Apple silicon and Calico images fail to pull -&gt; check they are on a recent minikube; modern Calico has arm64 images.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checks. One node, Ready. And Calico running. If the node says NotReady, you are not broken — the kubelet refuses to call itself ready until the network plugin is up. Wait and run it again.'
TIP: up-arrow repeats the last command. Teach this once, it saves the whole room time.
WHY WE CARE ABOUT CALICO SPECIFICALLY: foreshadow section 5 here in one sentence — 'that calico-node pod is the thing that will actually enforce the network policies we write later. Without it, the policies apply cleanly and do absolutely nothing.' Then move on; the full version is later.
STUCK? 'The connection to the server ... was refused' -&gt; the API server is not up. If you got here straight from step 3, it is probably the audit policy. Go to the troubleshooting slide.
STUCK? Wrong cluster / old context -&gt; kubectl config use-context k8s-security
STUCK? calico-node CrashLoopBackOff -&gt; kubectl -n kube-system logs ds/calico-node --tail=30 and read the last error. Most often the interface autodetection fix in the right-hand card.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tenants. You are team-alpha. team-bravo is the team down the hall. For the rest of the workshop, the question is always the same: what can alpha do to bravo?'
POINT AT THE LABELS: this is a real practice, not decoration. Network policies select namespaces with namespaceSelector, which matches labels, not names. Kubewarden policies do the same. Get in the habit of labelling namespaces when you create them, because retrofitting labels onto a live cluster is miserable.
WHAT WE ARE NOT DOING (mention briefly, it is a good interview answer): real multitenancy also wants a ResourceQuota and a LimitRange per namespace so one tenant cannot starve another, and often a per-tenant ServiceAccount and a hierarchy tool. We are skipping quotas today purely for time — they are in the repo under setup/quotas.yaml if anyone wants them.
STUCK? 'namespaces "team-alpha" already exists' -&gt; they ran it twice, or did the setup at home. Harmless, move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part where you attack your own cluster. You are going to escape a container and become root on the node in about four commands. Then we are going to make that impossible.'
TONE: this is the most memorable section of the day. Do not rush the escape. Let the room sit with it for a moment — the point is visceral, not academic.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you type kubectl apply, the object does not go straight into the cluster. It runs a gauntlet, and understanding the order is most of understanding Kubernetes security.'
WALK IT:
  1. AUTHENTICATION — who are you? A certificate, a token, an OIDC login. The API server does not manage users; it verifies them. If this fails you get 401.
  2. AUTHORIZATION — may you do this? This is RBAC, section 4. Verb plus resource plus namespace. If this fails you get 403.
  3. MUTATING ADMISSION — webhooks that CHANGE the object. Sidecar injection works here. So do defaulting policies that add a securityContext you forgot.
  4. VALIDATING ADMISSION — webhooks that ACCEPT or REJECT, but cannot change anything. This is where Kubewarden refuses your privileged pod.
  5. etcd — it is now real, and the scheduler and kubelet start acting on it.
THE KEY INSIGHT, SAY IT EXPLICITLY: RBAC answers WHO may act. Admission answers WHAT may exist. They are completely different questions, and you need both. A developer with a perfectly legitimate 'create pods in my namespace' permission can still create a pod that owns the node. RBAC has no opinion about the contents of the pod spec — it only sees 'create, pods, team-alpha' and says yes.
WHY MUTATING RUNS FIRST: so that validating webhooks judge the final object, after any sidecars or defaults have been added. Otherwise you could validate something, then mutate it into something dangerous.
ASK THE ROOM: 'If you wanted to stop anyone in the company from ever running a privileged container, which box would you put that rule in?' Answer: validating admission. It is the only place that sees the pod spec and can refuse it, for everyone, regardless of who asked.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the YAML on the right. Three lines matter, and I have commented all three. hostPID lets the container see the node's process list. privileged: true gives the container every Linux capability and access to all host devices. And that hostPath volume mounts the node's entire root filesystem into the container at /host.'
THE POINT: 'Now watch what the cluster does about it. Nothing. No warning, no error, no event. kubectl says created and the pod is Running. The only permission needed was create pods in my own namespace — the thing every tenant has by definition.'
PAUSE HERE. Let that sit for a second before the next slide. This is the setup for the punchline.
WORTH SAYING: in the real world nobody writes privileged: true in an attack. They find a Helm chart that already has it, or a CI runner that needs Docker-in-Docker, or an old monitoring agent. Privileged pods get added for legitimate-sounding reasons and then nobody removes them.
STUCK? 'pods "escape" already exists' -&gt; they ran it twice. kubectl delete -f policies/01-escape-pod.yaml then re-apply.
STUCK? ImagePullBackOff -&gt; Wi-Fi or Docker Hub rate limit. kubectl describe pod escape -n team-alpha and read Events at the bottom.
STUCK? Pending -&gt; not enough memory on the cluster. Check Docker Desktop resources.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SLOWLY: 'Look at the hostname. That is not the pod. That is the node. Look at id — you are root. And look at that directory listing: those are every pod on this machine, including team-bravo's, and every secret the kubelet mounted for them is sitting in there in plaintext.'
WHY chroot WORKS: we mounted the node's root filesystem at /host. chroot /host makes that the new root directory, so you are now running against the node's binaries, config and data. Combined with privileged mode — which hands the container every Linux capability and drops the usual seccomp and AppArmor restrictions — there is nothing left in the way. This is not a bug or an exploit. It is Kubernetes doing exactly what the pod spec asked for.
THE SENTENCE THAT LANDS: 'Container escape sounds like it should require a kernel zero-day. It does not. It requires a YAML file and permission to create a pod.'
SAFETY NOTE FOR THE BOARD: this is a throwaway local cluster on the student's own laptop. Say so. Also say the obvious thing out loud — doing this on a cluster you do not own is a crime, not a party trick. The reason we teach the attack is that you cannot defend against something you have never seen work.
IF SHORT ON TIME: run just 'id' and 'cat /etc/hostname'. Those two alone make the point.
STUCK? 'chroot: command not found' -&gt; the alpine image is minimal but has chroot in busybox; check they typed /host not host.
STUCK? Terminal looks frozen after exec -&gt; they are in the node shell. Type exit.
STUCK? 'unable to upgrade connection' -&gt; the pod is not Running yet. kubectl get pod -n team-alpha first.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'Let us be precise about what we actually used, because the fix has to be precise too.'
CARD BY CARD:
  privileged: true — the blunt instrument. All Linux capabilities, all host devices, seccomp and AppArmor effectively off. Legitimately needed by some storage and networking agents, which is why Kubernetes cannot just ban it.
  hostPath — mounts a directory from the node. Legitimately used by log collectors and monitoring agents. Mounting / is never legitimate. Even mounting /var/run/docker.sock is game over, because the Docker socket is a root API.
  hostPID / hostNetwork / hostIPC — joins the node's namespaces instead of getting isolated ones. hostPID lets you see and signal every process on the machine; hostNetwork lets you sniff and bind on the node's interfaces and skip network policy entirely.
THE FOURTH DOOR, mention it: allowPrivilegeEscalation. Subtler — it lets a process gain more privileges than its parent via setuid binaries. You should set it to false everywhere; almost nothing legitimate needs it.
WHY NOT JUST TELL PEOPLE NOT TO: because at 200 engineers, someone will. Pasted from Stack Overflow, inherited in a Helm chart, added at 2am to make something work. The only control that scales is one the cluster enforces itself. That is the entire argument for admission control, and it is the next slide.
CLOUD LINK: EKS, GKE and AKS will all happily run this pod. Managed Kubernetes does not manage this for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'Kubewarden is a policy engine. It registers itself as a validating admission webhook, so the API server asks it about every pod before writing it down. If Kubewarden says no, the pod never exists.'
THE WASM ANGLE (this is the interesting bit, and it is why we picked it): most policy engines make you learn their language — Rego for OPA Gatekeeper, a YAML DSL for Kyverno. Kubewarden compiles policies to WebAssembly. That means a policy can be written in Rust, Go, or AssemblyScript; it runs in a sandbox so a bad policy cannot take down the cluster; and it is distributed as an OCI artifact — pushed to and pulled from a container registry, with tags and digests, exactly like an image. You can sign them with Sigstore and verify signatures before loading.
FOR THE ROOM: 'You already know how to version, host and pull a container image. Kubewarden decided policies should work the same way, instead of inventing something new.'
THE THREE PIECES: the controller watches your policy objects; the policy server is the pod that actually runs the Wasm modules and answers the webhook calls; the CRDs are the ClusterAdmissionPolicy and AdmissionPolicy types you write.
WHY cert-manager: webhooks must be served over TLS and the API server has to trust the certificate. cert-manager issues and rotates it. That is the only reason it is a prerequisite.
BE FAIR TO THE ALTERNATIVES: we compare them properly at the end of this section. Kyverno is probably the most popular choice right now and is excellent. We are using Kubewarden because the Wasm model is genuinely different and worth seeing, and because it is a CNCF project like everything else in this club's name.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'cert-manager is the standard way to get TLS certificates in Kubernetes. Most people meet it for Let's Encrypt certificates on their websites. Here it is doing something more mundane: issuing the internal certificate that Kubewarden's webhook serves, and injecting the CA bundle so the API server trusts it.'
WHY A WEBHOOK NEEDS TLS: the API server will only call an admission webhook over HTTPS, and it has to verify the certificate. If the cert is wrong, every admission request fails — and depending on the failure policy, that either lets everything through or blocks everything. Getting this right is why we use a tool instead of hand-rolling certificates.
BOARD — VERIFY BEFORE YOU PRESENT: the flag name for installing cert-manager's CRDs changed between chart versions (installCRDs -&gt; crds.enabled). Run this command once before the workshop and fix the slide if your chart wants the other one. scripts/preflight.sh checks it.
STUCK? 'cannot re-use a name that is still in use' -&gt; already installed. helm list -A to confirm, then move on.
STUCK? Pods Pending -&gt; cluster is out of memory. This is where a 4 GB cluster starts to hurt.
STUCK? Timeout on --wait -&gt; kubectl get pods -n cert-manager and look at what is not ready. Usually still pulling.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charts. The order is not optional — the controller watches custom resource types, so those types have to exist before it starts, or it crash-loops.'
WHAT EACH ONE IS: crds installs the ClusterAdmissionPolicy / AdmissionPolicy / PolicyServer types, so kubectl learns the vocabulary. The controller is the brain: it watches your policy objects and does the fiddly work of registering ValidatingWebhookConfigurations with the API server. The defaults chart gives you a PolicyServer called 'default' — a pod that loads Wasm modules and answers admission requests. You can run several policy servers to isolate tenants' policies from each other, which is itself a nice multitenancy touch.
WHILE IT INSTALLS, ASK: 'What happens to the cluster if this pod dies?' Good discussion. The answer depends on the webhook's failurePolicy: Fail means admission requests are rejected and you cannot deploy anything; Ignore means they are allowed through and your policy silently stops applying. Neither is obviously right. Production clusters run multiple replicas and exclude critical namespaces.
BOARD: this is the heaviest install of the day. If the room's Wi-Fi is struggling, this is where it will show. Another reason to insist on the at-home run.
STUCK? Controller CrashLoopBackOff immediately -&gt; the CRDs chart did not install. helm list -n kubewarden should show all three.
STUCK? policy-server-default Pending -&gt; out of memory. Reduce replicas or raise Docker Desktop's limit.
STUCK? Webhook TLS errors in the controller log -&gt; cert-manager is not healthy. Go back a step.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the policy. It is short, and every field earns its place.'
FIELD BY FIELD:
  module — where the Wasm policy comes from. A registry:// URL, just like pulling a container image.
  mode: monitor — evaluate and record, but never block. We will flip this in two slides.
  mutating: false — this policy judges, it does not rewrite. Required field.
  rules — which API requests to intercept: creates and updates of core v1 pods.
  namespaceSelector — only namespaces carrying a tenant label. This is why we labelled them in setup. It also means we are NOT applying this to kube-system, which matters: several system components legitimately need privileged pods, and a cluster-wide ban would break your cluster.
THAT LAST POINT IS THE REAL LESSON. Say it clearly: 'The first instinct is to ban privileged pods everywhere. Do that and you break Calico, which needs a privileged pod to program the network. Policy without scoping is an outage. Scoping to tenant namespaces is the correct shape.'
NOTE THE LINE WRAP: the module URL is one line in the real file — the backslash on the slide is only so it fits. The repo file is correct.
BOARD — VERIFY: we use the :latest tag so a version bump cannot 404 mid-workshop. Point out that in production you pin a digest, for the same reason you pin image tags. Confirm the module pulls before the workshop with scripts/preflight.sh.
STUCK? STATUS stays 'pending' or 'unschedulable' -&gt; the policy server is still pulling the module. Give it 30 seconds. If it stays, kubectl describe clusteradmissionpolicy no-privileged-pods and read the bottom.
STUCK? 'no matches for kind ClusterAdmissionPolicy' -&gt; the CRDs chart is missing. Go back to step 9.</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pod was created. The policy did not stop it. But look at the log: allowed false, mode monitor, and the reason. The policy evaluated, decided no, and then let it through because we told it to only watch.'
WHY THIS IS THE MOST USEFUL FEATURE IN THE WHOLE TOOL: imagine turning this on at a company with 400 microservices. You have no idea how many of them quietly rely on a privileged container. Turn it straight to blocking and you cause an outage at 9am and policy enforcement gets banned by management for a year. Turn on monitor, collect violations for a week, send each team their list with a deadline, then flip to enforce. That is how this actually gets done.
SAY: 'This pattern has a different name in every tool but it is always there. Kyverno: Audit. Gatekeeper: dryrun. Pod Security Admission: warn. If you only remember one operational idea from today, make it this one.'
STUCK? Log selector returns nothing -&gt; the label may differ on your Kubewarden version. Fall back to:
  kubectl logs -n kubewarden deploy/policy-server-default --tail=20
  or: kubectl get pods -n kubewarden   then logs that pod by name.
STUCK? No log line at all -&gt; the policy is probably not active yet, or the namespaceSelector did not match. Check kubectl get clusteradmissionpolicies and that team-alpha has the tenant label.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field changed. Now read the error — it tells you which webhook refused and why. The pod does not exist. It was never written down. This is the cheapest possible place to stop an attack: before the object is real.'
CELEBRATE THIS ONE. It is the payoff for the whole section. Four slides ago they were root on the node.
!!! BOARD — THE EXACT ERROR STRING: the wording and the webhook name on this slide are reconstructed, not copied from a live run. Run this deny once during your pre-flight and paste the real output onto the slide. It matters: students pattern-match on error text, and a floater who knows the exact string triages faster.
ONE-WAY DOOR: Kubewarden deliberately refuses to move a policy from protect back to monitor — relaxing enforcement should be a conscious act, not a patch. If someone needs to undo it: kubectl delete clusteradmissionpolicy no-privileged-pods and re-apply the monitor version.
ASK THE ROOM: 'We blocked privileged. Have we stopped the escape?' The answer is NO — hostPath / is still allowed, and so is hostPID. That is the next slide. Let someone in the room get there first if you can; it lands much better than you saying it.
STUCK? The pod still gets created -&gt; the patch did not apply. kubectl get clusteradmissionpolicies and check MODE says protect. Also check OBSERVED MODE — if it still says monitor, the policy server has not reloaded yet. Wait 15 seconds.
STUCK? PowerShell mangles the JSON quotes in the patch -&gt; use the file instead: kubectl apply -f policies/02b-no-privileged-protect.yaml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t>
            </a:r>
            <a:r>
              <a:rPr lang="en-US"/>
              <a:t>: 'defense </a:t>
            </a:r>
            <a:r>
              <a:rPr lang="en-US" dirty="0"/>
              <a:t>in depth inside a single layer. Privileged was the loudest door but not the only one. Each of these four is independently enough to get a determined attacker onto the node.'
WHY SEPARATE POLICIES AND NOT ONE BIG ONE: you can enable, disable and tune them independently, and each gives a specific error message so a developer knows what to fix. A single policy that says 'your pod is bad' is useless to the person who has to fix it.
POINT AT THE ERRORS: four different attacks, four different refusals, each naming the specific thing that was wrong. That is what good policy feels like to the developer on the receiving end.
!!! BOARD — VERIFY THE SETTINGS KEYS: each of these policies takes a settings block, and the key names are not consistent between policies (some snake_case, some camelCase). Worse, several policies silently ignore an unknown key rather than erroring — so a typo gives you a policy that looks active and blocks nothing. Before the workshop run:
  kwctl inspect registry://ghcr.io/kubewarden/policies/&lt;name&gt;:latest
which prints the settings JSON schema. scripts/preflight.sh does this for all four. THEN confirm the denies actually happen. A policy that is active but inert is the worst possible outcome in a security workshop.
CALLBACK: 'Remember the NetworkPolicy lesson we have not got to yet? Silent failure of a control is the recurring theme of this entire workshop. A thing that looks enabled and does nothing is more dangerous than no control at all, because you stop looking.'
STUCK? A policy stays pending -&gt; module still pulling, or a bad settings key. kubectl describe clusteradmissionpolicy &lt;name&gt;.
STUCK? An attack pod is NOT refused -&gt; that policy's settings are wrong. Fall back to the Pod Security Admission label on the next slide, which blocks all of this and cannot be misconfigured.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you leave thinking you need a policy engine to be safe — you do not, for the basics. Pod Security Admission is built into the API server. Two labels on a namespace and you have blocked everything we spent the last fifteen minutes on.'
SO WHY DID WE INSTALL KUBEWARDEN? Be honest and specific, this is the question a good student will ask:
  - PSA has exactly three profiles and you cannot change them. You cannot say 'restricted, but this one team may mount /var/log'.
  - PSA only governs pods. It cannot say 'every Ingress must use TLS', 'images must come from our registry', or 'every namespace needs an owner label'.
  - PSA cannot mutate. It can reject your pod but it cannot add the missing securityContext for you.
  - PSA has no monitor-and-report workflow across the cluster, no policy reports, no central inventory of violations.
THE ANSWER IS BOTH: PSA as the floor, because it is free, cannot be misconfigured into doing nothing, and has no pod to keep alive. A policy engine on top for everything PSA cannot express.
POINT AT THE ERROR: PSA lists every violation at once instead of failing on the first. That is genuinely nicer than most webhooks.
THE OPERATIONAL TIP: apply warn=restricted to every namespace on a cluster you have just inherited. It costs nothing, breaks nothing, and the warnings tell you exactly how much trouble you are in.
STUCK? The pod is created anyway -&gt; the label is misspelled. It must be pod-security.kubernetes.io/enforce exactly. kubectl get ns team-alpha --show-labels to check.
STUCK? Students ask about PodSecurityPolicy -&gt; PSP was removed in Kubernetes 1.25. If they find a tutorial using it, it is out of date. PSA is the replacement.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options. Nobody will fault you for any of them, as long as you can say why.'
THE SHORT VERSION:
  PSA — always on, always. It is free and it cannot be misconfigured into doing nothing. Start here, everywhere.
  Kyverno — the popular default. Policies are YAML, which means your whole team can read them. Can also mutate and generate resources. If someone asks what to use at work with no other constraints, this is the safe recommendation.
  OPA Gatekeeper — the enterprise incumbent, especially where OPA is already used for application authorisation. Rego is genuinely powerful and genuinely hard; budget real learning time.
  Kubewarden — Wasm modules, distributed as OCI artifacts, signable with Sigstore. Policies can be written in real languages and reused outside Kubernetes. The most interesting supply-chain story of the four.
THE WRONG REASON: picking whichever one the first blog post mentioned. The right question is who writes and reviews the policies. If that is your platform team and they write Go, Kubewarden is attractive. If it is a mixed group who need to read each other's rules, YAML wins.
ALSO MENTION: ValidatingAdmissionPolicy is now built into Kubernetes — CEL expressions, no webhook pod at all. It covers simple rules with zero moving parts and is worth watching; it is not yet a full replacement for a policy engine.
TRANSITION: 'We have stopped bad pods from existing. But we never asked whether this person should have been able to create a pod in the first place. That is RBAC.'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'Admission control decided what may exist. RBAC decides who may ask. Different question, and you need both.'
TRANSITION FROM THE LAST SECTION: 'Notice we never questioned whether that attacker should have been able to create a pod at all. On most clusters, far more identities can create pods than anyone intends.'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'RBAC looks intimidating and is actually four nouns. A subject is who. A Role is a list of what. A binding glues them together. That is the whole model.'
THE ONE RULE THAT MATTERS: RBAC is purely additive. There is no deny. You cannot write 'everyone except Steve'. If no rule grants a permission, it is denied — and the only way to take a permission away is to remove the grant. This surprises people coming from firewalls or IAM policies with explicit denies.
THE 2x2 — this is where everyone gets confused, so go slowly:
  Role + RoleBinding = permissions in ONE namespace. The normal case.
  ClusterRole + ClusterRoleBinding = permissions EVERYWHERE. Use sparingly.
  ClusterRole + RoleBinding = define the permission set once, grant it in one namespace. This is the useful one nobody knows about: write 'developer' as a ClusterRole, bind it separately into each tenant namespace. One definition, many tenants.
  Role + ClusterRoleBinding = does not exist. Kubernetes will not let you.
THE DANGEROUS TYPO: writing ClusterRoleBinding when you meant RoleBinding. It is one word, it is accepted without complaint, and it grants the permission in every namespace on the cluster instead of one. Tell them to check this in every code review for the rest of their careers.
SERVICE ACCOUNTS: the subject is usually not a human. Humans authenticate with certificates or OIDC and Kubernetes does not store them. ServiceAccounts are the in-cluster identities that pods run as, and they are the ones that get over-permissioned, because nobody is watching.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'Open any pod you have ever run and there is a token sitting at this path. Kubernetes mounts it automatically so your app can talk to the API. Most apps never do.'
WALK THE RESULT: 403. That is the correct answer and it is good news — the default ServiceAccount in a namespace is granted nothing at all. The risk is not the default SA. It is the ServiceAccount someone created for a monitoring agent six months ago and bound to cluster-admin because the docs said it needed 'access to the cluster'.
THE REAL ATTACK PATH, say it: 'You do not usually get into a cluster by attacking Kubernetes. You get in through the app — a dependency with a backdoor, a file-read bug, an SSRF. Then you read this file, and now you are an authenticated cluster identity. Whether that matters depends entirely on what that ServiceAccount was granted.'
THE FIX NOBODY APPLIES: automountServiceAccountToken: false. Set it on the ServiceAccount or the pod. If your workload does not talk to the Kubernetes API — and most do not — there is no reason for the token to be there. It is one line.
POINT AT THE PROBE MANIFEST: it has a full securityContext, because team-alpha is now under PSA restricted and our Kubewarden policies. Tell them this is what policy feels like from the developer side: you can no longer be sloppy. That is the point, but it is also a real adoption cost — which is exactly why you roll out in monitor mode first.
STUCK? The probe pod is rejected -&gt; they are applying their own pod instead of rbac/00-probe.yaml. The repo version is written to satisfy restricted.
STUCK? curl not found -&gt; wrong image; use the manifest from the repo.
STUCK? PowerShell mangles the nested quotes -&gt; run it from the repo script instead: ./scripts/token-probe.sh</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what is NOT in this Role, because that is where the thinking went.'
THE DELIBERATE OMISSIONS, go through them:
  secrets — a developer who can read secrets can read every credential their namespace holds. Grant it only to the workloads that need it, never to humans by default.
  pods/exec — exec into a running pod and you are inside it, with its ServiceAccount token and its network position. It is a far bigger grant than it looks. It is also how people bypass your audit trail if you are not logging it, which we will come back to in §07.
  rolebindings — if you can create bindings, you can grant yourself anything. Game over.
  nodes — cluster-scoped, and a tenant has no business there.
THE HABIT TO TEACH: start from empty and add what breaks. Never start from a wildcard and try to subtract, because you will never finish, and RBAC has no deny rule to help you.
NOTE THE SHAPE: this is Role plus RoleBinding, so it only works in team-alpha. If we had a hundred tenants, we would write this once as a ClusterRole and bind it into each namespace with a RoleBinding — the combination from the 2x2 two slides back.
STUCK? Nothing to be stuck on here, it is a plain apply. Use the time to walk the room and check the previous step.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single most useful kubectl command for security work, and almost nobody knows it exists.'
WALK THE ANSWERS: yes to creating pods in their own namespace. No to reading secrets even in their own namespace. No to anything in team-bravo. Also worth running as a sanity check: kubectl auth can-i '*' '*' -n team-alpha --as=$ALPHA — if that ever says yes, someone has bound this identity to cluster-admin.
THE --list VARIANT IS THE HOMEWORK: 'Go to work or to your club project tomorrow and run kubectl auth can-i --list against your CI ServiceAccount. Almost everyone finds something that makes them uncomfortable. That is a genuinely useful thing to do on your first week in a platform job.'
WINDOWS NOTE: the ALPHA=... shell variable line is bash. In PowerShell use $ALPHA="system:serviceaccount:team-alpha:alpha-dev" or just paste the full string into each command. This is the one place OS syntax differs in the whole workshop — mention it and move on.
CALLBACK: 'Three slides ago that probe pod got a 403. Now you can see exactly why, and you could have predicted it without running anything.'
STUCK? Everything returns yes -&gt; they dropped the --as flag and are testing themselves as cluster admin.
STUCK? 'error: unknown flag --as' -&gt; very old kubectl. Upgrade.
STUCK? can-i returns a warning about impersonation -&gt; harmless on minikube.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'RBAC rarely fails loudly. It fails by being too generous in a way nobody notices for two years. Here are the six that come up again and again.'
PICK THREE, don't read all six. The strongest are:
  'create pods is nearly root' — this is the one that connects the whole workshop. A tenant with create pods can mount any Secret in their namespace into a pod and read it, even without get secrets. They can also run as any ServiceAccount in that namespace and inherit its permissions. RBAC on secrets is not sufficient on its own; you need admission control too. That is why §03 came first.
  'escalate and bind' — these two verbs let you grant yourself permissions you do not have. They exist for legitimate controller patterns and are almost never what you meant.
  'the wrong binding kind' — one word, cluster-wide consequences, no warning.
THE WILDCARD POINT: verbs: ["*"] also grants verbs that do not exist yet. When a new Kubernetes version adds a subresource, your wildcard silently grants it. Enumerate your verbs.
TRANSITION: 'RBAC controls who can ask the API. It has nothing at all to say about pods talking directly to each other over the network. That is the next section, and it is the one where most clusters are completely open.'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'RBAC controls who can talk to the API server. It has nothing whatsoever to say about pods talking directly to each other. And the default there is as open as it gets.'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'team-bravo deployed an internal API. They did not expose it. There is no Ingress, no LoadBalancer, no public IP. It is internal-only — and you just got a 200 from it.'
WHY KUBERNETES WORKS THIS WAY: the Kubernetes network model mandates that every pod can reach every other pod without NAT. That is not an oversight, it is a design requirement, and it is why service discovery is so pleasant. The cost is that the default posture is wide open.
THE REALISTIC ATTACK: 'In a real cluster, what is sitting at an address like this? Internal admin dashboards with no login because they are internal. Redis with no password because it is internal. A metrics endpoint that leaks every hostname in the company. Elasticsearch. The East-West traffic inside a cluster is almost never authenticated, precisely because people assume the network is the boundary.'
ASK THE ROOM: 'How would you find things to attack?' Answer: you barely need to. DNS is predictable — service dot namespace dot svc dot cluster dot local — and kubectl get svc across namespaces may well be allowed too.
STUCK? Connection refused instead of 200 -&gt; the api pod is not Running yet. kubectl get pod -n team-bravo.
STUCK? 000 or timeout at this stage -&gt; they may already have a NetworkPolicy from a previous run. kubectl get netpol -A.
STUCK? 'probe' not found -&gt; they skipped rbac/00-probe.yaml in §04. Apply it now.</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lines of actual configuration. podSelector empty braces means every pod in this namespace. policyTypes Ingress with no rules listed means nothing is allowed in. Default deny.'
POINT AT THE FAILURE MODE: it timed out, it was not refused. Dropped packets, not rejections. That is deliberate — an attacker learns nothing from a timeout, not even that something is there. It is also why your own debugging gets harder, so tell people: if a service mysteriously hangs rather than erroring, check for a NetworkPolicy.
THE MENTAL MODEL: NetworkPolicies are additive allow-lists, like RBAC. There is no deny rule. The moment any policy selects a pod, that pod goes from allow-all to deny-all for that direction, and then every allow rule across every policy is unioned together.
THE OPERATIONAL PATTERN: one default-deny per namespace, committed once and never touched. Then one small allow policy per actual dependency, living next to the service that needs it. Trying to write a single big policy per namespace does not survive contact with a real team.
INGRESS AND EGRESS ARE SEPARATE: this policy only covers ingress. team-bravo's pods can still call out to anything. We will do egress in two slides.
STUCK? Still 200 -&gt; the big one. Go to the next slide; it is almost certainly the CNI.
STUCK? Everything in team-bravo broke, including DNS -&gt; expected if they also applied an egress deny. Coming up.</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'Stop. This is the slide to remember from section five, and it is a general lesson, not a networking one.'
THE MECHANISM, SPELL IT OUT:
  1. NetworkPolicy is a normal API resource. The API server's job is to validate the shape and write it to etcd. It does that regardless of what is installed.
  2. Enforcement is not done by the API server and not by kube-proxy. It is done by the CNI plugin's policy engine, which watches NetworkPolicy objects and programs iptables, nftables or eBPF on each node.
  3. Several popular CNI plugins are connectivity-only. They give pods IP addresses and routes and have no policy engine at all. minikube's default is one of them.
  4. NetworkPolicy has no status field, produces no Event, and the API server emits no warning.
SO: kubectl apply prints 'networkpolicy.networking.k8s.io/default-deny-ingress created'. kubectl get netpol lists it. kubectl describe shows your rules. And it does absolutely nothing. There is no signal anywhere that your security control is inert.
THAT IS WHY WE STARTED THE CLUSTER WITH --cni=calico. Say it plainly: 'If you had run minikube start with no flags this morning, everything in this section would have applied cleanly and the curl would still return 200.'
THE GENERAL LESSON — this is the sentence to end on: 'A control that looks enabled and does nothing is more dangerous than no control at all, because you stop looking. The only way to know a control works is to test that the bad thing actually fails.' That is what the curl is for. Always test the negative case.
HOW TO CHECK ON A REAL CLUSTER: ask what CNI is installed; Calico, Cilium and Antrea enforce, and a cloud provider's default may or may not — EKS with the stock VPC CNI does not enforce NetworkPolicy without additional setup. Then do what we just did: deploy two pods and prove the deny works.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'Now we allow exactly one thing back in. Read the from block carefully, because there is a trap in its indentation.'
!!! THE CLASSIC BUG, DO NOT SKIP THIS: namespaceSelector and podSelector in the same list item means AND — a pod with app=probe IN a namespace with tenant=alpha. Put a dash in front of podSelector and it becomes a separate list item, which means OR — any pod in tenant=alpha, OR any pod called probe anywhere in the cluster. One character of YAML, completely different security posture, and it applies without complaint. If you remember one piece of NetworkPolicy syntax, make it this one.
POINT AT THE SECOND RESULT: even a pod inside team-bravo's own namespace gets 000. Namespace membership grants nothing — the policy only allows what it names. That surprises people and it is correct.
WHY LABELS AND NOT NAMES: there is no way to select a namespace by name in a NetworkPolicy. It is labels only. This is why we labelled the namespaces in setup. (On recent Kubernetes there is an automatic kubernetes.io/metadata.name label you can match on, which is a useful thing to know.)
THE SHAPE THAT SCALES: default-deny once per namespace, then one small allow policy per real dependency, stored next to the service that owns it. Reviewers can then see 'this service accepts traffic from exactly these callers' in one file.
STUCK? The --rm -it run hangs -&gt; that is the 5 second curl timeout, wait for it.
STUCK? 000 from the probe too -&gt; label mismatch. kubectl get ns team-alpha --show-labels and kubectl get pod probe -n team-alpha --show-labels. Both must match the policy exactly.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so far has been ingress — who may come in. Egress is who may go out, and it is the one that stops a compromised pod from phoning home.'
LET THEM HIT THE TRAP. Apply the deny, watch DNS break, then fix it. The lesson sticks far better than being warned. It takes ninety seconds.
WHY IT HAPPENS: CoreDNS runs as pods in kube-system. A pod is a pod. When you deny all egress, you deny the DNS lookup as well, so the pod cannot resolve the name of the thing it is allowed to talk to. The error message says nothing about network policy — it says name resolution failed — so engineers debug DNS for an hour. This is one of the most common self-inflicted outages in Kubernetes.
THE FIX: allow egress to kube-system on port 53, both UDP and TCP. People forget TCP; DNS falls back to it for responses over 512 bytes, which gives you an intermittent failure that only shows up under some conditions. Allow both.
REAL WORLD: egress policy is often the hardest to adopt because nobody knows what their app actually calls. The monitor-mode equivalent here is to run with logging on your CNI, or to start by allowing egress to the cluster plus a named allow-list of external endpoints and see what screams.
BEYOND NETWORK POLICY (one sentence): a service mesh adds mutual TLS and identity-based authorisation on top, so you are not relying on IP addresses at all. That is the next layer up and a good thing to read about.
STUCK? nslookup still fails after the allow -&gt; check the kube-system namespace label used in the policy. Recent clusters have kubernetes.io/metadata.name=kube-system automatically.
STUCK? Everything in team-alpha is broken afterwards -&gt; that is expected until the DNS rule is applied. If they want it all back: kubectl delete -f network/04-deny-egress.yaml</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'Kubernetes has an object type literally called Secret. Almost everyone assumes that means it is encrypted. Let us find out.'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'Look at the data field. That is base64. And base64 is not encryption — it is an encoding, like how you can write a number in hex. base64 -d is a decoder, not a cracker. There is no key.'
WHY DOES IT EXIST THEN: so that binary data — a TLS private key, a certificate — can live inside YAML and JSON without breaking the parser. It is a transport detail that has misled a generation of engineers because of where it sits.
BE FAIR, SECRETS DO DO SOMETHING: they are not rendered in kubectl describe output, they can be mounted into pods as tmpfs instead of being written to disk, RBAC can scope them separately, and admission and audit tooling treat them specially. They are better than putting the password in a ConfigMap. They are just not encrypted.
THE CONNECTION TO SECTION 4: this is exactly why our tenant-developer Role did not include secrets. The verb get on secrets is equivalent to handing over every credential in that namespace.
AND THE CONNECTION TO SECTION 3: remember 'create pods is nearly root'? Even without get secrets, a tenant who can create a pod can mount any Secret in their namespace as a volume and read it from inside the container. RBAC on secrets alone does not hold without admission control. The layers are not independent.
STUCK? base64 -d is not recognised in PowerShell -&gt; use:
  [Text.Encoding]::UTF8.GetString([Convert]::FromBase64String('UzNjcjN0LVBAc3N3MHJk'))
or just read the value off the projector — the point does not depend on them running it.
STUCK? 'already exists' -&gt; they ran it twice, fine.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more step down. kubectl showed us base64. Let us look at what is actually written to disk.'
THE DETAIL THAT SURPRISES PEOPLE: it is not even base64 on disk. etcd stores the serialised protobuf form of the object, and in protobuf the Secret's data values are raw bytes. The base64 only ever existed in the YAML and JSON representation you see through kubectl. So grep finds the literal password.
CALLBACK TO SECTION 3, make it explicit: 'Who had root on this node forty minutes ago? You did. That is the connection. Container escape is not interesting because you get a root shell — it is interesting because of what the root shell reaches, and this file is near the top of the list.'
THE REALISTIC THREAT IS BACKUPS: etcd snapshots get taken for disaster recovery and copied somewhere — a bucket, a backup appliance, a laptop. Those copies routinely have weaker access control than the cluster. If the snapshot is not encrypted, it is the whole cluster's credentials in one file.
TIMING: if the grep returns 0, the write may not have been flushed to the bolt database yet. Create a couple more objects or wait a few seconds and retry.
!!! BOARD — VERIFY: the etcd data path /var/lib/minikube/etcd is minikube-specific and worth confirming on your version. Have the cluster tell you:
  kubectl -n kube-system get pod etcd-k8s-security -o jsonpath='{range .spec.volumes[*]}{.name}{"\t"}{.hostPath.path}{"\n"}{end}'
scripts/preflight.sh does this.
STUCK? grep returns 0 -&gt; wait a few seconds for the flush, or confirm the path with the command above.
STUCK? minikube ssh quoting breaks in PowerShell -&gt; run minikube ssh -p k8s-security with no arguments to get an interactive shell, then type the grep by hand.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'Secrets get discussed as one problem. They are three, with three different fixes, and the fix for one does nothing for the others. Conflating them is the most common mistake in this area.'
COLUMN BY COLUMN:
  API access — someone with get secrets reads the plaintext through the API. Fixed by RBAC, plus admission control to stop the mount-it-in-a-pod bypass. Encryption at rest does NOTHING here: the API server decrypts transparently, so kubectl get secret still returns the password.
  Disk and backups — the etcd file we just grepped. Fixed by encryption at rest, ideally with a KMS provider, plus encrypting your backups.
  Sprawl and lifetime — the same password in a Secret, in CI, in Terraform state, in someone's .env, never rotated. Fixed by not storing long-lived secrets in the cluster at all: an external store with the Secrets Store CSI driver or External Secrets Operator, or short-lived tokens via workload identity.
THE ONE THAT ACTUALLY MATTERS LONG TERM is the third column. Say this: 'The modern answer is to stop having long-lived secrets. On a cloud cluster your pod gets a short-lived token from its workload identity and exchanges it for cloud credentials that expire in an hour. Nothing durable to steal.' That is where the industry is going and it is a strong thing to say in an interview.
QUICK WINS WORTH NAMING: automountServiceAccountToken: false; never bake credentials into images; prefer mounted files over environment variables, because env vars leak into crash dumps and child processes; and rotate.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'Worth doing, but only if you are honest about what it buys you.'
THE A/B IS THE DEMO: same grep as step 23, now returns zero. Same kubectl command, still returns the password. Those two facts together are the entire lesson, and they are what students get wrong on exams and in interviews.
THE CAVEAT THAT MATTERS MOST — say it, do not let them leave without it: 'We just encrypted the data and then stored the key in a plaintext file on the same disk, in the same directory. Anyone who can read the etcd file can read the key. On a laptop that is fine for teaching. In production you use a KMS provider so the key material lives in a hardware module or a cloud KMS, and the API server calls out to it. If you implement what is on this slide at work and call it done, you have moved the problem about three feet.'
THE identity ORDERING TRAP: providers are tried in order; the first is used for writes. identity means no encryption. Put identity first and everything is written in plaintext while your config file looks like encryption is on. Another silent-failure-of-a-control — the third one today, after the inert NetworkPolicy and the mis-keyed admission policy. That pattern is the real theme of this workshop.
BOARD: this needs a cluster rebuild, so only run it live if you are ahead of schedule. Otherwise talk over the slide — the A/B result is the point, not the typing. If you do want it, fold the flag into the original start command in setup so there is only one rebuild all day.
STUCK? API server will not come back -&gt; same recovery runbook as a bad audit policy, on the troubleshooting slide. Parking brake:
  minikube ssh -p k8s-security -- 'sudo sed -i "/--encryption-provider-config/d" /etc/kubernetes/manifests/kube-apiserver.yaml'</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'Remember that odd step at the very beginning where we copied a file into a magic folder before the cluster existed? This is why.'
THIS IS THE PAYOFF OF THE WHOLE WORKSHOP. Build it up a little. Every attack they ran today is sitting in the log, attributed to them, with timestamps.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audit policy is the file we staged in setup. It is an ordered list of rules, and the first one that matches a request wins. That ordering is the entire design.'
THE FOUR LEVELS: None records nothing at all. Metadata records who, when, what verb, which resource, source IP and response code — but no bodies. Request adds the submitted object. RequestResponse adds the response too.
TWO THINGS EVERYONE GETS WRONG, and they are both worth stating slowly:
  1. FIRST MATCH WINS, and anything that matches NO rule is not logged at all. So your 'drop the noise' None rules go first, and you finish with a catch-all Metadata rule. Forget the catch-all and you silently lose everything you did not explicitly name.
  2. NEVER use Request or RequestResponse on secrets. If you do, you write the secret's plaintext value into the audit log — and audit logs get shipped to a SIEM, indexed, and read by far more people than can read Secrets. You would turn your log pipeline into a credential store. Metadata on secrets tells you who read what and when, which is what you actually want.
THE VOLUME PROBLEM: a cluster generates an enormous amount of API traffic, almost all of it controllers talking to themselves. Without None rules for the control plane, kubelet reads and leases, you drown. Our policy drops those first.
THE SUBTLE ONE, mention it because it looks like a bug: a Pod created by a Deployment is created by the controller-manager, not by the human. Our policy drops controller-manager noise, so you will not see those pod creations — you will see the human creating the Deployment, which is the useful record anyway.</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'There it is. Your attack. Your username, the pod name, the exact fields that made it dangerous, and a 201 meaning it succeeded. If you run the same query against a later attempt you will see a 403 instead, because by then the policy was blocking it.'
LET THEM SIT WITH IT. This is the moment the section is built around. Everything they did today is in there.
WHY WE CAN SEE THE SPEC: because the audit policy logs pods at RequestResponse. At Metadata we would know somebody created a pod called escape, but not that it was privileged. That is the trade-off audit policies exist to manage: detail versus volume.
NO jq? It is not installed everywhere. The plain version still makes the point:
  kubectl logs -n kube-system $APISERVER --since=90m | grep '"kind":"Event"' | grep privileged | tail -1
There is also a Python fallback in scripts/audit-query.sh in the repo.
WHY STDOUT: we set audit-log-path to a single dash, so events go to the API server's stdout and kubectl logs can read them. The audit lines are interleaved with the API server's own log lines, which is why we grep for kind Event. On a real cluster you write to a file and ship it off the node.
THE HONEST LIMITATION, say it: this log lives on the node and rotates. An attacker who got root on the node — which you did — could delete it. That is why in production the audit log is shipped off the node immediately, to somewhere the cluster's own credentials cannot reach.
STUCK? 'pod kube-apiserver-k8s-security not found' -&gt; they used a different profile name. kubectl get pods -n kube-system | grep apiserver
STUCK? No output -&gt; audit may not be on. Check:
  kubectl -n kube-system get pod $APISERVER -o jsonpath='{.spec.containers[0].command}' | tr ',' '\n' | grep audit
STUCK? jq not found -&gt; brew install jq / winget install jqlang.jq, or use the grep-only version above.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'"Who read that secret?" is the first question in a real credential-leak incident, and most clusters cannot answer it. Yours can.'
POINT AT THE 403: that is their own probe pod from section four, being denied. They generated their own detection data forty minutes ago without knowing it.
THE DETECTION LESSON: successful reads are mostly normal — applications read secrets constantly. The signal is in the pattern: an identity that has never read this secret before, a read at 3am, a sudden burst, or a run of 403s as something probes for what it can reach. Alert on the anomaly, not the event.
AND NOTE WHAT IS ABSENT: no password. Metadata level records that a read happened, not what was returned. That is exactly the right trade and it is why we warned against RequestResponse on secrets two slides ago.
TIE IT BACK: 'Audit stops nothing. Every control we built today could have failed and this log would still be here. That is its whole value — it is the layer that still works after you have lost.'
STUCK? No secrets events -&gt; they may not have created the secret in §06. Create one now and re-run; it shows up immediately.
STUCK? Only their own user appears -&gt; fine, the ServiceAccount 403 only exists if they ran the probe in §04.</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log file on a node that nobody looks at is not a security control. It is a hard drive expense. Four things turn it into something real.'
SHIP IT OFF THE NODE, IMMEDIATELY — and say why: an attacker who gets root on the node can delete the log that records them getting root on the node. You escaped onto that node yourself an hour ago. The log has to go somewhere the cluster's own credentials cannot reach. Write-once storage is better still.
ALERT ON A SHORT LIST: do not try to alert on everything. The high-value ones are exec into a pod in production, any change to ClusterRoleBindings, anonymous or unauthenticated requests that succeed, and a spike in 403s from one identity. Four rules that fire rarely beat four hundred that fire constantly and get muted.
AUDIT IS NOT RUNTIME DETECTION — this distinction is worth an interview answer on its own: the audit log only sees the Kubernetes API. If an attacker is already inside a container and runs curl, or opens a reverse shell, or reads a file, the API server never hears about it and nothing appears in the audit log. For that you need runtime security — Falco or Tetragon watching syscalls. Audit covers the control plane. Runtime covers the workload. You need both, and they catch completely different things.
RETENTION: incidents are usually discovered months after they start. Thirty days of logs frequently means you cannot answer the question at all. A year is a common target.
CLOUD LINK: EKS, GKE and AKS all offer managed control-plane audit logging that streams straight into CloudWatch, Cloud Logging or Azure Monitor. On EKS it is off by default — somebody has to tick the box. Worth knowing.</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attacked a cluster, escaped a container onto the node, and then shut every door behind you. That is a real afternoon's work.'</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you ran today maps directly onto something a platform or security team does for a living. Let me read three of these.' Pick three, do not read the table.
THE STRONGEST THREE FOR AN INTERVIEW STORY: monitor mode before enforcing, the layered PSA-plus-engine answer, and testing that the bad thing actually fails.
CLOSE WITH THE RESUME LINE: 'If you want this on a resume, do not write "familiar with Kubernetes security". Write what you did: deployed admission policies that block privileged containers, implemented namespace-scoped RBAC and default-deny network policies on a multitenant cluster, enabled API audit logging. Then be ready to explain the container escape, because that is the question you will get.'
ALSO SAY: 'And you can now answer "how would you secure a multitenant cluster?" with five layers and a reason for each. Most new grads cannot answer that at all.'</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TRIAGE, IN THIS ORDER:
  1. Is Docker Desktop running, and is its memory at 6 GB? Fixes more than half of everything.
  2. Did they open the terminal AFTER installing the tools? Old shells do not know about new programs.
  3. Is the profile name right? Everything is -p k8s-security, and the API server pod is kube-apiserver-k8s-security.
  4. Stuck more than 2 minutes -&gt; Killercoda, fix the laptop afterwards.
THE PARKING BRAKE — put this on a card and give it to the floaters. It recovers any cluster whose API server is crash-looping from a bad audit or encryption config, in about 30 seconds, with no rebuild:
  minikube ssh -p k8s-security -- 'sudo sed -i "/--audit-/d" /etc/kubernetes/manifests/kube-apiserver.yaml'
The kubelet notices the manifest changed and restarts the API server without the audit flags. They lose the audit section but keep everything else. Far better than rebuilding mid-workshop.
THE 'I DELETED IT AND IT IS STILL BROKEN' TRAP: a bad file in ~/.minikube/files is re-copied into every new cluster on every start. minikube delete does not touch it. They must delete the file too.
READING THE ACTUAL ERROR:
  minikube ssh -p k8s-security -- 'sudo crictl logs --tail 60 $(sudo crictl ps -a --name kube-apiserver -q | head -1)'
Note: kubectl exec into the API server pod does NOT work — the image is distroless, there is no shell. Use minikube ssh.</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HAVE TIME: 'Notice what every item on this slide has in common. None of them produce an error. All of them look exactly like success. That is the thing to take away from today — more than any specific command.'
THE DIAGNOSTIC HABIT TO TEACH: after you apply any security control, run the attack again and confirm it fails. Not once, when you set it up — in CI, on every change. A policy test suite is as normal as a unit test suite, and for the same reason.
BOARD: the most likely one to bite you live is a Kubewarden policy that is active but has a mis-keyed settings block, so it blocks nothing. If that happens mid-workshop, fall back to the Pod Security Admission label — it covers the same ground and cannot be misconfigured into silence.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'Clean up with one command. The profile means nothing else on your laptop is touched.'
PUSH THE PROJECT IDEA HARD: 'The single best thing you can do with today is take a cluster — yours, a club project, anything — and write the five controls for it. Then write the tests that prove each one works. That is a portfolio piece, and it is a far better interview story than a certificate.'
ON THE CKS: it is a real, respected, hands-on exam and it covers almost exactly what we did today plus runtime security and supply chain. It costs money and requires the CKA first, so it is a bigger commitment — mention it, do not oversell it to first-years.
KILLERCODA: free, in-browser, no install. Good for anyone whose laptop fought them today and for practising between meetings.
CLOSE: 'Post in Discord if something broke and we will fix it with you. And if you want to help run the next one, come find a board member — teaching this is the fastest way to actually learn it.'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'Thanks everyone. You escaped a container onto a node and then closed every door behind you, which is more hands-on Kubernetes security than most people get in their first year of work.'
THE CLOSING LINE WORTH SAYING: 'If you remember one thing, make it this — a control that looks enabled and does nothing is worse than no control, because you stop looking. Always test that the bad thing actually fails.'
AFTER THE WORKSHOP (board): note which steps produced the most raised hands and fix those slides before next time. The likely candidates are the Docker Desktop memory limit and the Kubewarden install.
Next workshop: &lt;fill in&gt;.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071055" y="6501384"/>
            <a:ext cx="4617720" cy="237744"/>
          </a:xfrm>
          <a:prstGeom prst="rect">
            <a:avLst/>
          </a:prstGeom>
          <a:noFill/>
          <a:ln/>
        </p:spPr>
        <p:txBody>
          <a:bodyPr wrap="square" lIns="0" tIns="0" rIns="0" bIns="0" rtlCol="0" anchor="ctr"/>
          <a:lstStyle/>
          <a:p>
            <a:pPr marL="0" indent="0" algn="r">
              <a:buNone/>
            </a:pPr>
            <a:r>
              <a:rPr lang="en-US" sz="900" dirty="0">
                <a:solidFill>
                  <a:srgbClr val="E8F3F2"/>
                </a:solidFill>
                <a:latin typeface="Calibri" pitchFamily="34" charset="0"/>
                <a:ea typeface="Calibri" pitchFamily="34" charset="-122"/>
                <a:cs typeface="Calibri" pitchFamily="34" charset="-120"/>
              </a:rPr>
              <a:t>CNAP · Securing Multitenant Kubernetes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14400" y="1783080"/>
            <a:ext cx="10332720" cy="274320"/>
          </a:xfrm>
          <a:prstGeom prst="rect">
            <a:avLst/>
          </a:prstGeom>
          <a:noFill/>
          <a:ln/>
        </p:spPr>
        <p:txBody>
          <a:bodyPr wrap="square" lIns="0" tIns="0" rIns="0" bIns="0" rtlCol="0" anchor="ctr"/>
          <a:lstStyle/>
          <a:p>
            <a:pPr marL="0" indent="0" algn="ctr">
              <a:buNone/>
            </a:pPr>
            <a:r>
              <a:rPr lang="en-US" sz="1200" b="1" kern="0" spc="200" dirty="0">
                <a:solidFill>
                  <a:srgbClr val="0B4F5C"/>
                </a:solidFill>
                <a:latin typeface="Calibri" pitchFamily="34" charset="0"/>
                <a:ea typeface="Calibri" pitchFamily="34" charset="-122"/>
                <a:cs typeface="Calibri" pitchFamily="34" charset="-120"/>
              </a:rPr>
              <a:t>CNAP KUBERNETES SERIES · PART 2</a:t>
            </a:r>
            <a:endParaRPr lang="en-US" sz="1200" dirty="0"/>
          </a:p>
        </p:txBody>
      </p:sp>
      <p:sp>
        <p:nvSpPr>
          <p:cNvPr id="3" name="Text 1"/>
          <p:cNvSpPr txBox="1"/>
          <p:nvPr/>
        </p:nvSpPr>
        <p:spPr>
          <a:xfrm>
            <a:off x="365760" y="2493900"/>
            <a:ext cx="11457432" cy="868680"/>
          </a:xfrm>
          <a:prstGeom prst="rect">
            <a:avLst/>
          </a:prstGeom>
          <a:noFill/>
          <a:ln/>
        </p:spPr>
        <p:txBody>
          <a:bodyPr wrap="square" lIns="0" tIns="0" rIns="0" bIns="0" rtlCol="0" anchor="ctr"/>
          <a:lstStyle/>
          <a:p>
            <a:pPr marL="0" indent="0" algn="ctr">
              <a:buNone/>
            </a:pPr>
            <a:r>
              <a:rPr lang="en-US" sz="4200" b="1" dirty="0">
                <a:solidFill>
                  <a:srgbClr val="FFFFFF"/>
                </a:solidFill>
                <a:latin typeface="Arvo" pitchFamily="34" charset="0"/>
                <a:ea typeface="Arvo" pitchFamily="34" charset="-122"/>
                <a:cs typeface="Arvo" pitchFamily="34" charset="-120"/>
              </a:rPr>
              <a:t>Securing Multitenant Kubernetes Platforms</a:t>
            </a:r>
          </a:p>
        </p:txBody>
      </p:sp>
      <p:sp>
        <p:nvSpPr>
          <p:cNvPr id="4" name="Text 2"/>
          <p:cNvSpPr txBox="1"/>
          <p:nvPr/>
        </p:nvSpPr>
        <p:spPr>
          <a:xfrm>
            <a:off x="1463040" y="4241902"/>
            <a:ext cx="9262872" cy="731520"/>
          </a:xfrm>
          <a:prstGeom prst="rect">
            <a:avLst/>
          </a:prstGeom>
          <a:noFill/>
          <a:ln/>
        </p:spPr>
        <p:txBody>
          <a:bodyPr wrap="square" lIns="0" tIns="0" rIns="0" bIns="0" rtlCol="0" anchor="ctr"/>
          <a:lstStyle/>
          <a:p>
            <a:pPr marL="0" indent="0" algn="ctr">
              <a:lnSpc>
                <a:spcPct val="122000"/>
              </a:lnSpc>
              <a:buNone/>
            </a:pPr>
            <a:r>
              <a:rPr lang="en-US" sz="1550" dirty="0">
                <a:solidFill>
                  <a:srgbClr val="F0ECFD"/>
                </a:solidFill>
                <a:latin typeface="Calibri" pitchFamily="34" charset="0"/>
                <a:ea typeface="Calibri" pitchFamily="34" charset="-122"/>
                <a:cs typeface="Calibri" pitchFamily="34" charset="-120"/>
              </a:rPr>
              <a:t>Erik Gough</a:t>
            </a:r>
            <a:endParaRPr lang="en-US" sz="1550" dirty="0"/>
          </a:p>
          <a:p>
            <a:pPr marL="0" indent="0" algn="ctr">
              <a:lnSpc>
                <a:spcPct val="122000"/>
              </a:lnSpc>
              <a:buNone/>
            </a:pPr>
            <a:r>
              <a:rPr lang="en-US" sz="1550" dirty="0">
                <a:solidFill>
                  <a:srgbClr val="F0ECFD"/>
                </a:solidFill>
                <a:latin typeface="Calibri" pitchFamily="34" charset="0"/>
                <a:ea typeface="Calibri" pitchFamily="34" charset="-122"/>
                <a:cs typeface="Calibri" pitchFamily="34" charset="-120"/>
              </a:rPr>
              <a:t>Rosen Center for Advanced Computing</a:t>
            </a:r>
          </a:p>
          <a:p>
            <a:pPr marL="0" indent="0" algn="ctr">
              <a:lnSpc>
                <a:spcPct val="122000"/>
              </a:lnSpc>
              <a:buNone/>
            </a:pPr>
            <a:endParaRPr lang="en-US" sz="1550" dirty="0">
              <a:solidFill>
                <a:srgbClr val="F0ECFD"/>
              </a:solidFill>
              <a:latin typeface="Calibri" pitchFamily="34" charset="0"/>
              <a:cs typeface="Calibri" pitchFamily="34" charset="-120"/>
            </a:endParaRPr>
          </a:p>
          <a:p>
            <a:pPr marL="0" indent="0" algn="ctr">
              <a:lnSpc>
                <a:spcPct val="122000"/>
              </a:lnSpc>
              <a:buNone/>
            </a:pPr>
            <a:r>
              <a:rPr lang="en-US" sz="1200" dirty="0">
                <a:solidFill>
                  <a:srgbClr val="F0ECFD"/>
                </a:solidFill>
                <a:latin typeface="Calibri" pitchFamily="34" charset="0"/>
                <a:cs typeface="Calibri" pitchFamily="34" charset="-120"/>
              </a:rPr>
              <a:t>October 28, 2026</a:t>
            </a:r>
            <a:endParaRPr lang="en-US" sz="1200" dirty="0"/>
          </a:p>
        </p:txBody>
      </p:sp>
      <p:sp>
        <p:nvSpPr>
          <p:cNvPr id="14" name="Text 12"/>
          <p:cNvSpPr txBox="1"/>
          <p:nvPr/>
        </p:nvSpPr>
        <p:spPr>
          <a:xfrm>
            <a:off x="640080" y="5989320"/>
            <a:ext cx="10908792" cy="274320"/>
          </a:xfrm>
          <a:prstGeom prst="rect">
            <a:avLst/>
          </a:prstGeom>
          <a:noFill/>
          <a:ln/>
        </p:spPr>
        <p:txBody>
          <a:bodyPr wrap="square" lIns="0" tIns="0" rIns="0" bIns="0" rtlCol="0" anchor="ctr"/>
          <a:lstStyle/>
          <a:p>
            <a:pPr marL="0" indent="0" algn="ctr">
              <a:buNone/>
            </a:pPr>
            <a:r>
              <a:rPr lang="en-US" sz="1100" b="1" kern="0" spc="250" dirty="0">
                <a:solidFill>
                  <a:srgbClr val="9FE7DF"/>
                </a:solidFill>
                <a:latin typeface="Calibri" pitchFamily="34" charset="0"/>
                <a:ea typeface="Calibri" pitchFamily="34" charset="-122"/>
                <a:cs typeface="Calibri" pitchFamily="34" charset="-120"/>
              </a:rPr>
              <a:t>CLOUD NATIVE ASSOCIATION AT PURDUE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02920" y="314903"/>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PURDUE RCAC</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Rosen Center for Advanced Computing</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Provider of leading-edge high-performance computing, cloud and data storage systems to Purdue and US-based researchers, plus expertise, education and consulting</a:t>
            </a:r>
            <a:endParaRPr lang="en-US" sz="1300" dirty="0"/>
          </a:p>
        </p:txBody>
      </p:sp>
      <p:sp>
        <p:nvSpPr>
          <p:cNvPr id="6" name="machine-0"/>
          <p:cNvSpPr/>
          <p:nvPr/>
        </p:nvSpPr>
        <p:spPr>
          <a:xfrm>
            <a:off x="502920" y="1810512"/>
            <a:ext cx="3545738" cy="3278226"/>
          </a:xfrm>
          <a:prstGeom prst="roundRect">
            <a:avLst>
              <a:gd name="adj" fmla="val 2789"/>
            </a:avLst>
          </a:prstGeom>
          <a:solidFill>
            <a:srgbClr val="FFFFFF"/>
          </a:solidFill>
          <a:ln w="12700">
            <a:solidFill>
              <a:srgbClr val="CFE3E2"/>
            </a:solidFill>
            <a:prstDash val="solid"/>
          </a:ln>
        </p:spPr>
        <p:txBody>
          <a:bodyPr/>
          <a:lstStyle/>
          <a:p>
            <a:endParaRPr lang="en-US"/>
          </a:p>
        </p:txBody>
      </p:sp>
      <p:pic>
        <p:nvPicPr>
          <p:cNvPr id="7" name="photo-0" descr="/sessions/charming-nice-faraday/mnt/outputs/build/media/image4.jpeg"/>
          <p:cNvPicPr>
            <a:picLocks noChangeAspect="1"/>
          </p:cNvPicPr>
          <p:nvPr/>
        </p:nvPicPr>
        <p:blipFill>
          <a:blip r:embed="rId3"/>
          <a:stretch>
            <a:fillRect/>
          </a:stretch>
        </p:blipFill>
        <p:spPr>
          <a:xfrm>
            <a:off x="585216" y="1892808"/>
            <a:ext cx="3381146" cy="2281530"/>
          </a:xfrm>
          <a:prstGeom prst="rect">
            <a:avLst/>
          </a:prstGeom>
        </p:spPr>
      </p:pic>
      <p:sp>
        <p:nvSpPr>
          <p:cNvPr id="8" name="mname-0"/>
          <p:cNvSpPr txBox="1"/>
          <p:nvPr/>
        </p:nvSpPr>
        <p:spPr>
          <a:xfrm>
            <a:off x="704088" y="4265778"/>
            <a:ext cx="3143402" cy="310896"/>
          </a:xfrm>
          <a:prstGeom prst="rect">
            <a:avLst/>
          </a:prstGeom>
          <a:noFill/>
          <a:ln/>
        </p:spPr>
        <p:txBody>
          <a:bodyPr wrap="square" lIns="0" tIns="0" rIns="0" bIns="0" rtlCol="0" anchor="ctr"/>
          <a:lstStyle/>
          <a:p>
            <a:pPr marL="0" indent="0">
              <a:buNone/>
            </a:pPr>
            <a:r>
              <a:rPr lang="en-US" sz="1600" b="1" dirty="0">
                <a:solidFill>
                  <a:srgbClr val="0B4F5C"/>
                </a:solidFill>
                <a:latin typeface="Arvo" pitchFamily="34" charset="0"/>
                <a:ea typeface="Arvo" pitchFamily="34" charset="-122"/>
                <a:cs typeface="Arvo" pitchFamily="34" charset="-120"/>
              </a:rPr>
              <a:t>Gautschi – HPC + AI</a:t>
            </a:r>
            <a:endParaRPr lang="en-US" sz="1600" dirty="0"/>
          </a:p>
        </p:txBody>
      </p:sp>
      <p:sp>
        <p:nvSpPr>
          <p:cNvPr id="9" name="mdesc-0"/>
          <p:cNvSpPr txBox="1"/>
          <p:nvPr/>
        </p:nvSpPr>
        <p:spPr>
          <a:xfrm>
            <a:off x="704088" y="4594962"/>
            <a:ext cx="3143402" cy="420624"/>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338 CPU nodes with 192 cores and 384 GB RAM per node</a:t>
            </a:r>
          </a:p>
          <a:p>
            <a:pPr marL="0" indent="0">
              <a:lnSpc>
                <a:spcPct val="112000"/>
              </a:lnSpc>
              <a:buNone/>
            </a:pPr>
            <a:r>
              <a:rPr lang="en-US" sz="1050" dirty="0">
                <a:solidFill>
                  <a:srgbClr val="1F2937"/>
                </a:solidFill>
                <a:latin typeface="Calibri" pitchFamily="34" charset="0"/>
                <a:cs typeface="Calibri" pitchFamily="34" charset="-120"/>
              </a:rPr>
              <a:t>20 AI nodes with 8x NVIDIA H100 GPUs per node</a:t>
            </a:r>
            <a:endParaRPr lang="en-US" sz="1050" dirty="0"/>
          </a:p>
        </p:txBody>
      </p:sp>
      <p:sp>
        <p:nvSpPr>
          <p:cNvPr id="10" name="machine-1"/>
          <p:cNvSpPr/>
          <p:nvPr/>
        </p:nvSpPr>
        <p:spPr>
          <a:xfrm>
            <a:off x="4322978" y="1810512"/>
            <a:ext cx="3545738" cy="3405594"/>
          </a:xfrm>
          <a:prstGeom prst="roundRect">
            <a:avLst>
              <a:gd name="adj" fmla="val 2789"/>
            </a:avLst>
          </a:prstGeom>
          <a:solidFill>
            <a:srgbClr val="FFFFFF"/>
          </a:solidFill>
          <a:ln w="12700">
            <a:solidFill>
              <a:srgbClr val="CFE3E2"/>
            </a:solidFill>
            <a:prstDash val="solid"/>
          </a:ln>
        </p:spPr>
        <p:txBody>
          <a:bodyPr/>
          <a:lstStyle/>
          <a:p>
            <a:endParaRPr lang="en-US"/>
          </a:p>
        </p:txBody>
      </p:sp>
      <p:pic>
        <p:nvPicPr>
          <p:cNvPr id="11" name="photo-1" descr="/sessions/charming-nice-faraday/mnt/outputs/build/media/image6.jpeg"/>
          <p:cNvPicPr>
            <a:picLocks noChangeAspect="1"/>
          </p:cNvPicPr>
          <p:nvPr/>
        </p:nvPicPr>
        <p:blipFill>
          <a:blip r:embed="rId4"/>
          <a:stretch>
            <a:fillRect/>
          </a:stretch>
        </p:blipFill>
        <p:spPr>
          <a:xfrm>
            <a:off x="4405274" y="1892808"/>
            <a:ext cx="3381146" cy="2281530"/>
          </a:xfrm>
          <a:prstGeom prst="rect">
            <a:avLst/>
          </a:prstGeom>
        </p:spPr>
      </p:pic>
      <p:sp>
        <p:nvSpPr>
          <p:cNvPr id="12" name="mname-1"/>
          <p:cNvSpPr txBox="1"/>
          <p:nvPr/>
        </p:nvSpPr>
        <p:spPr>
          <a:xfrm>
            <a:off x="4524146" y="4265778"/>
            <a:ext cx="3143402" cy="310896"/>
          </a:xfrm>
          <a:prstGeom prst="rect">
            <a:avLst/>
          </a:prstGeom>
          <a:noFill/>
          <a:ln/>
        </p:spPr>
        <p:txBody>
          <a:bodyPr wrap="square" lIns="0" tIns="0" rIns="0" bIns="0" rtlCol="0" anchor="ctr"/>
          <a:lstStyle/>
          <a:p>
            <a:pPr marL="0" indent="0">
              <a:buNone/>
            </a:pPr>
            <a:r>
              <a:rPr lang="en-US" sz="1600" b="1" dirty="0">
                <a:solidFill>
                  <a:srgbClr val="4C3FA3"/>
                </a:solidFill>
                <a:latin typeface="Arvo" pitchFamily="34" charset="0"/>
                <a:ea typeface="Arvo" pitchFamily="34" charset="-122"/>
                <a:cs typeface="Arvo" pitchFamily="34" charset="-120"/>
              </a:rPr>
              <a:t>Anvil – HPC + AI + Cloud</a:t>
            </a:r>
            <a:endParaRPr lang="en-US" sz="1600" dirty="0"/>
          </a:p>
        </p:txBody>
      </p:sp>
      <p:sp>
        <p:nvSpPr>
          <p:cNvPr id="13" name="mdesc-1"/>
          <p:cNvSpPr txBox="1"/>
          <p:nvPr/>
        </p:nvSpPr>
        <p:spPr>
          <a:xfrm>
            <a:off x="4524145" y="4594962"/>
            <a:ext cx="3199371" cy="420624"/>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1000 CPU nodes with 128 cores and 256 GB RAM per node</a:t>
            </a:r>
          </a:p>
          <a:p>
            <a:pPr marL="0" indent="0">
              <a:lnSpc>
                <a:spcPct val="112000"/>
              </a:lnSpc>
              <a:buNone/>
            </a:pPr>
            <a:r>
              <a:rPr lang="en-US" sz="1050" dirty="0"/>
              <a:t>16 AI nodes with 4x NVIDIA A100 GPUs per node</a:t>
            </a:r>
          </a:p>
          <a:p>
            <a:pPr marL="0" indent="0">
              <a:lnSpc>
                <a:spcPct val="112000"/>
              </a:lnSpc>
              <a:buNone/>
            </a:pPr>
            <a:r>
              <a:rPr lang="en-US" sz="1050" dirty="0"/>
              <a:t>21 AI nodes with 4x NVIDIA H100 GPUs per node </a:t>
            </a:r>
          </a:p>
        </p:txBody>
      </p:sp>
      <p:sp>
        <p:nvSpPr>
          <p:cNvPr id="14" name="machine-2"/>
          <p:cNvSpPr/>
          <p:nvPr/>
        </p:nvSpPr>
        <p:spPr>
          <a:xfrm>
            <a:off x="8143037" y="1810511"/>
            <a:ext cx="3545738" cy="3405593"/>
          </a:xfrm>
          <a:prstGeom prst="roundRect">
            <a:avLst>
              <a:gd name="adj" fmla="val 2789"/>
            </a:avLst>
          </a:prstGeom>
          <a:solidFill>
            <a:srgbClr val="FFFFFF"/>
          </a:solidFill>
          <a:ln w="12700">
            <a:solidFill>
              <a:srgbClr val="CFE3E2"/>
            </a:solidFill>
            <a:prstDash val="solid"/>
          </a:ln>
        </p:spPr>
        <p:txBody>
          <a:bodyPr/>
          <a:lstStyle/>
          <a:p>
            <a:endParaRPr lang="en-US"/>
          </a:p>
        </p:txBody>
      </p:sp>
      <p:pic>
        <p:nvPicPr>
          <p:cNvPr id="15" name="photo-2" descr="/sessions/charming-nice-faraday/mnt/outputs/build/media/image5.jpeg"/>
          <p:cNvPicPr>
            <a:picLocks noChangeAspect="1"/>
          </p:cNvPicPr>
          <p:nvPr/>
        </p:nvPicPr>
        <p:blipFill>
          <a:blip r:embed="rId5"/>
          <a:stretch>
            <a:fillRect/>
          </a:stretch>
        </p:blipFill>
        <p:spPr>
          <a:xfrm>
            <a:off x="8225333" y="1892808"/>
            <a:ext cx="3381146" cy="2281530"/>
          </a:xfrm>
          <a:prstGeom prst="rect">
            <a:avLst/>
          </a:prstGeom>
        </p:spPr>
      </p:pic>
      <p:sp>
        <p:nvSpPr>
          <p:cNvPr id="16" name="mname-2"/>
          <p:cNvSpPr txBox="1"/>
          <p:nvPr/>
        </p:nvSpPr>
        <p:spPr>
          <a:xfrm>
            <a:off x="8344205" y="4265778"/>
            <a:ext cx="3143402" cy="310896"/>
          </a:xfrm>
          <a:prstGeom prst="rect">
            <a:avLst/>
          </a:prstGeom>
          <a:noFill/>
          <a:ln/>
        </p:spPr>
        <p:txBody>
          <a:bodyPr wrap="square" lIns="0" tIns="0" rIns="0" bIns="0" rtlCol="0" anchor="ctr"/>
          <a:lstStyle/>
          <a:p>
            <a:pPr marL="0" indent="0">
              <a:buNone/>
            </a:pPr>
            <a:r>
              <a:rPr lang="en-US" sz="1600" b="1" dirty="0">
                <a:solidFill>
                  <a:srgbClr val="0067C0"/>
                </a:solidFill>
                <a:latin typeface="Arvo" pitchFamily="34" charset="0"/>
                <a:ea typeface="Arvo" pitchFamily="34" charset="-122"/>
                <a:cs typeface="Arvo" pitchFamily="34" charset="-120"/>
              </a:rPr>
              <a:t>Negishi - HPC</a:t>
            </a:r>
            <a:endParaRPr lang="en-US" sz="1600" dirty="0"/>
          </a:p>
        </p:txBody>
      </p:sp>
      <p:sp>
        <p:nvSpPr>
          <p:cNvPr id="17" name="mdesc-2"/>
          <p:cNvSpPr txBox="1"/>
          <p:nvPr/>
        </p:nvSpPr>
        <p:spPr>
          <a:xfrm>
            <a:off x="8344205" y="4543203"/>
            <a:ext cx="3143402" cy="420624"/>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450 CPU nodes with 128 cores and 256 GB RAM per node</a:t>
            </a:r>
            <a:endParaRPr lang="en-US" sz="1050" dirty="0"/>
          </a:p>
        </p:txBody>
      </p:sp>
      <p:sp>
        <p:nvSpPr>
          <p:cNvPr id="18" name="rcac-strip"/>
          <p:cNvSpPr/>
          <p:nvPr/>
        </p:nvSpPr>
        <p:spPr>
          <a:xfrm>
            <a:off x="502920" y="5326482"/>
            <a:ext cx="11185855" cy="713232"/>
          </a:xfrm>
          <a:prstGeom prst="roundRect">
            <a:avLst>
              <a:gd name="adj" fmla="val 12821"/>
            </a:avLst>
          </a:prstGeom>
          <a:solidFill>
            <a:srgbClr val="E6F6EE"/>
          </a:solidFill>
          <a:ln w="12700">
            <a:solidFill>
              <a:srgbClr val="BCE3CE"/>
            </a:solidFill>
            <a:prstDash val="solid"/>
          </a:ln>
        </p:spPr>
        <p:txBody>
          <a:bodyPr/>
          <a:lstStyle/>
          <a:p>
            <a:endParaRPr lang="en-US"/>
          </a:p>
        </p:txBody>
      </p:sp>
      <p:sp>
        <p:nvSpPr>
          <p:cNvPr id="19" name="Text 13"/>
          <p:cNvSpPr txBox="1"/>
          <p:nvPr/>
        </p:nvSpPr>
        <p:spPr>
          <a:xfrm>
            <a:off x="758952" y="5326482"/>
            <a:ext cx="10673791" cy="713232"/>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These are all located on campus in a datacenter underneath the MATH building. </a:t>
            </a:r>
            <a:endParaRPr lang="en-US" sz="1250" dirty="0"/>
          </a:p>
        </p:txBody>
      </p:sp>
      <p:sp>
        <p:nvSpPr>
          <p:cNvPr id="5" name="mname-2">
            <a:extLst>
              <a:ext uri="{FF2B5EF4-FFF2-40B4-BE49-F238E27FC236}">
                <a16:creationId xmlns:a16="http://schemas.microsoft.com/office/drawing/2014/main" id="{971059F5-7283-212B-23DF-5494B2EE98F4}"/>
              </a:ext>
            </a:extLst>
          </p:cNvPr>
          <p:cNvSpPr txBox="1"/>
          <p:nvPr/>
        </p:nvSpPr>
        <p:spPr>
          <a:xfrm>
            <a:off x="8344205" y="4695643"/>
            <a:ext cx="1366264" cy="310896"/>
          </a:xfrm>
          <a:prstGeom prst="rect">
            <a:avLst/>
          </a:prstGeom>
          <a:noFill/>
          <a:ln/>
        </p:spPr>
        <p:txBody>
          <a:bodyPr wrap="square" lIns="0" tIns="0" rIns="0" bIns="0" rtlCol="0" anchor="ctr"/>
          <a:lstStyle/>
          <a:p>
            <a:pPr marL="0" indent="0">
              <a:buNone/>
            </a:pPr>
            <a:r>
              <a:rPr lang="en-US" sz="1600" b="1" dirty="0">
                <a:solidFill>
                  <a:srgbClr val="0067C0"/>
                </a:solidFill>
                <a:latin typeface="Arvo" pitchFamily="34" charset="0"/>
                <a:ea typeface="Arvo" pitchFamily="34" charset="-122"/>
                <a:cs typeface="Arvo" pitchFamily="34" charset="-120"/>
              </a:rPr>
              <a:t>Geddes - Cloud</a:t>
            </a:r>
            <a:endParaRPr lang="en-US" sz="1600" dirty="0"/>
          </a:p>
        </p:txBody>
      </p:sp>
      <p:sp>
        <p:nvSpPr>
          <p:cNvPr id="20" name="mdesc-2">
            <a:extLst>
              <a:ext uri="{FF2B5EF4-FFF2-40B4-BE49-F238E27FC236}">
                <a16:creationId xmlns:a16="http://schemas.microsoft.com/office/drawing/2014/main" id="{142BDE93-E7F8-153E-E432-09A9A9A8B643}"/>
              </a:ext>
            </a:extLst>
          </p:cNvPr>
          <p:cNvSpPr txBox="1"/>
          <p:nvPr/>
        </p:nvSpPr>
        <p:spPr>
          <a:xfrm>
            <a:off x="8352830" y="4983153"/>
            <a:ext cx="3143402" cy="420624"/>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cs typeface="Calibri" pitchFamily="34" charset="-120"/>
              </a:rPr>
              <a:t>Geddes CPU/GPU nodes + Gautschi + Negishi nodes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A REAL MULTITENANT CLUSTER</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The “Geddes” Composable Platform</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An on-premise, Kubernetes-based private cloud funded by NSF grant OAC-2018926</a:t>
            </a:r>
            <a:endParaRPr lang="en-US" sz="1300" dirty="0"/>
          </a:p>
        </p:txBody>
      </p:sp>
      <p:sp>
        <p:nvSpPr>
          <p:cNvPr id="6" name="fact-0"/>
          <p:cNvSpPr/>
          <p:nvPr/>
        </p:nvSpPr>
        <p:spPr>
          <a:xfrm>
            <a:off x="502920" y="1783080"/>
            <a:ext cx="6172200" cy="786384"/>
          </a:xfrm>
          <a:prstGeom prst="roundRect">
            <a:avLst>
              <a:gd name="adj" fmla="val 11628"/>
            </a:avLst>
          </a:prstGeom>
          <a:solidFill>
            <a:srgbClr val="FFFFFF"/>
          </a:solidFill>
          <a:ln w="12700">
            <a:solidFill>
              <a:srgbClr val="CFE3E2"/>
            </a:solidFill>
            <a:prstDash val="solid"/>
          </a:ln>
        </p:spPr>
        <p:txBody>
          <a:bodyPr/>
          <a:lstStyle/>
          <a:p>
            <a:endParaRPr lang="en-US"/>
          </a:p>
        </p:txBody>
      </p:sp>
      <p:sp>
        <p:nvSpPr>
          <p:cNvPr id="7" name="fb-0"/>
          <p:cNvSpPr/>
          <p:nvPr/>
        </p:nvSpPr>
        <p:spPr>
          <a:xfrm>
            <a:off x="502920" y="1783080"/>
            <a:ext cx="73152" cy="786384"/>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8" name="fh-0"/>
          <p:cNvSpPr txBox="1"/>
          <p:nvPr/>
        </p:nvSpPr>
        <p:spPr>
          <a:xfrm>
            <a:off x="740664" y="1837944"/>
            <a:ext cx="5715000" cy="274320"/>
          </a:xfrm>
          <a:prstGeom prst="rect">
            <a:avLst/>
          </a:prstGeom>
          <a:noFill/>
          <a:ln/>
        </p:spPr>
        <p:txBody>
          <a:bodyPr wrap="square" lIns="0" tIns="0" rIns="0" bIns="0" rtlCol="0" anchor="ctr"/>
          <a:lstStyle/>
          <a:p>
            <a:pPr marL="0" indent="0">
              <a:buNone/>
            </a:pPr>
            <a:r>
              <a:rPr lang="en-US" sz="1250" b="1" dirty="0">
                <a:solidFill>
                  <a:srgbClr val="0B4F5C"/>
                </a:solidFill>
                <a:latin typeface="Calibri" pitchFamily="34" charset="0"/>
                <a:ea typeface="Calibri" pitchFamily="34" charset="-122"/>
                <a:cs typeface="Calibri" pitchFamily="34" charset="-120"/>
              </a:rPr>
              <a:t>Multi-tenant by design</a:t>
            </a:r>
            <a:endParaRPr lang="en-US" sz="1250" dirty="0"/>
          </a:p>
        </p:txBody>
      </p:sp>
      <p:sp>
        <p:nvSpPr>
          <p:cNvPr id="9" name="fd-0"/>
          <p:cNvSpPr txBox="1"/>
          <p:nvPr/>
        </p:nvSpPr>
        <p:spPr>
          <a:xfrm>
            <a:off x="740664" y="2112264"/>
            <a:ext cx="5715000" cy="402336"/>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Built to serve many research groups simultaneously on shared hardware. Currently used by over 70 research groups across 280 namespaces.</a:t>
            </a:r>
            <a:endParaRPr lang="en-US" sz="1050" dirty="0"/>
          </a:p>
        </p:txBody>
      </p:sp>
      <p:sp>
        <p:nvSpPr>
          <p:cNvPr id="10" name="fact-1"/>
          <p:cNvSpPr/>
          <p:nvPr/>
        </p:nvSpPr>
        <p:spPr>
          <a:xfrm>
            <a:off x="502920" y="2670048"/>
            <a:ext cx="6172200" cy="786384"/>
          </a:xfrm>
          <a:prstGeom prst="roundRect">
            <a:avLst>
              <a:gd name="adj" fmla="val 11628"/>
            </a:avLst>
          </a:prstGeom>
          <a:solidFill>
            <a:srgbClr val="FFFFFF"/>
          </a:solidFill>
          <a:ln w="12700">
            <a:solidFill>
              <a:srgbClr val="CFE3E2"/>
            </a:solidFill>
            <a:prstDash val="solid"/>
          </a:ln>
        </p:spPr>
        <p:txBody>
          <a:bodyPr/>
          <a:lstStyle/>
          <a:p>
            <a:endParaRPr lang="en-US"/>
          </a:p>
        </p:txBody>
      </p:sp>
      <p:sp>
        <p:nvSpPr>
          <p:cNvPr id="11" name="fb-1"/>
          <p:cNvSpPr/>
          <p:nvPr/>
        </p:nvSpPr>
        <p:spPr>
          <a:xfrm>
            <a:off x="502920" y="2670048"/>
            <a:ext cx="73152" cy="786384"/>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2" name="fh-1"/>
          <p:cNvSpPr txBox="1"/>
          <p:nvPr/>
        </p:nvSpPr>
        <p:spPr>
          <a:xfrm>
            <a:off x="740664" y="2724912"/>
            <a:ext cx="5715000" cy="274320"/>
          </a:xfrm>
          <a:prstGeom prst="rect">
            <a:avLst/>
          </a:prstGeom>
          <a:noFill/>
          <a:ln/>
        </p:spPr>
        <p:txBody>
          <a:bodyPr wrap="square" lIns="0" tIns="0" rIns="0" bIns="0" rtlCol="0" anchor="ctr"/>
          <a:lstStyle/>
          <a:p>
            <a:pPr marL="0" indent="0">
              <a:buNone/>
            </a:pPr>
            <a:r>
              <a:rPr lang="en-US" sz="1250" b="1" dirty="0">
                <a:solidFill>
                  <a:srgbClr val="4C3FA3"/>
                </a:solidFill>
                <a:latin typeface="Calibri" pitchFamily="34" charset="0"/>
                <a:ea typeface="Calibri" pitchFamily="34" charset="-122"/>
                <a:cs typeface="Calibri" pitchFamily="34" charset="-120"/>
              </a:rPr>
              <a:t>Hardware</a:t>
            </a:r>
            <a:endParaRPr lang="en-US" sz="1250" dirty="0"/>
          </a:p>
        </p:txBody>
      </p:sp>
      <p:sp>
        <p:nvSpPr>
          <p:cNvPr id="13" name="fd-1"/>
          <p:cNvSpPr txBox="1"/>
          <p:nvPr/>
        </p:nvSpPr>
        <p:spPr>
          <a:xfrm>
            <a:off x="740664" y="2999232"/>
            <a:ext cx="5715000" cy="402336"/>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Dell AMD EPYC nodes with 128 cores and 512 GB RAM each, plus GPU nodes with a mixture of NVIDIA A10s, A100s, H100s and GB200s.</a:t>
            </a:r>
            <a:endParaRPr lang="en-US" sz="1050" dirty="0"/>
          </a:p>
        </p:txBody>
      </p:sp>
      <p:sp>
        <p:nvSpPr>
          <p:cNvPr id="14" name="fact-2"/>
          <p:cNvSpPr/>
          <p:nvPr/>
        </p:nvSpPr>
        <p:spPr>
          <a:xfrm>
            <a:off x="502920" y="3557016"/>
            <a:ext cx="6172200" cy="786384"/>
          </a:xfrm>
          <a:prstGeom prst="roundRect">
            <a:avLst>
              <a:gd name="adj" fmla="val 11628"/>
            </a:avLst>
          </a:prstGeom>
          <a:solidFill>
            <a:srgbClr val="FFFFFF"/>
          </a:solidFill>
          <a:ln w="12700">
            <a:solidFill>
              <a:srgbClr val="CFE3E2"/>
            </a:solidFill>
            <a:prstDash val="solid"/>
          </a:ln>
        </p:spPr>
        <p:txBody>
          <a:bodyPr/>
          <a:lstStyle/>
          <a:p>
            <a:endParaRPr lang="en-US"/>
          </a:p>
        </p:txBody>
      </p:sp>
      <p:sp>
        <p:nvSpPr>
          <p:cNvPr id="15" name="fb-2"/>
          <p:cNvSpPr/>
          <p:nvPr/>
        </p:nvSpPr>
        <p:spPr>
          <a:xfrm>
            <a:off x="502920" y="3557016"/>
            <a:ext cx="73152" cy="786384"/>
          </a:xfrm>
          <a:prstGeom prst="roundRect">
            <a:avLst>
              <a:gd name="adj" fmla="val 50000"/>
            </a:avLst>
          </a:prstGeom>
          <a:solidFill>
            <a:srgbClr val="0067C0"/>
          </a:solidFill>
          <a:ln w="12700">
            <a:solidFill>
              <a:srgbClr val="0067C0"/>
            </a:solidFill>
            <a:prstDash val="solid"/>
          </a:ln>
        </p:spPr>
        <p:txBody>
          <a:bodyPr/>
          <a:lstStyle/>
          <a:p>
            <a:endParaRPr lang="en-US"/>
          </a:p>
        </p:txBody>
      </p:sp>
      <p:sp>
        <p:nvSpPr>
          <p:cNvPr id="16" name="fh-2"/>
          <p:cNvSpPr txBox="1"/>
          <p:nvPr/>
        </p:nvSpPr>
        <p:spPr>
          <a:xfrm>
            <a:off x="740664" y="3611880"/>
            <a:ext cx="5715000" cy="274320"/>
          </a:xfrm>
          <a:prstGeom prst="rect">
            <a:avLst/>
          </a:prstGeom>
          <a:noFill/>
          <a:ln/>
        </p:spPr>
        <p:txBody>
          <a:bodyPr wrap="square" lIns="0" tIns="0" rIns="0" bIns="0" rtlCol="0" anchor="ctr"/>
          <a:lstStyle/>
          <a:p>
            <a:pPr marL="0" indent="0">
              <a:buNone/>
            </a:pPr>
            <a:r>
              <a:rPr lang="en-US" sz="1250" b="1" dirty="0">
                <a:solidFill>
                  <a:srgbClr val="0067C0"/>
                </a:solidFill>
                <a:latin typeface="Calibri" pitchFamily="34" charset="0"/>
                <a:ea typeface="Calibri" pitchFamily="34" charset="-122"/>
                <a:cs typeface="Calibri" pitchFamily="34" charset="-120"/>
              </a:rPr>
              <a:t>Managed with Rancher</a:t>
            </a:r>
            <a:endParaRPr lang="en-US" sz="1250" dirty="0"/>
          </a:p>
        </p:txBody>
      </p:sp>
      <p:sp>
        <p:nvSpPr>
          <p:cNvPr id="17" name="fd-2"/>
          <p:cNvSpPr txBox="1"/>
          <p:nvPr/>
        </p:nvSpPr>
        <p:spPr>
          <a:xfrm>
            <a:off x="740664" y="3886200"/>
            <a:ext cx="5715000" cy="402336"/>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Kubernetes underneath for workload orchestration, Rancher on top for multi-cluster management and authentication and authorization.</a:t>
            </a:r>
            <a:endParaRPr lang="en-US" sz="1050" dirty="0"/>
          </a:p>
        </p:txBody>
      </p:sp>
      <p:sp>
        <p:nvSpPr>
          <p:cNvPr id="18" name="fact-3"/>
          <p:cNvSpPr/>
          <p:nvPr/>
        </p:nvSpPr>
        <p:spPr>
          <a:xfrm>
            <a:off x="502920" y="4443984"/>
            <a:ext cx="6172200" cy="786384"/>
          </a:xfrm>
          <a:prstGeom prst="roundRect">
            <a:avLst>
              <a:gd name="adj" fmla="val 11628"/>
            </a:avLst>
          </a:prstGeom>
          <a:solidFill>
            <a:srgbClr val="FFFFFF"/>
          </a:solidFill>
          <a:ln w="12700">
            <a:solidFill>
              <a:srgbClr val="CFE3E2"/>
            </a:solidFill>
            <a:prstDash val="solid"/>
          </a:ln>
        </p:spPr>
        <p:txBody>
          <a:bodyPr/>
          <a:lstStyle/>
          <a:p>
            <a:endParaRPr lang="en-US"/>
          </a:p>
        </p:txBody>
      </p:sp>
      <p:sp>
        <p:nvSpPr>
          <p:cNvPr id="19" name="fb-3"/>
          <p:cNvSpPr/>
          <p:nvPr/>
        </p:nvSpPr>
        <p:spPr>
          <a:xfrm>
            <a:off x="502920" y="4443984"/>
            <a:ext cx="73152" cy="786384"/>
          </a:xfrm>
          <a:prstGeom prst="roundRect">
            <a:avLst>
              <a:gd name="adj" fmla="val 50000"/>
            </a:avLst>
          </a:prstGeom>
          <a:solidFill>
            <a:srgbClr val="9A5B0C"/>
          </a:solidFill>
          <a:ln w="12700">
            <a:solidFill>
              <a:srgbClr val="9A5B0C"/>
            </a:solidFill>
            <a:prstDash val="solid"/>
          </a:ln>
        </p:spPr>
        <p:txBody>
          <a:bodyPr/>
          <a:lstStyle/>
          <a:p>
            <a:endParaRPr lang="en-US"/>
          </a:p>
        </p:txBody>
      </p:sp>
      <p:sp>
        <p:nvSpPr>
          <p:cNvPr id="20" name="fh-3"/>
          <p:cNvSpPr txBox="1"/>
          <p:nvPr/>
        </p:nvSpPr>
        <p:spPr>
          <a:xfrm>
            <a:off x="740664" y="4498848"/>
            <a:ext cx="5715000" cy="274320"/>
          </a:xfrm>
          <a:prstGeom prst="rect">
            <a:avLst/>
          </a:prstGeom>
          <a:noFill/>
          <a:ln/>
        </p:spPr>
        <p:txBody>
          <a:bodyPr wrap="square" lIns="0" tIns="0" rIns="0" bIns="0" rtlCol="0" anchor="ctr"/>
          <a:lstStyle/>
          <a:p>
            <a:pPr marL="0" indent="0">
              <a:buNone/>
            </a:pPr>
            <a:r>
              <a:rPr lang="en-US" sz="1250" b="1" dirty="0">
                <a:solidFill>
                  <a:srgbClr val="9A5B0C"/>
                </a:solidFill>
                <a:latin typeface="Calibri" pitchFamily="34" charset="0"/>
                <a:ea typeface="Calibri" pitchFamily="34" charset="-122"/>
                <a:cs typeface="Calibri" pitchFamily="34" charset="-120"/>
              </a:rPr>
              <a:t>Built for “SciOps”</a:t>
            </a:r>
            <a:endParaRPr lang="en-US" sz="1250" dirty="0"/>
          </a:p>
        </p:txBody>
      </p:sp>
      <p:sp>
        <p:nvSpPr>
          <p:cNvPr id="21" name="fd-3"/>
          <p:cNvSpPr txBox="1"/>
          <p:nvPr/>
        </p:nvSpPr>
        <p:spPr>
          <a:xfrm>
            <a:off x="740664" y="4773168"/>
            <a:ext cx="5715000" cy="402336"/>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DevOps principles applied to scientific computing: reproducible, declarative, deployable research software.</a:t>
            </a:r>
            <a:endParaRPr lang="en-US" sz="1050" dirty="0"/>
          </a:p>
        </p:txBody>
      </p:sp>
      <p:sp>
        <p:nvSpPr>
          <p:cNvPr id="22" name="fact-4"/>
          <p:cNvSpPr/>
          <p:nvPr/>
        </p:nvSpPr>
        <p:spPr>
          <a:xfrm>
            <a:off x="502920" y="5330952"/>
            <a:ext cx="6172200" cy="786384"/>
          </a:xfrm>
          <a:prstGeom prst="roundRect">
            <a:avLst>
              <a:gd name="adj" fmla="val 11628"/>
            </a:avLst>
          </a:prstGeom>
          <a:solidFill>
            <a:srgbClr val="FFFFFF"/>
          </a:solidFill>
          <a:ln w="12700">
            <a:solidFill>
              <a:srgbClr val="CFE3E2"/>
            </a:solidFill>
            <a:prstDash val="solid"/>
          </a:ln>
        </p:spPr>
        <p:txBody>
          <a:bodyPr/>
          <a:lstStyle/>
          <a:p>
            <a:endParaRPr lang="en-US"/>
          </a:p>
        </p:txBody>
      </p:sp>
      <p:sp>
        <p:nvSpPr>
          <p:cNvPr id="23" name="fb-4"/>
          <p:cNvSpPr/>
          <p:nvPr/>
        </p:nvSpPr>
        <p:spPr>
          <a:xfrm>
            <a:off x="502920" y="5330952"/>
            <a:ext cx="73152" cy="786384"/>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24" name="fh-4"/>
          <p:cNvSpPr txBox="1"/>
          <p:nvPr/>
        </p:nvSpPr>
        <p:spPr>
          <a:xfrm>
            <a:off x="740664" y="5385816"/>
            <a:ext cx="5715000" cy="274320"/>
          </a:xfrm>
          <a:prstGeom prst="rect">
            <a:avLst/>
          </a:prstGeom>
          <a:noFill/>
          <a:ln/>
        </p:spPr>
        <p:txBody>
          <a:bodyPr wrap="square" lIns="0" tIns="0" rIns="0" bIns="0" rtlCol="0" anchor="ctr"/>
          <a:lstStyle/>
          <a:p>
            <a:pPr marL="0" indent="0">
              <a:buNone/>
            </a:pPr>
            <a:r>
              <a:rPr lang="en-US" sz="1250" b="1" dirty="0">
                <a:solidFill>
                  <a:srgbClr val="B3263B"/>
                </a:solidFill>
                <a:latin typeface="Calibri" pitchFamily="34" charset="0"/>
                <a:ea typeface="Calibri" pitchFamily="34" charset="-122"/>
                <a:cs typeface="Calibri" pitchFamily="34" charset="-120"/>
              </a:rPr>
              <a:t>Why it matters</a:t>
            </a:r>
            <a:endParaRPr lang="en-US" sz="1250" dirty="0"/>
          </a:p>
        </p:txBody>
      </p:sp>
      <p:sp>
        <p:nvSpPr>
          <p:cNvPr id="25" name="fd-4"/>
          <p:cNvSpPr txBox="1"/>
          <p:nvPr/>
        </p:nvSpPr>
        <p:spPr>
          <a:xfrm>
            <a:off x="740664" y="5660136"/>
            <a:ext cx="5715000" cy="402336"/>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Building one cluster per research group is not sustainable. We’ll learn how to keep everyone’s data safe and make sure everyone stays out of each other’s way</a:t>
            </a:r>
            <a:endParaRPr lang="en-US" sz="1050" dirty="0"/>
          </a:p>
        </p:txBody>
      </p:sp>
      <p:sp>
        <p:nvSpPr>
          <p:cNvPr id="26" name="arch"/>
          <p:cNvSpPr/>
          <p:nvPr/>
        </p:nvSpPr>
        <p:spPr>
          <a:xfrm>
            <a:off x="6967728" y="1783080"/>
            <a:ext cx="4721047" cy="2304288"/>
          </a:xfrm>
          <a:prstGeom prst="roundRect">
            <a:avLst>
              <a:gd name="adj" fmla="val 3968"/>
            </a:avLst>
          </a:prstGeom>
          <a:solidFill>
            <a:srgbClr val="FFFFFF"/>
          </a:solidFill>
          <a:ln w="12700">
            <a:solidFill>
              <a:srgbClr val="CFE3E2"/>
            </a:solidFill>
            <a:prstDash val="solid"/>
          </a:ln>
        </p:spPr>
        <p:txBody>
          <a:bodyPr/>
          <a:lstStyle/>
          <a:p>
            <a:endParaRPr lang="en-US"/>
          </a:p>
        </p:txBody>
      </p:sp>
      <p:sp>
        <p:nvSpPr>
          <p:cNvPr id="27" name="Text 24"/>
          <p:cNvSpPr txBox="1"/>
          <p:nvPr/>
        </p:nvSpPr>
        <p:spPr>
          <a:xfrm>
            <a:off x="7150608" y="1901952"/>
            <a:ext cx="4355287" cy="274320"/>
          </a:xfrm>
          <a:prstGeom prst="rect">
            <a:avLst/>
          </a:prstGeom>
          <a:noFill/>
          <a:ln/>
        </p:spPr>
        <p:txBody>
          <a:bodyPr wrap="square" lIns="0" tIns="0" rIns="0" bIns="0" rtlCol="0" anchor="ctr"/>
          <a:lstStyle/>
          <a:p>
            <a:pPr marL="0" indent="0" algn="ctr">
              <a:buNone/>
            </a:pPr>
            <a:r>
              <a:rPr lang="en-US" sz="1250" b="1" dirty="0">
                <a:solidFill>
                  <a:srgbClr val="1B1537"/>
                </a:solidFill>
                <a:latin typeface="Calibri" pitchFamily="34" charset="0"/>
                <a:ea typeface="Calibri" pitchFamily="34" charset="-122"/>
                <a:cs typeface="Calibri" pitchFamily="34" charset="-120"/>
              </a:rPr>
              <a:t>Multi-tenant architecture</a:t>
            </a:r>
            <a:endParaRPr lang="en-US" sz="1250" dirty="0"/>
          </a:p>
        </p:txBody>
      </p:sp>
      <p:sp>
        <p:nvSpPr>
          <p:cNvPr id="28" name="chip-0"/>
          <p:cNvSpPr/>
          <p:nvPr/>
        </p:nvSpPr>
        <p:spPr>
          <a:xfrm>
            <a:off x="7150608" y="2258568"/>
            <a:ext cx="1020242" cy="621792"/>
          </a:xfrm>
          <a:prstGeom prst="roundRect">
            <a:avLst>
              <a:gd name="adj" fmla="val 11765"/>
            </a:avLst>
          </a:prstGeom>
          <a:solidFill>
            <a:srgbClr val="0B4F5C"/>
          </a:solidFill>
          <a:ln w="12700">
            <a:solidFill>
              <a:srgbClr val="0B4F5C"/>
            </a:solidFill>
            <a:prstDash val="solid"/>
          </a:ln>
        </p:spPr>
        <p:txBody>
          <a:bodyPr/>
          <a:lstStyle/>
          <a:p>
            <a:endParaRPr lang="en-US"/>
          </a:p>
        </p:txBody>
      </p:sp>
      <p:sp>
        <p:nvSpPr>
          <p:cNvPr id="29" name="Text 26"/>
          <p:cNvSpPr txBox="1"/>
          <p:nvPr/>
        </p:nvSpPr>
        <p:spPr>
          <a:xfrm>
            <a:off x="7150608" y="2258568"/>
            <a:ext cx="1020242" cy="621792"/>
          </a:xfrm>
          <a:prstGeom prst="rect">
            <a:avLst/>
          </a:prstGeom>
          <a:noFill/>
          <a:ln/>
        </p:spPr>
        <p:txBody>
          <a:bodyPr wrap="square" lIns="0" tIns="0" rIns="0" bIns="0" rtlCol="0" anchor="ctr"/>
          <a:lstStyle/>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Research</a:t>
            </a:r>
            <a:endParaRPr lang="en-US" sz="850" dirty="0"/>
          </a:p>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Group 1</a:t>
            </a:r>
            <a:endParaRPr lang="en-US" sz="850" dirty="0"/>
          </a:p>
        </p:txBody>
      </p:sp>
      <p:sp>
        <p:nvSpPr>
          <p:cNvPr id="30" name="Text 27"/>
          <p:cNvSpPr txBox="1"/>
          <p:nvPr/>
        </p:nvSpPr>
        <p:spPr>
          <a:xfrm>
            <a:off x="7150608" y="2898648"/>
            <a:ext cx="1020242" cy="237744"/>
          </a:xfrm>
          <a:prstGeom prst="rect">
            <a:avLst/>
          </a:prstGeom>
          <a:noFill/>
          <a:ln/>
        </p:spPr>
        <p:txBody>
          <a:bodyPr wrap="square" lIns="0" tIns="0" rIns="0" bIns="0" rtlCol="0" anchor="ctr"/>
          <a:lstStyle/>
          <a:p>
            <a:pPr marL="0" indent="0" algn="ctr">
              <a:buNone/>
            </a:pPr>
            <a:r>
              <a:rPr lang="en-US" sz="1100" b="1" dirty="0">
                <a:solidFill>
                  <a:srgbClr val="4A5568"/>
                </a:solidFill>
                <a:latin typeface="Calibri" pitchFamily="34" charset="0"/>
                <a:ea typeface="Calibri" pitchFamily="34" charset="-122"/>
                <a:cs typeface="Calibri" pitchFamily="34" charset="-120"/>
              </a:rPr>
              <a:t>↓</a:t>
            </a:r>
            <a:endParaRPr lang="en-US" sz="1100" dirty="0"/>
          </a:p>
        </p:txBody>
      </p:sp>
      <p:sp>
        <p:nvSpPr>
          <p:cNvPr id="31" name="chip-1"/>
          <p:cNvSpPr/>
          <p:nvPr/>
        </p:nvSpPr>
        <p:spPr>
          <a:xfrm>
            <a:off x="8262290" y="2258568"/>
            <a:ext cx="1020242" cy="621792"/>
          </a:xfrm>
          <a:prstGeom prst="roundRect">
            <a:avLst>
              <a:gd name="adj" fmla="val 11765"/>
            </a:avLst>
          </a:prstGeom>
          <a:solidFill>
            <a:srgbClr val="4C3FA3"/>
          </a:solidFill>
          <a:ln w="12700">
            <a:solidFill>
              <a:srgbClr val="4C3FA3"/>
            </a:solidFill>
            <a:prstDash val="solid"/>
          </a:ln>
        </p:spPr>
        <p:txBody>
          <a:bodyPr/>
          <a:lstStyle/>
          <a:p>
            <a:endParaRPr lang="en-US"/>
          </a:p>
        </p:txBody>
      </p:sp>
      <p:sp>
        <p:nvSpPr>
          <p:cNvPr id="32" name="Text 29"/>
          <p:cNvSpPr txBox="1"/>
          <p:nvPr/>
        </p:nvSpPr>
        <p:spPr>
          <a:xfrm>
            <a:off x="8262290" y="2258568"/>
            <a:ext cx="1020242" cy="621792"/>
          </a:xfrm>
          <a:prstGeom prst="rect">
            <a:avLst/>
          </a:prstGeom>
          <a:noFill/>
          <a:ln/>
        </p:spPr>
        <p:txBody>
          <a:bodyPr wrap="square" lIns="0" tIns="0" rIns="0" bIns="0" rtlCol="0" anchor="ctr"/>
          <a:lstStyle/>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Student</a:t>
            </a:r>
            <a:endParaRPr lang="en-US" sz="850" dirty="0"/>
          </a:p>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project</a:t>
            </a:r>
            <a:endParaRPr lang="en-US" sz="850" dirty="0"/>
          </a:p>
        </p:txBody>
      </p:sp>
      <p:sp>
        <p:nvSpPr>
          <p:cNvPr id="33" name="Text 30"/>
          <p:cNvSpPr txBox="1"/>
          <p:nvPr/>
        </p:nvSpPr>
        <p:spPr>
          <a:xfrm>
            <a:off x="8262290" y="2898648"/>
            <a:ext cx="1020242" cy="237744"/>
          </a:xfrm>
          <a:prstGeom prst="rect">
            <a:avLst/>
          </a:prstGeom>
          <a:noFill/>
          <a:ln/>
        </p:spPr>
        <p:txBody>
          <a:bodyPr wrap="square" lIns="0" tIns="0" rIns="0" bIns="0" rtlCol="0" anchor="ctr"/>
          <a:lstStyle/>
          <a:p>
            <a:pPr marL="0" indent="0" algn="ctr">
              <a:buNone/>
            </a:pPr>
            <a:r>
              <a:rPr lang="en-US" sz="1100" b="1" dirty="0">
                <a:solidFill>
                  <a:srgbClr val="4A5568"/>
                </a:solidFill>
                <a:latin typeface="Calibri" pitchFamily="34" charset="0"/>
                <a:ea typeface="Calibri" pitchFamily="34" charset="-122"/>
                <a:cs typeface="Calibri" pitchFamily="34" charset="-120"/>
              </a:rPr>
              <a:t>↓</a:t>
            </a:r>
            <a:endParaRPr lang="en-US" sz="1100" dirty="0"/>
          </a:p>
        </p:txBody>
      </p:sp>
      <p:sp>
        <p:nvSpPr>
          <p:cNvPr id="34" name="chip-2"/>
          <p:cNvSpPr/>
          <p:nvPr/>
        </p:nvSpPr>
        <p:spPr>
          <a:xfrm>
            <a:off x="9373972" y="2258568"/>
            <a:ext cx="1020242" cy="621792"/>
          </a:xfrm>
          <a:prstGeom prst="roundRect">
            <a:avLst>
              <a:gd name="adj" fmla="val 11765"/>
            </a:avLst>
          </a:prstGeom>
          <a:solidFill>
            <a:srgbClr val="0067C0"/>
          </a:solidFill>
          <a:ln w="12700">
            <a:solidFill>
              <a:srgbClr val="0067C0"/>
            </a:solidFill>
            <a:prstDash val="solid"/>
          </a:ln>
        </p:spPr>
        <p:txBody>
          <a:bodyPr/>
          <a:lstStyle/>
          <a:p>
            <a:endParaRPr lang="en-US"/>
          </a:p>
        </p:txBody>
      </p:sp>
      <p:sp>
        <p:nvSpPr>
          <p:cNvPr id="35" name="Text 32"/>
          <p:cNvSpPr txBox="1"/>
          <p:nvPr/>
        </p:nvSpPr>
        <p:spPr>
          <a:xfrm>
            <a:off x="9373972" y="2258568"/>
            <a:ext cx="1020242" cy="621792"/>
          </a:xfrm>
          <a:prstGeom prst="rect">
            <a:avLst/>
          </a:prstGeom>
          <a:noFill/>
          <a:ln/>
        </p:spPr>
        <p:txBody>
          <a:bodyPr wrap="square" lIns="0" tIns="0" rIns="0" bIns="0" rtlCol="0" anchor="ctr"/>
          <a:lstStyle/>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Gateway</a:t>
            </a:r>
            <a:endParaRPr lang="en-US" sz="850" dirty="0"/>
          </a:p>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service</a:t>
            </a:r>
            <a:endParaRPr lang="en-US" sz="850" dirty="0"/>
          </a:p>
        </p:txBody>
      </p:sp>
      <p:sp>
        <p:nvSpPr>
          <p:cNvPr id="36" name="Text 33"/>
          <p:cNvSpPr txBox="1"/>
          <p:nvPr/>
        </p:nvSpPr>
        <p:spPr>
          <a:xfrm>
            <a:off x="9373972" y="2898648"/>
            <a:ext cx="1020242" cy="237744"/>
          </a:xfrm>
          <a:prstGeom prst="rect">
            <a:avLst/>
          </a:prstGeom>
          <a:noFill/>
          <a:ln/>
        </p:spPr>
        <p:txBody>
          <a:bodyPr wrap="square" lIns="0" tIns="0" rIns="0" bIns="0" rtlCol="0" anchor="ctr"/>
          <a:lstStyle/>
          <a:p>
            <a:pPr marL="0" indent="0" algn="ctr">
              <a:buNone/>
            </a:pPr>
            <a:r>
              <a:rPr lang="en-US" sz="1100" b="1" dirty="0">
                <a:solidFill>
                  <a:srgbClr val="4A5568"/>
                </a:solidFill>
                <a:latin typeface="Calibri" pitchFamily="34" charset="0"/>
                <a:ea typeface="Calibri" pitchFamily="34" charset="-122"/>
                <a:cs typeface="Calibri" pitchFamily="34" charset="-120"/>
              </a:rPr>
              <a:t>↓</a:t>
            </a:r>
            <a:endParaRPr lang="en-US" sz="1100" dirty="0"/>
          </a:p>
        </p:txBody>
      </p:sp>
      <p:sp>
        <p:nvSpPr>
          <p:cNvPr id="37" name="chip-3"/>
          <p:cNvSpPr/>
          <p:nvPr/>
        </p:nvSpPr>
        <p:spPr>
          <a:xfrm>
            <a:off x="10485653" y="2258568"/>
            <a:ext cx="1020242" cy="621792"/>
          </a:xfrm>
          <a:prstGeom prst="roundRect">
            <a:avLst>
              <a:gd name="adj" fmla="val 11765"/>
            </a:avLst>
          </a:prstGeom>
          <a:solidFill>
            <a:srgbClr val="9A5B0C"/>
          </a:solidFill>
          <a:ln w="12700">
            <a:solidFill>
              <a:srgbClr val="9A5B0C"/>
            </a:solidFill>
            <a:prstDash val="solid"/>
          </a:ln>
        </p:spPr>
        <p:txBody>
          <a:bodyPr/>
          <a:lstStyle/>
          <a:p>
            <a:endParaRPr lang="en-US"/>
          </a:p>
        </p:txBody>
      </p:sp>
      <p:sp>
        <p:nvSpPr>
          <p:cNvPr id="38" name="Text 35"/>
          <p:cNvSpPr txBox="1"/>
          <p:nvPr/>
        </p:nvSpPr>
        <p:spPr>
          <a:xfrm>
            <a:off x="10485653" y="2258568"/>
            <a:ext cx="1020242" cy="621792"/>
          </a:xfrm>
          <a:prstGeom prst="rect">
            <a:avLst/>
          </a:prstGeom>
          <a:noFill/>
          <a:ln/>
        </p:spPr>
        <p:txBody>
          <a:bodyPr wrap="square" lIns="0" tIns="0" rIns="0" bIns="0" rtlCol="0" anchor="ctr"/>
          <a:lstStyle/>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Research </a:t>
            </a:r>
          </a:p>
          <a:p>
            <a:pPr marL="0" indent="0" algn="ctr">
              <a:lnSpc>
                <a:spcPct val="100000"/>
              </a:lnSpc>
              <a:buNone/>
            </a:pPr>
            <a:r>
              <a:rPr lang="en-US" sz="850" b="1" dirty="0">
                <a:solidFill>
                  <a:srgbClr val="FFFFFF"/>
                </a:solidFill>
                <a:latin typeface="Calibri" pitchFamily="34" charset="0"/>
                <a:ea typeface="Calibri" pitchFamily="34" charset="-122"/>
                <a:cs typeface="Calibri" pitchFamily="34" charset="-120"/>
              </a:rPr>
              <a:t>Group 2</a:t>
            </a:r>
            <a:endParaRPr lang="en-US" sz="850" dirty="0"/>
          </a:p>
        </p:txBody>
      </p:sp>
      <p:sp>
        <p:nvSpPr>
          <p:cNvPr id="39" name="Text 36"/>
          <p:cNvSpPr txBox="1"/>
          <p:nvPr/>
        </p:nvSpPr>
        <p:spPr>
          <a:xfrm>
            <a:off x="10485653" y="2898648"/>
            <a:ext cx="1020242" cy="237744"/>
          </a:xfrm>
          <a:prstGeom prst="rect">
            <a:avLst/>
          </a:prstGeom>
          <a:noFill/>
          <a:ln/>
        </p:spPr>
        <p:txBody>
          <a:bodyPr wrap="square" lIns="0" tIns="0" rIns="0" bIns="0" rtlCol="0" anchor="ctr"/>
          <a:lstStyle/>
          <a:p>
            <a:pPr marL="0" indent="0" algn="ctr">
              <a:buNone/>
            </a:pPr>
            <a:r>
              <a:rPr lang="en-US" sz="1100" b="1" dirty="0">
                <a:solidFill>
                  <a:srgbClr val="4A5568"/>
                </a:solidFill>
                <a:latin typeface="Calibri" pitchFamily="34" charset="0"/>
                <a:ea typeface="Calibri" pitchFamily="34" charset="-122"/>
                <a:cs typeface="Calibri" pitchFamily="34" charset="-120"/>
              </a:rPr>
              <a:t>↓</a:t>
            </a:r>
            <a:endParaRPr lang="en-US" sz="1100" dirty="0"/>
          </a:p>
        </p:txBody>
      </p:sp>
      <p:sp>
        <p:nvSpPr>
          <p:cNvPr id="40" name="shared-bar"/>
          <p:cNvSpPr/>
          <p:nvPr/>
        </p:nvSpPr>
        <p:spPr>
          <a:xfrm>
            <a:off x="7150608" y="3154680"/>
            <a:ext cx="4355287" cy="786384"/>
          </a:xfrm>
          <a:prstGeom prst="roundRect">
            <a:avLst>
              <a:gd name="adj" fmla="val 9302"/>
            </a:avLst>
          </a:prstGeom>
          <a:solidFill>
            <a:srgbClr val="1B1537"/>
          </a:solidFill>
          <a:ln w="12700">
            <a:solidFill>
              <a:srgbClr val="1B1537"/>
            </a:solidFill>
            <a:prstDash val="solid"/>
          </a:ln>
        </p:spPr>
        <p:txBody>
          <a:bodyPr/>
          <a:lstStyle/>
          <a:p>
            <a:endParaRPr lang="en-US"/>
          </a:p>
        </p:txBody>
      </p:sp>
      <p:sp>
        <p:nvSpPr>
          <p:cNvPr id="41" name="Text 38"/>
          <p:cNvSpPr txBox="1"/>
          <p:nvPr/>
        </p:nvSpPr>
        <p:spPr>
          <a:xfrm>
            <a:off x="7242048" y="3154680"/>
            <a:ext cx="4172407" cy="256032"/>
          </a:xfrm>
          <a:prstGeom prst="rect">
            <a:avLst/>
          </a:prstGeom>
          <a:noFill/>
          <a:ln/>
        </p:spPr>
        <p:txBody>
          <a:bodyPr wrap="square" lIns="0" tIns="0" rIns="0" bIns="0" rtlCol="0" anchor="ctr"/>
          <a:lstStyle/>
          <a:p>
            <a:pPr marL="0" indent="0" algn="ctr">
              <a:lnSpc>
                <a:spcPct val="110000"/>
              </a:lnSpc>
              <a:buNone/>
            </a:pPr>
            <a:r>
              <a:rPr lang="en-US" sz="1200" b="1" dirty="0">
                <a:solidFill>
                  <a:srgbClr val="FFFFFF"/>
                </a:solidFill>
                <a:latin typeface="Calibri" pitchFamily="34" charset="0"/>
                <a:ea typeface="Calibri" pitchFamily="34" charset="-122"/>
                <a:cs typeface="Calibri" pitchFamily="34" charset="-120"/>
              </a:rPr>
              <a:t>Geddes Cluster</a:t>
            </a:r>
            <a:endParaRPr lang="en-US" sz="1200" dirty="0"/>
          </a:p>
        </p:txBody>
      </p:sp>
      <p:sp>
        <p:nvSpPr>
          <p:cNvPr id="42" name="tenants"/>
          <p:cNvSpPr/>
          <p:nvPr/>
        </p:nvSpPr>
        <p:spPr>
          <a:xfrm>
            <a:off x="6967728" y="4215384"/>
            <a:ext cx="4721047" cy="1901952"/>
          </a:xfrm>
          <a:prstGeom prst="roundRect">
            <a:avLst>
              <a:gd name="adj" fmla="val 4808"/>
            </a:avLst>
          </a:prstGeom>
          <a:solidFill>
            <a:srgbClr val="FFFFFF"/>
          </a:solidFill>
          <a:ln w="12700">
            <a:solidFill>
              <a:srgbClr val="CFE3E2"/>
            </a:solidFill>
            <a:prstDash val="solid"/>
          </a:ln>
        </p:spPr>
        <p:txBody>
          <a:bodyPr/>
          <a:lstStyle/>
          <a:p>
            <a:endParaRPr lang="en-US"/>
          </a:p>
        </p:txBody>
      </p:sp>
      <p:sp>
        <p:nvSpPr>
          <p:cNvPr id="43" name="Text 40"/>
          <p:cNvSpPr txBox="1"/>
          <p:nvPr/>
        </p:nvSpPr>
        <p:spPr>
          <a:xfrm>
            <a:off x="7150608" y="4334256"/>
            <a:ext cx="4355287" cy="274320"/>
          </a:xfrm>
          <a:prstGeom prst="rect">
            <a:avLst/>
          </a:prstGeom>
          <a:noFill/>
          <a:ln/>
        </p:spPr>
        <p:txBody>
          <a:bodyPr wrap="square" lIns="0" tIns="0" rIns="0" bIns="0" rtlCol="0" anchor="ctr"/>
          <a:lstStyle/>
          <a:p>
            <a:pPr marL="0" indent="0">
              <a:buNone/>
            </a:pPr>
            <a:r>
              <a:rPr lang="en-US" sz="1250" b="1" dirty="0">
                <a:solidFill>
                  <a:srgbClr val="1B1537"/>
                </a:solidFill>
                <a:latin typeface="Calibri" pitchFamily="34" charset="0"/>
                <a:ea typeface="Calibri" pitchFamily="34" charset="-122"/>
                <a:cs typeface="Calibri" pitchFamily="34" charset="-120"/>
              </a:rPr>
              <a:t>Who uses the service?</a:t>
            </a:r>
            <a:endParaRPr lang="en-US" sz="1250" dirty="0"/>
          </a:p>
        </p:txBody>
      </p:sp>
      <p:sp>
        <p:nvSpPr>
          <p:cNvPr id="44" name="tdot-0"/>
          <p:cNvSpPr/>
          <p:nvPr/>
        </p:nvSpPr>
        <p:spPr>
          <a:xfrm>
            <a:off x="7168896" y="4688226"/>
            <a:ext cx="118872" cy="118872"/>
          </a:xfrm>
          <a:prstGeom prst="ellipse">
            <a:avLst/>
          </a:prstGeom>
          <a:solidFill>
            <a:srgbClr val="0B4F5C"/>
          </a:solidFill>
          <a:ln w="12700">
            <a:solidFill>
              <a:srgbClr val="0B4F5C"/>
            </a:solidFill>
            <a:prstDash val="solid"/>
          </a:ln>
        </p:spPr>
        <p:txBody>
          <a:bodyPr/>
          <a:lstStyle/>
          <a:p>
            <a:endParaRPr lang="en-US"/>
          </a:p>
        </p:txBody>
      </p:sp>
      <p:sp>
        <p:nvSpPr>
          <p:cNvPr id="45" name="ten-0"/>
          <p:cNvSpPr txBox="1"/>
          <p:nvPr/>
        </p:nvSpPr>
        <p:spPr>
          <a:xfrm>
            <a:off x="7370064" y="4654296"/>
            <a:ext cx="4117543" cy="241402"/>
          </a:xfrm>
          <a:prstGeom prst="rect">
            <a:avLst/>
          </a:prstGeom>
          <a:noFill/>
          <a:ln/>
        </p:spPr>
        <p:txBody>
          <a:bodyPr wrap="square" lIns="0" tIns="0" rIns="0" bIns="0" rtlCol="0" anchor="t"/>
          <a:lstStyle/>
          <a:p>
            <a:pPr marL="0" indent="0">
              <a:lnSpc>
                <a:spcPct val="110000"/>
              </a:lnSpc>
              <a:buNone/>
            </a:pPr>
            <a:r>
              <a:rPr lang="en-US" sz="1000" b="1" dirty="0">
                <a:solidFill>
                  <a:srgbClr val="0B4F5C"/>
                </a:solidFill>
                <a:latin typeface="Calibri" pitchFamily="34" charset="0"/>
                <a:ea typeface="Calibri" pitchFamily="34" charset="-122"/>
                <a:cs typeface="Calibri" pitchFamily="34" charset="-120"/>
              </a:rPr>
              <a:t>National projects  </a:t>
            </a:r>
            <a:r>
              <a:rPr lang="en-US" sz="1000" dirty="0">
                <a:solidFill>
                  <a:srgbClr val="1F2937"/>
                </a:solidFill>
                <a:latin typeface="Calibri" pitchFamily="34" charset="0"/>
                <a:ea typeface="Calibri" pitchFamily="34" charset="-122"/>
                <a:cs typeface="Calibri" pitchFamily="34" charset="-120"/>
              </a:rPr>
              <a:t>NanoHUB · CyberFACES</a:t>
            </a:r>
            <a:endParaRPr lang="en-US" sz="1000" dirty="0"/>
          </a:p>
        </p:txBody>
      </p:sp>
      <p:sp>
        <p:nvSpPr>
          <p:cNvPr id="46" name="tdot-1"/>
          <p:cNvSpPr/>
          <p:nvPr/>
        </p:nvSpPr>
        <p:spPr>
          <a:xfrm>
            <a:off x="7168896" y="4966204"/>
            <a:ext cx="118872" cy="118872"/>
          </a:xfrm>
          <a:prstGeom prst="ellipse">
            <a:avLst/>
          </a:prstGeom>
          <a:solidFill>
            <a:srgbClr val="4C3FA3"/>
          </a:solidFill>
          <a:ln w="12700">
            <a:solidFill>
              <a:srgbClr val="4C3FA3"/>
            </a:solidFill>
            <a:prstDash val="solid"/>
          </a:ln>
        </p:spPr>
        <p:txBody>
          <a:bodyPr/>
          <a:lstStyle/>
          <a:p>
            <a:endParaRPr lang="en-US"/>
          </a:p>
        </p:txBody>
      </p:sp>
      <p:sp>
        <p:nvSpPr>
          <p:cNvPr id="47" name="ten-1"/>
          <p:cNvSpPr txBox="1"/>
          <p:nvPr/>
        </p:nvSpPr>
        <p:spPr>
          <a:xfrm>
            <a:off x="7370064" y="4932274"/>
            <a:ext cx="4117543" cy="241402"/>
          </a:xfrm>
          <a:prstGeom prst="rect">
            <a:avLst/>
          </a:prstGeom>
          <a:noFill/>
          <a:ln/>
        </p:spPr>
        <p:txBody>
          <a:bodyPr wrap="square" lIns="0" tIns="0" rIns="0" bIns="0" rtlCol="0" anchor="t"/>
          <a:lstStyle/>
          <a:p>
            <a:pPr marL="0" indent="0">
              <a:lnSpc>
                <a:spcPct val="110000"/>
              </a:lnSpc>
              <a:buNone/>
            </a:pPr>
            <a:r>
              <a:rPr lang="en-US" sz="1000" b="1" dirty="0">
                <a:solidFill>
                  <a:srgbClr val="4C3FA3"/>
                </a:solidFill>
                <a:latin typeface="Calibri" pitchFamily="34" charset="0"/>
                <a:ea typeface="Calibri" pitchFamily="34" charset="-122"/>
                <a:cs typeface="Calibri" pitchFamily="34" charset="-120"/>
              </a:rPr>
              <a:t>International collaborations  </a:t>
            </a:r>
            <a:r>
              <a:rPr lang="en-US" sz="1000" dirty="0">
                <a:solidFill>
                  <a:srgbClr val="1F2937"/>
                </a:solidFill>
                <a:latin typeface="Calibri" pitchFamily="34" charset="0"/>
                <a:ea typeface="Calibri" pitchFamily="34" charset="-122"/>
                <a:cs typeface="Calibri" pitchFamily="34" charset="-120"/>
              </a:rPr>
              <a:t>CMS experiment at CERN</a:t>
            </a:r>
            <a:endParaRPr lang="en-US" sz="1000" dirty="0"/>
          </a:p>
        </p:txBody>
      </p:sp>
      <p:sp>
        <p:nvSpPr>
          <p:cNvPr id="48" name="tdot-2"/>
          <p:cNvSpPr/>
          <p:nvPr/>
        </p:nvSpPr>
        <p:spPr>
          <a:xfrm>
            <a:off x="7168896" y="5244181"/>
            <a:ext cx="118872" cy="118872"/>
          </a:xfrm>
          <a:prstGeom prst="ellipse">
            <a:avLst/>
          </a:prstGeom>
          <a:solidFill>
            <a:srgbClr val="0067C0"/>
          </a:solidFill>
          <a:ln w="12700">
            <a:solidFill>
              <a:srgbClr val="0067C0"/>
            </a:solidFill>
            <a:prstDash val="solid"/>
          </a:ln>
        </p:spPr>
        <p:txBody>
          <a:bodyPr/>
          <a:lstStyle/>
          <a:p>
            <a:endParaRPr lang="en-US"/>
          </a:p>
        </p:txBody>
      </p:sp>
      <p:sp>
        <p:nvSpPr>
          <p:cNvPr id="49" name="ten-2"/>
          <p:cNvSpPr txBox="1"/>
          <p:nvPr/>
        </p:nvSpPr>
        <p:spPr>
          <a:xfrm>
            <a:off x="7370064" y="5210251"/>
            <a:ext cx="4117543" cy="241402"/>
          </a:xfrm>
          <a:prstGeom prst="rect">
            <a:avLst/>
          </a:prstGeom>
          <a:noFill/>
          <a:ln/>
        </p:spPr>
        <p:txBody>
          <a:bodyPr wrap="square" lIns="0" tIns="0" rIns="0" bIns="0" rtlCol="0" anchor="t"/>
          <a:lstStyle/>
          <a:p>
            <a:pPr marL="0" indent="0">
              <a:lnSpc>
                <a:spcPct val="110000"/>
              </a:lnSpc>
              <a:buNone/>
            </a:pPr>
            <a:r>
              <a:rPr lang="en-US" sz="1000" b="1" dirty="0">
                <a:solidFill>
                  <a:srgbClr val="0067C0"/>
                </a:solidFill>
                <a:latin typeface="Calibri" pitchFamily="34" charset="0"/>
                <a:ea typeface="Calibri" pitchFamily="34" charset="-122"/>
                <a:cs typeface="Calibri" pitchFamily="34" charset="-120"/>
              </a:rPr>
              <a:t>Purdue GenAI Studio  </a:t>
            </a:r>
            <a:r>
              <a:rPr lang="en-US" sz="1000" dirty="0">
                <a:solidFill>
                  <a:srgbClr val="1F2937"/>
                </a:solidFill>
                <a:latin typeface="Calibri" pitchFamily="34" charset="0"/>
                <a:ea typeface="Calibri" pitchFamily="34" charset="-122"/>
                <a:cs typeface="Calibri" pitchFamily="34" charset="-120"/>
              </a:rPr>
              <a:t>On-prem open-weight GenAI services</a:t>
            </a:r>
            <a:endParaRPr lang="en-US" sz="1000" dirty="0"/>
          </a:p>
        </p:txBody>
      </p:sp>
      <p:sp>
        <p:nvSpPr>
          <p:cNvPr id="50" name="tdot-3"/>
          <p:cNvSpPr/>
          <p:nvPr/>
        </p:nvSpPr>
        <p:spPr>
          <a:xfrm>
            <a:off x="7168896" y="5522159"/>
            <a:ext cx="118872" cy="118872"/>
          </a:xfrm>
          <a:prstGeom prst="ellipse">
            <a:avLst/>
          </a:prstGeom>
          <a:solidFill>
            <a:srgbClr val="9A5B0C"/>
          </a:solidFill>
          <a:ln w="12700">
            <a:solidFill>
              <a:srgbClr val="9A5B0C"/>
            </a:solidFill>
            <a:prstDash val="solid"/>
          </a:ln>
        </p:spPr>
        <p:txBody>
          <a:bodyPr/>
          <a:lstStyle/>
          <a:p>
            <a:endParaRPr lang="en-US"/>
          </a:p>
        </p:txBody>
      </p:sp>
      <p:sp>
        <p:nvSpPr>
          <p:cNvPr id="51" name="ten-3"/>
          <p:cNvSpPr txBox="1"/>
          <p:nvPr/>
        </p:nvSpPr>
        <p:spPr>
          <a:xfrm>
            <a:off x="7370064" y="5488229"/>
            <a:ext cx="4117543" cy="241402"/>
          </a:xfrm>
          <a:prstGeom prst="rect">
            <a:avLst/>
          </a:prstGeom>
          <a:noFill/>
          <a:ln/>
        </p:spPr>
        <p:txBody>
          <a:bodyPr wrap="square" lIns="0" tIns="0" rIns="0" bIns="0" rtlCol="0" anchor="t"/>
          <a:lstStyle/>
          <a:p>
            <a:pPr marL="0" indent="0">
              <a:lnSpc>
                <a:spcPct val="110000"/>
              </a:lnSpc>
              <a:buNone/>
            </a:pPr>
            <a:r>
              <a:rPr lang="en-US" sz="1000" b="1" dirty="0">
                <a:solidFill>
                  <a:srgbClr val="9A5B0C"/>
                </a:solidFill>
                <a:latin typeface="Calibri" pitchFamily="34" charset="0"/>
                <a:ea typeface="Calibri" pitchFamily="34" charset="-122"/>
                <a:cs typeface="Calibri" pitchFamily="34" charset="-120"/>
              </a:rPr>
              <a:t>AI lifecycle management  </a:t>
            </a:r>
            <a:r>
              <a:rPr lang="en-US" sz="1000" dirty="0">
                <a:solidFill>
                  <a:srgbClr val="1F2937"/>
                </a:solidFill>
                <a:latin typeface="Calibri" pitchFamily="34" charset="0"/>
                <a:ea typeface="Calibri" pitchFamily="34" charset="-122"/>
                <a:cs typeface="Calibri" pitchFamily="34" charset="-120"/>
              </a:rPr>
              <a:t>Training, tuning and model serving</a:t>
            </a:r>
            <a:endParaRPr lang="en-US" sz="1000" dirty="0"/>
          </a:p>
        </p:txBody>
      </p:sp>
      <p:sp>
        <p:nvSpPr>
          <p:cNvPr id="52" name="tdot-4"/>
          <p:cNvSpPr/>
          <p:nvPr/>
        </p:nvSpPr>
        <p:spPr>
          <a:xfrm>
            <a:off x="7168896" y="5800136"/>
            <a:ext cx="118872" cy="118872"/>
          </a:xfrm>
          <a:prstGeom prst="ellipse">
            <a:avLst/>
          </a:prstGeom>
          <a:solidFill>
            <a:srgbClr val="B3263B"/>
          </a:solidFill>
          <a:ln w="12700">
            <a:solidFill>
              <a:srgbClr val="B3263B"/>
            </a:solidFill>
            <a:prstDash val="solid"/>
          </a:ln>
        </p:spPr>
        <p:txBody>
          <a:bodyPr/>
          <a:lstStyle/>
          <a:p>
            <a:endParaRPr lang="en-US"/>
          </a:p>
        </p:txBody>
      </p:sp>
      <p:sp>
        <p:nvSpPr>
          <p:cNvPr id="53" name="ten-4"/>
          <p:cNvSpPr txBox="1"/>
          <p:nvPr/>
        </p:nvSpPr>
        <p:spPr>
          <a:xfrm>
            <a:off x="7370064" y="5766206"/>
            <a:ext cx="4117543" cy="241402"/>
          </a:xfrm>
          <a:prstGeom prst="rect">
            <a:avLst/>
          </a:prstGeom>
          <a:noFill/>
          <a:ln/>
        </p:spPr>
        <p:txBody>
          <a:bodyPr wrap="square" lIns="0" tIns="0" rIns="0" bIns="0" rtlCol="0" anchor="t"/>
          <a:lstStyle/>
          <a:p>
            <a:pPr marL="0" indent="0">
              <a:lnSpc>
                <a:spcPct val="110000"/>
              </a:lnSpc>
              <a:buNone/>
            </a:pPr>
            <a:r>
              <a:rPr lang="en-US" sz="1000" b="1" dirty="0">
                <a:solidFill>
                  <a:srgbClr val="B3263B"/>
                </a:solidFill>
                <a:latin typeface="Calibri" pitchFamily="34" charset="0"/>
                <a:ea typeface="Calibri" pitchFamily="34" charset="-122"/>
                <a:cs typeface="Calibri" pitchFamily="34" charset="-120"/>
              </a:rPr>
              <a:t>Purdue Research groups and students </a:t>
            </a:r>
            <a:r>
              <a:rPr lang="en-US" sz="1000" dirty="0">
                <a:solidFill>
                  <a:srgbClr val="1F2937"/>
                </a:solidFill>
                <a:latin typeface="Calibri" pitchFamily="34" charset="0"/>
                <a:ea typeface="Calibri" pitchFamily="34" charset="-122"/>
                <a:cs typeface="Calibri" pitchFamily="34" charset="-120"/>
              </a:rPr>
              <a:t>all sharing the same physical cluster</a:t>
            </a:r>
            <a:endParaRPr lang="en-US" sz="1000" dirty="0"/>
          </a:p>
        </p:txBody>
      </p:sp>
      <p:pic>
        <p:nvPicPr>
          <p:cNvPr id="5" name="Graphic 4">
            <a:extLst>
              <a:ext uri="{FF2B5EF4-FFF2-40B4-BE49-F238E27FC236}">
                <a16:creationId xmlns:a16="http://schemas.microsoft.com/office/drawing/2014/main" id="{ACF8B381-84EA-6CEA-FA74-80293EC4A6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28332" y="3413580"/>
            <a:ext cx="426174" cy="372903"/>
          </a:xfrm>
          <a:prstGeom prst="rect">
            <a:avLst/>
          </a:prstGeom>
        </p:spPr>
      </p:pic>
      <p:pic>
        <p:nvPicPr>
          <p:cNvPr id="54" name="Graphic 53">
            <a:extLst>
              <a:ext uri="{FF2B5EF4-FFF2-40B4-BE49-F238E27FC236}">
                <a16:creationId xmlns:a16="http://schemas.microsoft.com/office/drawing/2014/main" id="{032ECFFD-212B-68BB-52C8-174A99D44A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049" y="3414893"/>
            <a:ext cx="426174" cy="372903"/>
          </a:xfrm>
          <a:prstGeom prst="rect">
            <a:avLst/>
          </a:prstGeom>
        </p:spPr>
      </p:pic>
      <p:pic>
        <p:nvPicPr>
          <p:cNvPr id="55" name="Graphic 54">
            <a:extLst>
              <a:ext uri="{FF2B5EF4-FFF2-40B4-BE49-F238E27FC236}">
                <a16:creationId xmlns:a16="http://schemas.microsoft.com/office/drawing/2014/main" id="{C95F2F79-213E-7BD9-E8BB-642553E10E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14064" y="3410712"/>
            <a:ext cx="426174" cy="372903"/>
          </a:xfrm>
          <a:prstGeom prst="rect">
            <a:avLst/>
          </a:prstGeom>
        </p:spPr>
      </p:pic>
      <p:pic>
        <p:nvPicPr>
          <p:cNvPr id="56" name="Graphic 55">
            <a:extLst>
              <a:ext uri="{FF2B5EF4-FFF2-40B4-BE49-F238E27FC236}">
                <a16:creationId xmlns:a16="http://schemas.microsoft.com/office/drawing/2014/main" id="{B3435079-B502-3401-0767-206AEEBE83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98103" y="3414893"/>
            <a:ext cx="426174" cy="372903"/>
          </a:xfrm>
          <a:prstGeom prst="rect">
            <a:avLst/>
          </a:prstGeom>
        </p:spPr>
      </p:pic>
      <p:pic>
        <p:nvPicPr>
          <p:cNvPr id="57" name="Graphic 56">
            <a:extLst>
              <a:ext uri="{FF2B5EF4-FFF2-40B4-BE49-F238E27FC236}">
                <a16:creationId xmlns:a16="http://schemas.microsoft.com/office/drawing/2014/main" id="{1334F9AF-894B-36A9-1697-EE0BE4193B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52505" y="3410712"/>
            <a:ext cx="426174" cy="372903"/>
          </a:xfrm>
          <a:prstGeom prst="rect">
            <a:avLst/>
          </a:prstGeom>
        </p:spPr>
      </p:pic>
      <p:pic>
        <p:nvPicPr>
          <p:cNvPr id="58" name="Graphic 57">
            <a:extLst>
              <a:ext uri="{FF2B5EF4-FFF2-40B4-BE49-F238E27FC236}">
                <a16:creationId xmlns:a16="http://schemas.microsoft.com/office/drawing/2014/main" id="{49D7C2A7-39C5-22F4-FD74-41419F8ABE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72566" y="3410711"/>
            <a:ext cx="426174" cy="372903"/>
          </a:xfrm>
          <a:prstGeom prst="rect">
            <a:avLst/>
          </a:prstGeom>
        </p:spPr>
      </p:pic>
      <p:pic>
        <p:nvPicPr>
          <p:cNvPr id="59" name="Graphic 58">
            <a:extLst>
              <a:ext uri="{FF2B5EF4-FFF2-40B4-BE49-F238E27FC236}">
                <a16:creationId xmlns:a16="http://schemas.microsoft.com/office/drawing/2014/main" id="{019A86F2-44F5-18F4-7645-2211E4D658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22730" y="3407782"/>
            <a:ext cx="426174" cy="3729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AGENDA</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Overview</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endParaRPr lang="en-US" sz="1300" dirty="0"/>
          </a:p>
        </p:txBody>
      </p:sp>
      <p:sp>
        <p:nvSpPr>
          <p:cNvPr id="6" name="agenda-0"/>
          <p:cNvSpPr/>
          <p:nvPr/>
        </p:nvSpPr>
        <p:spPr>
          <a:xfrm>
            <a:off x="502920" y="1627632"/>
            <a:ext cx="11185855" cy="585216"/>
          </a:xfrm>
          <a:prstGeom prst="roundRect">
            <a:avLst>
              <a:gd name="adj" fmla="val 15625"/>
            </a:avLst>
          </a:prstGeom>
          <a:solidFill>
            <a:srgbClr val="FFFFFF"/>
          </a:solidFill>
          <a:ln w="12700">
            <a:solidFill>
              <a:srgbClr val="CFE3E2"/>
            </a:solidFill>
            <a:prstDash val="solid"/>
          </a:ln>
        </p:spPr>
        <p:txBody>
          <a:bodyPr/>
          <a:lstStyle/>
          <a:p>
            <a:endParaRPr lang="en-US"/>
          </a:p>
        </p:txBody>
      </p:sp>
      <p:sp>
        <p:nvSpPr>
          <p:cNvPr id="7" name="num-bg-0"/>
          <p:cNvSpPr/>
          <p:nvPr/>
        </p:nvSpPr>
        <p:spPr>
          <a:xfrm>
            <a:off x="630936" y="1719072"/>
            <a:ext cx="566928" cy="402336"/>
          </a:xfrm>
          <a:prstGeom prst="roundRect">
            <a:avLst>
              <a:gd name="adj" fmla="val 15909"/>
            </a:avLst>
          </a:prstGeom>
          <a:solidFill>
            <a:srgbClr val="0B4F5C"/>
          </a:solidFill>
          <a:ln w="12700">
            <a:solidFill>
              <a:srgbClr val="0B4F5C"/>
            </a:solidFill>
            <a:prstDash val="solid"/>
          </a:ln>
        </p:spPr>
        <p:txBody>
          <a:bodyPr/>
          <a:lstStyle/>
          <a:p>
            <a:endParaRPr lang="en-US"/>
          </a:p>
        </p:txBody>
      </p:sp>
      <p:sp>
        <p:nvSpPr>
          <p:cNvPr id="8" name="Text 5"/>
          <p:cNvSpPr txBox="1"/>
          <p:nvPr/>
        </p:nvSpPr>
        <p:spPr>
          <a:xfrm>
            <a:off x="630936" y="1719072"/>
            <a:ext cx="56692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vo" pitchFamily="34" charset="0"/>
                <a:ea typeface="Arvo" pitchFamily="34" charset="-122"/>
                <a:cs typeface="Arvo" pitchFamily="34" charset="-120"/>
              </a:rPr>
              <a:t>01</a:t>
            </a:r>
            <a:endParaRPr lang="en-US" sz="1500" dirty="0"/>
          </a:p>
        </p:txBody>
      </p:sp>
      <p:sp>
        <p:nvSpPr>
          <p:cNvPr id="9" name="Text 6"/>
          <p:cNvSpPr txBox="1"/>
          <p:nvPr/>
        </p:nvSpPr>
        <p:spPr>
          <a:xfrm>
            <a:off x="1344168" y="1627632"/>
            <a:ext cx="3200400" cy="585216"/>
          </a:xfrm>
          <a:prstGeom prst="rect">
            <a:avLst/>
          </a:prstGeom>
          <a:noFill/>
          <a:ln/>
        </p:spPr>
        <p:txBody>
          <a:bodyPr wrap="square" lIns="0" tIns="0" rIns="0" bIns="0" rtlCol="0" anchor="ctr"/>
          <a:lstStyle/>
          <a:p>
            <a:pPr marL="0" indent="0">
              <a:buNone/>
            </a:pPr>
            <a:r>
              <a:rPr lang="en-US" sz="1350" b="1" dirty="0">
                <a:solidFill>
                  <a:srgbClr val="1B1537"/>
                </a:solidFill>
                <a:latin typeface="Calibri" pitchFamily="34" charset="0"/>
                <a:ea typeface="Calibri" pitchFamily="34" charset="-122"/>
                <a:cs typeface="Calibri" pitchFamily="34" charset="-120"/>
              </a:rPr>
              <a:t>What multitenancy means</a:t>
            </a:r>
            <a:endParaRPr lang="en-US" sz="1350" dirty="0"/>
          </a:p>
        </p:txBody>
      </p:sp>
      <p:sp>
        <p:nvSpPr>
          <p:cNvPr id="10" name="Text 7"/>
          <p:cNvSpPr txBox="1"/>
          <p:nvPr/>
        </p:nvSpPr>
        <p:spPr>
          <a:xfrm>
            <a:off x="4617720" y="1627632"/>
            <a:ext cx="5760720" cy="5852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Tenants and trust boundaries</a:t>
            </a:r>
            <a:endParaRPr lang="en-US" sz="1150" dirty="0"/>
          </a:p>
        </p:txBody>
      </p:sp>
      <p:sp>
        <p:nvSpPr>
          <p:cNvPr id="11" name="Text 8"/>
          <p:cNvSpPr txBox="1"/>
          <p:nvPr/>
        </p:nvSpPr>
        <p:spPr>
          <a:xfrm>
            <a:off x="10469880" y="1627632"/>
            <a:ext cx="1097280" cy="585216"/>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10 min</a:t>
            </a:r>
            <a:endParaRPr lang="en-US" sz="1100" dirty="0"/>
          </a:p>
        </p:txBody>
      </p:sp>
      <p:sp>
        <p:nvSpPr>
          <p:cNvPr id="12" name="agenda-1"/>
          <p:cNvSpPr/>
          <p:nvPr/>
        </p:nvSpPr>
        <p:spPr>
          <a:xfrm>
            <a:off x="502920" y="2299716"/>
            <a:ext cx="11185855" cy="585216"/>
          </a:xfrm>
          <a:prstGeom prst="roundRect">
            <a:avLst>
              <a:gd name="adj" fmla="val 15625"/>
            </a:avLst>
          </a:prstGeom>
          <a:solidFill>
            <a:srgbClr val="FFFFFF"/>
          </a:solidFill>
          <a:ln w="12700">
            <a:solidFill>
              <a:srgbClr val="CFE3E2"/>
            </a:solidFill>
            <a:prstDash val="solid"/>
          </a:ln>
        </p:spPr>
        <p:txBody>
          <a:bodyPr/>
          <a:lstStyle/>
          <a:p>
            <a:endParaRPr lang="en-US"/>
          </a:p>
        </p:txBody>
      </p:sp>
      <p:sp>
        <p:nvSpPr>
          <p:cNvPr id="13" name="num-bg-1"/>
          <p:cNvSpPr/>
          <p:nvPr/>
        </p:nvSpPr>
        <p:spPr>
          <a:xfrm>
            <a:off x="630936" y="2391156"/>
            <a:ext cx="566928" cy="402336"/>
          </a:xfrm>
          <a:prstGeom prst="roundRect">
            <a:avLst>
              <a:gd name="adj" fmla="val 15909"/>
            </a:avLst>
          </a:prstGeom>
          <a:solidFill>
            <a:srgbClr val="0B4F5C"/>
          </a:solidFill>
          <a:ln w="12700">
            <a:solidFill>
              <a:srgbClr val="0B4F5C"/>
            </a:solidFill>
            <a:prstDash val="solid"/>
          </a:ln>
        </p:spPr>
        <p:txBody>
          <a:bodyPr/>
          <a:lstStyle/>
          <a:p>
            <a:endParaRPr lang="en-US"/>
          </a:p>
        </p:txBody>
      </p:sp>
      <p:sp>
        <p:nvSpPr>
          <p:cNvPr id="14" name="Text 11"/>
          <p:cNvSpPr txBox="1"/>
          <p:nvPr/>
        </p:nvSpPr>
        <p:spPr>
          <a:xfrm>
            <a:off x="630936" y="2391156"/>
            <a:ext cx="56692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vo" pitchFamily="34" charset="0"/>
                <a:ea typeface="Arvo" pitchFamily="34" charset="-122"/>
                <a:cs typeface="Arvo" pitchFamily="34" charset="-120"/>
              </a:rPr>
              <a:t>02</a:t>
            </a:r>
            <a:endParaRPr lang="en-US" sz="1500" dirty="0"/>
          </a:p>
        </p:txBody>
      </p:sp>
      <p:sp>
        <p:nvSpPr>
          <p:cNvPr id="15" name="Text 12"/>
          <p:cNvSpPr txBox="1"/>
          <p:nvPr/>
        </p:nvSpPr>
        <p:spPr>
          <a:xfrm>
            <a:off x="1344168" y="2299716"/>
            <a:ext cx="3200400" cy="585216"/>
          </a:xfrm>
          <a:prstGeom prst="rect">
            <a:avLst/>
          </a:prstGeom>
          <a:noFill/>
          <a:ln/>
        </p:spPr>
        <p:txBody>
          <a:bodyPr wrap="square" lIns="0" tIns="0" rIns="0" bIns="0" rtlCol="0" anchor="ctr"/>
          <a:lstStyle/>
          <a:p>
            <a:pPr marL="0" indent="0">
              <a:buNone/>
            </a:pPr>
            <a:r>
              <a:rPr lang="en-US" sz="1350" b="1" dirty="0">
                <a:solidFill>
                  <a:srgbClr val="1B1537"/>
                </a:solidFill>
                <a:latin typeface="Calibri" pitchFamily="34" charset="0"/>
                <a:ea typeface="Calibri" pitchFamily="34" charset="-122"/>
                <a:cs typeface="Calibri" pitchFamily="34" charset="-120"/>
              </a:rPr>
              <a:t>Setup · one cluster, two tenants</a:t>
            </a:r>
            <a:endParaRPr lang="en-US" sz="1350" dirty="0"/>
          </a:p>
        </p:txBody>
      </p:sp>
      <p:sp>
        <p:nvSpPr>
          <p:cNvPr id="16" name="Text 13"/>
          <p:cNvSpPr txBox="1"/>
          <p:nvPr/>
        </p:nvSpPr>
        <p:spPr>
          <a:xfrm>
            <a:off x="4617720" y="2299716"/>
            <a:ext cx="5760720" cy="5852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Running </a:t>
            </a:r>
            <a:r>
              <a:rPr lang="en-US" sz="1150" dirty="0" err="1">
                <a:solidFill>
                  <a:srgbClr val="1F2937"/>
                </a:solidFill>
                <a:latin typeface="Calibri" pitchFamily="34" charset="0"/>
                <a:ea typeface="Calibri" pitchFamily="34" charset="-122"/>
                <a:cs typeface="Calibri" pitchFamily="34" charset="-120"/>
              </a:rPr>
              <a:t>minikube</a:t>
            </a:r>
            <a:r>
              <a:rPr lang="en-US" sz="1150" dirty="0">
                <a:solidFill>
                  <a:srgbClr val="1F2937"/>
                </a:solidFill>
                <a:latin typeface="Calibri" pitchFamily="34" charset="0"/>
                <a:ea typeface="Calibri" pitchFamily="34" charset="-122"/>
                <a:cs typeface="Calibri" pitchFamily="34" charset="-120"/>
              </a:rPr>
              <a:t> with Calico and audit logging</a:t>
            </a:r>
            <a:endParaRPr lang="en-US" sz="1150" dirty="0"/>
          </a:p>
        </p:txBody>
      </p:sp>
      <p:sp>
        <p:nvSpPr>
          <p:cNvPr id="17" name="Text 14"/>
          <p:cNvSpPr txBox="1"/>
          <p:nvPr/>
        </p:nvSpPr>
        <p:spPr>
          <a:xfrm>
            <a:off x="10469880" y="2299716"/>
            <a:ext cx="1097280" cy="585216"/>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10 min</a:t>
            </a:r>
            <a:endParaRPr lang="en-US" sz="1100" dirty="0"/>
          </a:p>
        </p:txBody>
      </p:sp>
      <p:sp>
        <p:nvSpPr>
          <p:cNvPr id="18" name="agenda-2"/>
          <p:cNvSpPr/>
          <p:nvPr/>
        </p:nvSpPr>
        <p:spPr>
          <a:xfrm>
            <a:off x="502920" y="2971800"/>
            <a:ext cx="11185855" cy="585216"/>
          </a:xfrm>
          <a:prstGeom prst="roundRect">
            <a:avLst>
              <a:gd name="adj" fmla="val 15625"/>
            </a:avLst>
          </a:prstGeom>
          <a:solidFill>
            <a:srgbClr val="FFFFFF"/>
          </a:solidFill>
          <a:ln w="12700">
            <a:solidFill>
              <a:srgbClr val="CFE3E2"/>
            </a:solidFill>
            <a:prstDash val="solid"/>
          </a:ln>
        </p:spPr>
        <p:txBody>
          <a:bodyPr/>
          <a:lstStyle/>
          <a:p>
            <a:endParaRPr lang="en-US"/>
          </a:p>
        </p:txBody>
      </p:sp>
      <p:sp>
        <p:nvSpPr>
          <p:cNvPr id="19" name="num-bg-2"/>
          <p:cNvSpPr/>
          <p:nvPr/>
        </p:nvSpPr>
        <p:spPr>
          <a:xfrm>
            <a:off x="630936" y="3063240"/>
            <a:ext cx="566928" cy="402336"/>
          </a:xfrm>
          <a:prstGeom prst="roundRect">
            <a:avLst>
              <a:gd name="adj" fmla="val 15909"/>
            </a:avLst>
          </a:prstGeom>
          <a:solidFill>
            <a:srgbClr val="B3263B"/>
          </a:solidFill>
          <a:ln w="12700">
            <a:solidFill>
              <a:srgbClr val="B3263B"/>
            </a:solidFill>
            <a:prstDash val="solid"/>
          </a:ln>
        </p:spPr>
        <p:txBody>
          <a:bodyPr/>
          <a:lstStyle/>
          <a:p>
            <a:endParaRPr lang="en-US"/>
          </a:p>
        </p:txBody>
      </p:sp>
      <p:sp>
        <p:nvSpPr>
          <p:cNvPr id="20" name="Text 17"/>
          <p:cNvSpPr txBox="1"/>
          <p:nvPr/>
        </p:nvSpPr>
        <p:spPr>
          <a:xfrm>
            <a:off x="630936" y="3063240"/>
            <a:ext cx="56692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vo" pitchFamily="34" charset="0"/>
                <a:ea typeface="Arvo" pitchFamily="34" charset="-122"/>
                <a:cs typeface="Arvo" pitchFamily="34" charset="-120"/>
              </a:rPr>
              <a:t>03</a:t>
            </a:r>
            <a:endParaRPr lang="en-US" sz="1500" dirty="0"/>
          </a:p>
        </p:txBody>
      </p:sp>
      <p:sp>
        <p:nvSpPr>
          <p:cNvPr id="21" name="Text 18"/>
          <p:cNvSpPr txBox="1"/>
          <p:nvPr/>
        </p:nvSpPr>
        <p:spPr>
          <a:xfrm>
            <a:off x="1344168" y="2971800"/>
            <a:ext cx="3200400" cy="585216"/>
          </a:xfrm>
          <a:prstGeom prst="rect">
            <a:avLst/>
          </a:prstGeom>
          <a:noFill/>
          <a:ln/>
        </p:spPr>
        <p:txBody>
          <a:bodyPr wrap="square" lIns="0" tIns="0" rIns="0" bIns="0" rtlCol="0" anchor="ctr"/>
          <a:lstStyle/>
          <a:p>
            <a:pPr marL="0" indent="0">
              <a:buNone/>
            </a:pPr>
            <a:r>
              <a:rPr lang="en-US" sz="1350" b="1" dirty="0">
                <a:solidFill>
                  <a:srgbClr val="1B1537"/>
                </a:solidFill>
                <a:latin typeface="Calibri" pitchFamily="34" charset="0"/>
                <a:ea typeface="Calibri" pitchFamily="34" charset="-122"/>
                <a:cs typeface="Calibri" pitchFamily="34" charset="-120"/>
              </a:rPr>
              <a:t>Policy &amp; admission control</a:t>
            </a:r>
            <a:endParaRPr lang="en-US" sz="1350" dirty="0"/>
          </a:p>
        </p:txBody>
      </p:sp>
      <p:sp>
        <p:nvSpPr>
          <p:cNvPr id="22" name="Text 19"/>
          <p:cNvSpPr txBox="1"/>
          <p:nvPr/>
        </p:nvSpPr>
        <p:spPr>
          <a:xfrm>
            <a:off x="4617720" y="2971800"/>
            <a:ext cx="5760720" cy="5852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Escape a container, then block privileged pods with Kubewarden</a:t>
            </a:r>
            <a:endParaRPr lang="en-US" sz="1150" dirty="0"/>
          </a:p>
        </p:txBody>
      </p:sp>
      <p:sp>
        <p:nvSpPr>
          <p:cNvPr id="23" name="Text 20"/>
          <p:cNvSpPr txBox="1"/>
          <p:nvPr/>
        </p:nvSpPr>
        <p:spPr>
          <a:xfrm>
            <a:off x="10469880" y="2971800"/>
            <a:ext cx="1097280" cy="585216"/>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20 min</a:t>
            </a:r>
            <a:endParaRPr lang="en-US" sz="1100" dirty="0"/>
          </a:p>
        </p:txBody>
      </p:sp>
      <p:sp>
        <p:nvSpPr>
          <p:cNvPr id="24" name="agenda-3"/>
          <p:cNvSpPr/>
          <p:nvPr/>
        </p:nvSpPr>
        <p:spPr>
          <a:xfrm>
            <a:off x="502920" y="3643884"/>
            <a:ext cx="11185855" cy="585216"/>
          </a:xfrm>
          <a:prstGeom prst="roundRect">
            <a:avLst>
              <a:gd name="adj" fmla="val 15625"/>
            </a:avLst>
          </a:prstGeom>
          <a:solidFill>
            <a:srgbClr val="FFFFFF"/>
          </a:solidFill>
          <a:ln w="12700">
            <a:solidFill>
              <a:srgbClr val="CFE3E2"/>
            </a:solidFill>
            <a:prstDash val="solid"/>
          </a:ln>
        </p:spPr>
        <p:txBody>
          <a:bodyPr/>
          <a:lstStyle/>
          <a:p>
            <a:endParaRPr lang="en-US"/>
          </a:p>
        </p:txBody>
      </p:sp>
      <p:sp>
        <p:nvSpPr>
          <p:cNvPr id="25" name="num-bg-3"/>
          <p:cNvSpPr/>
          <p:nvPr/>
        </p:nvSpPr>
        <p:spPr>
          <a:xfrm>
            <a:off x="630936" y="3735324"/>
            <a:ext cx="566928" cy="402336"/>
          </a:xfrm>
          <a:prstGeom prst="roundRect">
            <a:avLst>
              <a:gd name="adj" fmla="val 15909"/>
            </a:avLst>
          </a:prstGeom>
          <a:solidFill>
            <a:srgbClr val="4C3FA3"/>
          </a:solidFill>
          <a:ln w="12700">
            <a:solidFill>
              <a:srgbClr val="4C3FA3"/>
            </a:solidFill>
            <a:prstDash val="solid"/>
          </a:ln>
        </p:spPr>
        <p:txBody>
          <a:bodyPr/>
          <a:lstStyle/>
          <a:p>
            <a:endParaRPr lang="en-US"/>
          </a:p>
        </p:txBody>
      </p:sp>
      <p:sp>
        <p:nvSpPr>
          <p:cNvPr id="26" name="Text 23"/>
          <p:cNvSpPr txBox="1"/>
          <p:nvPr/>
        </p:nvSpPr>
        <p:spPr>
          <a:xfrm>
            <a:off x="630936" y="3735324"/>
            <a:ext cx="56692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vo" pitchFamily="34" charset="0"/>
                <a:ea typeface="Arvo" pitchFamily="34" charset="-122"/>
                <a:cs typeface="Arvo" pitchFamily="34" charset="-120"/>
              </a:rPr>
              <a:t>04</a:t>
            </a:r>
            <a:endParaRPr lang="en-US" sz="1500" dirty="0"/>
          </a:p>
        </p:txBody>
      </p:sp>
      <p:sp>
        <p:nvSpPr>
          <p:cNvPr id="27" name="Text 24"/>
          <p:cNvSpPr txBox="1"/>
          <p:nvPr/>
        </p:nvSpPr>
        <p:spPr>
          <a:xfrm>
            <a:off x="1344168" y="3643884"/>
            <a:ext cx="3200400" cy="585216"/>
          </a:xfrm>
          <a:prstGeom prst="rect">
            <a:avLst/>
          </a:prstGeom>
          <a:noFill/>
          <a:ln/>
        </p:spPr>
        <p:txBody>
          <a:bodyPr wrap="square" lIns="0" tIns="0" rIns="0" bIns="0" rtlCol="0" anchor="ctr"/>
          <a:lstStyle/>
          <a:p>
            <a:pPr marL="0" indent="0">
              <a:buNone/>
            </a:pPr>
            <a:r>
              <a:rPr lang="en-US" sz="1350" b="1" dirty="0">
                <a:solidFill>
                  <a:srgbClr val="1B1537"/>
                </a:solidFill>
                <a:latin typeface="Calibri" pitchFamily="34" charset="0"/>
                <a:ea typeface="Calibri" pitchFamily="34" charset="-122"/>
                <a:cs typeface="Calibri" pitchFamily="34" charset="-120"/>
              </a:rPr>
              <a:t>RBAC</a:t>
            </a:r>
            <a:endParaRPr lang="en-US" sz="1350" dirty="0"/>
          </a:p>
        </p:txBody>
      </p:sp>
      <p:sp>
        <p:nvSpPr>
          <p:cNvPr id="28" name="Text 25"/>
          <p:cNvSpPr txBox="1"/>
          <p:nvPr/>
        </p:nvSpPr>
        <p:spPr>
          <a:xfrm>
            <a:off x="4617720" y="3643884"/>
            <a:ext cx="5760720" cy="5852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Who may ask the API for what, and the traps that undo it</a:t>
            </a:r>
            <a:endParaRPr lang="en-US" sz="1150" dirty="0"/>
          </a:p>
        </p:txBody>
      </p:sp>
      <p:sp>
        <p:nvSpPr>
          <p:cNvPr id="29" name="Text 26"/>
          <p:cNvSpPr txBox="1"/>
          <p:nvPr/>
        </p:nvSpPr>
        <p:spPr>
          <a:xfrm>
            <a:off x="10469880" y="3643884"/>
            <a:ext cx="1097280" cy="585216"/>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15 min</a:t>
            </a:r>
            <a:endParaRPr lang="en-US" sz="1100" dirty="0"/>
          </a:p>
        </p:txBody>
      </p:sp>
      <p:sp>
        <p:nvSpPr>
          <p:cNvPr id="30" name="agenda-4"/>
          <p:cNvSpPr/>
          <p:nvPr/>
        </p:nvSpPr>
        <p:spPr>
          <a:xfrm>
            <a:off x="502920" y="4315968"/>
            <a:ext cx="11185855" cy="585216"/>
          </a:xfrm>
          <a:prstGeom prst="roundRect">
            <a:avLst>
              <a:gd name="adj" fmla="val 15625"/>
            </a:avLst>
          </a:prstGeom>
          <a:solidFill>
            <a:srgbClr val="FFFFFF"/>
          </a:solidFill>
          <a:ln w="12700">
            <a:solidFill>
              <a:srgbClr val="CFE3E2"/>
            </a:solidFill>
            <a:prstDash val="solid"/>
          </a:ln>
        </p:spPr>
        <p:txBody>
          <a:bodyPr/>
          <a:lstStyle/>
          <a:p>
            <a:endParaRPr lang="en-US"/>
          </a:p>
        </p:txBody>
      </p:sp>
      <p:sp>
        <p:nvSpPr>
          <p:cNvPr id="31" name="num-bg-4"/>
          <p:cNvSpPr/>
          <p:nvPr/>
        </p:nvSpPr>
        <p:spPr>
          <a:xfrm>
            <a:off x="630936" y="4407408"/>
            <a:ext cx="566928" cy="402336"/>
          </a:xfrm>
          <a:prstGeom prst="roundRect">
            <a:avLst>
              <a:gd name="adj" fmla="val 15909"/>
            </a:avLst>
          </a:prstGeom>
          <a:solidFill>
            <a:srgbClr val="0067C0"/>
          </a:solidFill>
          <a:ln w="12700">
            <a:solidFill>
              <a:srgbClr val="0067C0"/>
            </a:solidFill>
            <a:prstDash val="solid"/>
          </a:ln>
        </p:spPr>
        <p:txBody>
          <a:bodyPr/>
          <a:lstStyle/>
          <a:p>
            <a:endParaRPr lang="en-US"/>
          </a:p>
        </p:txBody>
      </p:sp>
      <p:sp>
        <p:nvSpPr>
          <p:cNvPr id="32" name="Text 29"/>
          <p:cNvSpPr txBox="1"/>
          <p:nvPr/>
        </p:nvSpPr>
        <p:spPr>
          <a:xfrm>
            <a:off x="630936" y="4407408"/>
            <a:ext cx="56692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vo" pitchFamily="34" charset="0"/>
                <a:ea typeface="Arvo" pitchFamily="34" charset="-122"/>
                <a:cs typeface="Arvo" pitchFamily="34" charset="-120"/>
              </a:rPr>
              <a:t>05</a:t>
            </a:r>
            <a:endParaRPr lang="en-US" sz="1500" dirty="0"/>
          </a:p>
        </p:txBody>
      </p:sp>
      <p:sp>
        <p:nvSpPr>
          <p:cNvPr id="33" name="Text 30"/>
          <p:cNvSpPr txBox="1"/>
          <p:nvPr/>
        </p:nvSpPr>
        <p:spPr>
          <a:xfrm>
            <a:off x="1344168" y="4315968"/>
            <a:ext cx="3200400" cy="585216"/>
          </a:xfrm>
          <a:prstGeom prst="rect">
            <a:avLst/>
          </a:prstGeom>
          <a:noFill/>
          <a:ln/>
        </p:spPr>
        <p:txBody>
          <a:bodyPr wrap="square" lIns="0" tIns="0" rIns="0" bIns="0" rtlCol="0" anchor="ctr"/>
          <a:lstStyle/>
          <a:p>
            <a:pPr marL="0" indent="0">
              <a:buNone/>
            </a:pPr>
            <a:r>
              <a:rPr lang="en-US" sz="1350" b="1" dirty="0">
                <a:solidFill>
                  <a:srgbClr val="1B1537"/>
                </a:solidFill>
                <a:latin typeface="Calibri" pitchFamily="34" charset="0"/>
                <a:ea typeface="Calibri" pitchFamily="34" charset="-122"/>
                <a:cs typeface="Calibri" pitchFamily="34" charset="-120"/>
              </a:rPr>
              <a:t>Network policies</a:t>
            </a:r>
            <a:endParaRPr lang="en-US" sz="1350" dirty="0"/>
          </a:p>
        </p:txBody>
      </p:sp>
      <p:sp>
        <p:nvSpPr>
          <p:cNvPr id="34" name="Text 31"/>
          <p:cNvSpPr txBox="1"/>
          <p:nvPr/>
        </p:nvSpPr>
        <p:spPr>
          <a:xfrm>
            <a:off x="4617720" y="4315968"/>
            <a:ext cx="5760720" cy="5852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Prevent every pod from talking to every other pod</a:t>
            </a:r>
            <a:endParaRPr lang="en-US" sz="1150" dirty="0"/>
          </a:p>
        </p:txBody>
      </p:sp>
      <p:sp>
        <p:nvSpPr>
          <p:cNvPr id="35" name="Text 32"/>
          <p:cNvSpPr txBox="1"/>
          <p:nvPr/>
        </p:nvSpPr>
        <p:spPr>
          <a:xfrm>
            <a:off x="10469880" y="4315968"/>
            <a:ext cx="1097280" cy="585216"/>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15 min</a:t>
            </a:r>
            <a:endParaRPr lang="en-US" sz="1100" dirty="0"/>
          </a:p>
        </p:txBody>
      </p:sp>
      <p:sp>
        <p:nvSpPr>
          <p:cNvPr id="36" name="agenda-5"/>
          <p:cNvSpPr/>
          <p:nvPr/>
        </p:nvSpPr>
        <p:spPr>
          <a:xfrm>
            <a:off x="502920" y="4988052"/>
            <a:ext cx="11185855" cy="585216"/>
          </a:xfrm>
          <a:prstGeom prst="roundRect">
            <a:avLst>
              <a:gd name="adj" fmla="val 15625"/>
            </a:avLst>
          </a:prstGeom>
          <a:solidFill>
            <a:srgbClr val="FFFFFF"/>
          </a:solidFill>
          <a:ln w="12700">
            <a:solidFill>
              <a:srgbClr val="CFE3E2"/>
            </a:solidFill>
            <a:prstDash val="solid"/>
          </a:ln>
        </p:spPr>
        <p:txBody>
          <a:bodyPr/>
          <a:lstStyle/>
          <a:p>
            <a:endParaRPr lang="en-US"/>
          </a:p>
        </p:txBody>
      </p:sp>
      <p:sp>
        <p:nvSpPr>
          <p:cNvPr id="37" name="num-bg-5"/>
          <p:cNvSpPr/>
          <p:nvPr/>
        </p:nvSpPr>
        <p:spPr>
          <a:xfrm>
            <a:off x="630936" y="5079492"/>
            <a:ext cx="566928" cy="402336"/>
          </a:xfrm>
          <a:prstGeom prst="roundRect">
            <a:avLst>
              <a:gd name="adj" fmla="val 15909"/>
            </a:avLst>
          </a:prstGeom>
          <a:solidFill>
            <a:srgbClr val="9A5B0C"/>
          </a:solidFill>
          <a:ln w="12700">
            <a:solidFill>
              <a:srgbClr val="9A5B0C"/>
            </a:solidFill>
            <a:prstDash val="solid"/>
          </a:ln>
        </p:spPr>
        <p:txBody>
          <a:bodyPr/>
          <a:lstStyle/>
          <a:p>
            <a:endParaRPr lang="en-US"/>
          </a:p>
        </p:txBody>
      </p:sp>
      <p:sp>
        <p:nvSpPr>
          <p:cNvPr id="38" name="Text 35"/>
          <p:cNvSpPr txBox="1"/>
          <p:nvPr/>
        </p:nvSpPr>
        <p:spPr>
          <a:xfrm>
            <a:off x="630936" y="5079492"/>
            <a:ext cx="56692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vo" pitchFamily="34" charset="0"/>
                <a:ea typeface="Arvo" pitchFamily="34" charset="-122"/>
                <a:cs typeface="Arvo" pitchFamily="34" charset="-120"/>
              </a:rPr>
              <a:t>06</a:t>
            </a:r>
            <a:endParaRPr lang="en-US" sz="1500" dirty="0"/>
          </a:p>
        </p:txBody>
      </p:sp>
      <p:sp>
        <p:nvSpPr>
          <p:cNvPr id="39" name="Text 36"/>
          <p:cNvSpPr txBox="1"/>
          <p:nvPr/>
        </p:nvSpPr>
        <p:spPr>
          <a:xfrm>
            <a:off x="1344168" y="4988052"/>
            <a:ext cx="3200400" cy="585216"/>
          </a:xfrm>
          <a:prstGeom prst="rect">
            <a:avLst/>
          </a:prstGeom>
          <a:noFill/>
          <a:ln/>
        </p:spPr>
        <p:txBody>
          <a:bodyPr wrap="square" lIns="0" tIns="0" rIns="0" bIns="0" rtlCol="0" anchor="ctr"/>
          <a:lstStyle/>
          <a:p>
            <a:pPr marL="0" indent="0">
              <a:buNone/>
            </a:pPr>
            <a:r>
              <a:rPr lang="en-US" sz="1350" b="1" dirty="0">
                <a:solidFill>
                  <a:srgbClr val="1B1537"/>
                </a:solidFill>
                <a:latin typeface="Calibri" pitchFamily="34" charset="0"/>
                <a:ea typeface="Calibri" pitchFamily="34" charset="-122"/>
                <a:cs typeface="Calibri" pitchFamily="34" charset="-120"/>
              </a:rPr>
              <a:t>Secrets</a:t>
            </a:r>
            <a:endParaRPr lang="en-US" sz="1350" dirty="0"/>
          </a:p>
        </p:txBody>
      </p:sp>
      <p:sp>
        <p:nvSpPr>
          <p:cNvPr id="40" name="Text 37"/>
          <p:cNvSpPr txBox="1"/>
          <p:nvPr/>
        </p:nvSpPr>
        <p:spPr>
          <a:xfrm>
            <a:off x="4617720" y="4988052"/>
            <a:ext cx="5760720" cy="5852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Base64 is not encryption — demonstrate it, then fix it</a:t>
            </a:r>
            <a:endParaRPr lang="en-US" sz="1150" dirty="0"/>
          </a:p>
        </p:txBody>
      </p:sp>
      <p:sp>
        <p:nvSpPr>
          <p:cNvPr id="41" name="Text 38"/>
          <p:cNvSpPr txBox="1"/>
          <p:nvPr/>
        </p:nvSpPr>
        <p:spPr>
          <a:xfrm>
            <a:off x="10469880" y="4988052"/>
            <a:ext cx="1097280" cy="585216"/>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10 min</a:t>
            </a:r>
            <a:endParaRPr lang="en-US" sz="1100" dirty="0"/>
          </a:p>
        </p:txBody>
      </p:sp>
      <p:sp>
        <p:nvSpPr>
          <p:cNvPr id="42" name="agenda-6"/>
          <p:cNvSpPr/>
          <p:nvPr/>
        </p:nvSpPr>
        <p:spPr>
          <a:xfrm>
            <a:off x="502920" y="5660136"/>
            <a:ext cx="11185855" cy="585216"/>
          </a:xfrm>
          <a:prstGeom prst="roundRect">
            <a:avLst>
              <a:gd name="adj" fmla="val 15625"/>
            </a:avLst>
          </a:prstGeom>
          <a:solidFill>
            <a:srgbClr val="FFFFFF"/>
          </a:solidFill>
          <a:ln w="12700">
            <a:solidFill>
              <a:srgbClr val="CFE3E2"/>
            </a:solidFill>
            <a:prstDash val="solid"/>
          </a:ln>
        </p:spPr>
        <p:txBody>
          <a:bodyPr/>
          <a:lstStyle/>
          <a:p>
            <a:endParaRPr lang="en-US"/>
          </a:p>
        </p:txBody>
      </p:sp>
      <p:sp>
        <p:nvSpPr>
          <p:cNvPr id="43" name="num-bg-6"/>
          <p:cNvSpPr/>
          <p:nvPr/>
        </p:nvSpPr>
        <p:spPr>
          <a:xfrm>
            <a:off x="630936" y="5751576"/>
            <a:ext cx="566928" cy="402336"/>
          </a:xfrm>
          <a:prstGeom prst="roundRect">
            <a:avLst>
              <a:gd name="adj" fmla="val 15909"/>
            </a:avLst>
          </a:prstGeom>
          <a:solidFill>
            <a:srgbClr val="0F7B45"/>
          </a:solidFill>
          <a:ln w="12700">
            <a:solidFill>
              <a:srgbClr val="0F7B45"/>
            </a:solidFill>
            <a:prstDash val="solid"/>
          </a:ln>
        </p:spPr>
        <p:txBody>
          <a:bodyPr/>
          <a:lstStyle/>
          <a:p>
            <a:endParaRPr lang="en-US"/>
          </a:p>
        </p:txBody>
      </p:sp>
      <p:sp>
        <p:nvSpPr>
          <p:cNvPr id="44" name="Text 41"/>
          <p:cNvSpPr txBox="1"/>
          <p:nvPr/>
        </p:nvSpPr>
        <p:spPr>
          <a:xfrm>
            <a:off x="630936" y="5751576"/>
            <a:ext cx="56692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Arvo" pitchFamily="34" charset="0"/>
                <a:ea typeface="Arvo" pitchFamily="34" charset="-122"/>
                <a:cs typeface="Arvo" pitchFamily="34" charset="-120"/>
              </a:rPr>
              <a:t>07</a:t>
            </a:r>
            <a:endParaRPr lang="en-US" sz="1500" dirty="0"/>
          </a:p>
        </p:txBody>
      </p:sp>
      <p:sp>
        <p:nvSpPr>
          <p:cNvPr id="45" name="Text 42"/>
          <p:cNvSpPr txBox="1"/>
          <p:nvPr/>
        </p:nvSpPr>
        <p:spPr>
          <a:xfrm>
            <a:off x="1344168" y="5660136"/>
            <a:ext cx="3200400" cy="585216"/>
          </a:xfrm>
          <a:prstGeom prst="rect">
            <a:avLst/>
          </a:prstGeom>
          <a:noFill/>
          <a:ln/>
        </p:spPr>
        <p:txBody>
          <a:bodyPr wrap="square" lIns="0" tIns="0" rIns="0" bIns="0" rtlCol="0" anchor="ctr"/>
          <a:lstStyle/>
          <a:p>
            <a:pPr marL="0" indent="0">
              <a:buNone/>
            </a:pPr>
            <a:r>
              <a:rPr lang="en-US" sz="1350" b="1" dirty="0">
                <a:solidFill>
                  <a:srgbClr val="1B1537"/>
                </a:solidFill>
                <a:latin typeface="Calibri" pitchFamily="34" charset="0"/>
                <a:ea typeface="Calibri" pitchFamily="34" charset="-122"/>
                <a:cs typeface="Calibri" pitchFamily="34" charset="-120"/>
              </a:rPr>
              <a:t>Audit logging</a:t>
            </a:r>
            <a:endParaRPr lang="en-US" sz="1350" dirty="0"/>
          </a:p>
        </p:txBody>
      </p:sp>
      <p:sp>
        <p:nvSpPr>
          <p:cNvPr id="46" name="Text 43"/>
          <p:cNvSpPr txBox="1"/>
          <p:nvPr/>
        </p:nvSpPr>
        <p:spPr>
          <a:xfrm>
            <a:off x="4617720" y="5660136"/>
            <a:ext cx="5760720" cy="585216"/>
          </a:xfrm>
          <a:prstGeom prst="rect">
            <a:avLst/>
          </a:prstGeom>
          <a:noFill/>
          <a:ln/>
        </p:spPr>
        <p:txBody>
          <a:bodyPr wrap="square" lIns="0" tIns="0" rIns="0" bIns="0" rtlCol="0" anchor="ctr"/>
          <a:lstStyle/>
          <a:p>
            <a:pPr marL="0" indent="0">
              <a:buNone/>
            </a:pPr>
            <a:r>
              <a:rPr lang="en-US" sz="1150" dirty="0">
                <a:solidFill>
                  <a:srgbClr val="1F2937"/>
                </a:solidFill>
                <a:latin typeface="Calibri" pitchFamily="34" charset="0"/>
                <a:ea typeface="Calibri" pitchFamily="34" charset="-122"/>
                <a:cs typeface="Calibri" pitchFamily="34" charset="-120"/>
              </a:rPr>
              <a:t>Go find your own attack in the API server log</a:t>
            </a:r>
            <a:endParaRPr lang="en-US" sz="1150" dirty="0"/>
          </a:p>
        </p:txBody>
      </p:sp>
      <p:sp>
        <p:nvSpPr>
          <p:cNvPr id="47" name="Text 44"/>
          <p:cNvSpPr txBox="1"/>
          <p:nvPr/>
        </p:nvSpPr>
        <p:spPr>
          <a:xfrm>
            <a:off x="10469880" y="5660136"/>
            <a:ext cx="1097280" cy="585216"/>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10 min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01</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What multitenancy means</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Who you are sharing with, and what they can reach?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THE SETUP</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A tenant is simply a user or group of users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Multitenancy just means more than one of these shares one cluster. It is the normal case, not the exotic one.</a:t>
            </a:r>
            <a:endParaRPr lang="en-US" sz="1300" dirty="0"/>
          </a:p>
        </p:txBody>
      </p:sp>
      <p:sp>
        <p:nvSpPr>
          <p:cNvPr id="6" name="grid-card-0"/>
          <p:cNvSpPr/>
          <p:nvPr/>
        </p:nvSpPr>
        <p:spPr>
          <a:xfrm>
            <a:off x="502920"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43407"/>
            <a:ext cx="155448" cy="155448"/>
          </a:xfrm>
          <a:prstGeom prst="ellipse">
            <a:avLst/>
          </a:prstGeom>
          <a:solidFill>
            <a:srgbClr val="0B4F5C"/>
          </a:solidFill>
          <a:ln w="12700">
            <a:solidFill>
              <a:srgbClr val="0B4F5C"/>
            </a:solidFill>
            <a:prstDash val="solid"/>
          </a:ln>
        </p:spPr>
        <p:txBody>
          <a:bodyPr/>
          <a:lstStyle/>
          <a:p>
            <a:endParaRPr lang="en-US"/>
          </a:p>
        </p:txBody>
      </p:sp>
      <p:sp>
        <p:nvSpPr>
          <p:cNvPr id="8" name="gh-0"/>
          <p:cNvSpPr txBox="1"/>
          <p:nvPr/>
        </p:nvSpPr>
        <p:spPr>
          <a:xfrm>
            <a:off x="932688" y="181051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Teams in one company</a:t>
            </a:r>
            <a:endParaRPr lang="en-US" sz="1300" dirty="0"/>
          </a:p>
        </p:txBody>
      </p:sp>
      <p:sp>
        <p:nvSpPr>
          <p:cNvPr id="9" name="gb-0"/>
          <p:cNvSpPr txBox="1"/>
          <p:nvPr/>
        </p:nvSpPr>
        <p:spPr>
          <a:xfrm>
            <a:off x="685800"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Payments, search and the ML group all deploy to the same production cluster. Same employer, very different blast radius if one gets popped.</a:t>
            </a:r>
            <a:endParaRPr lang="en-US" sz="1100" dirty="0"/>
          </a:p>
        </p:txBody>
      </p:sp>
      <p:sp>
        <p:nvSpPr>
          <p:cNvPr id="10" name="grid-card-1"/>
          <p:cNvSpPr/>
          <p:nvPr/>
        </p:nvSpPr>
        <p:spPr>
          <a:xfrm>
            <a:off x="4298594"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37656"/>
            <a:ext cx="155448" cy="155448"/>
          </a:xfrm>
          <a:prstGeom prst="ellipse">
            <a:avLst/>
          </a:prstGeom>
          <a:solidFill>
            <a:srgbClr val="B3263B"/>
          </a:solidFill>
          <a:ln w="12700">
            <a:solidFill>
              <a:srgbClr val="B3263B"/>
            </a:solidFill>
            <a:prstDash val="solid"/>
          </a:ln>
        </p:spPr>
        <p:txBody>
          <a:bodyPr/>
          <a:lstStyle/>
          <a:p>
            <a:endParaRPr lang="en-US"/>
          </a:p>
        </p:txBody>
      </p:sp>
      <p:sp>
        <p:nvSpPr>
          <p:cNvPr id="12" name="gh-1"/>
          <p:cNvSpPr txBox="1"/>
          <p:nvPr/>
        </p:nvSpPr>
        <p:spPr>
          <a:xfrm>
            <a:off x="4728362" y="1810512"/>
            <a:ext cx="2981858"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Customers of a SaaS product</a:t>
            </a:r>
            <a:endParaRPr lang="en-US" sz="1300" dirty="0"/>
          </a:p>
        </p:txBody>
      </p:sp>
      <p:sp>
        <p:nvSpPr>
          <p:cNvPr id="13" name="gb-1"/>
          <p:cNvSpPr txBox="1"/>
          <p:nvPr/>
        </p:nvSpPr>
        <p:spPr>
          <a:xfrm>
            <a:off x="4481474"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Each paying customer gets a namespace. A leak across that line is a breach notification and possibly the end of the company.</a:t>
            </a:r>
            <a:endParaRPr lang="en-US" sz="1100" dirty="0"/>
          </a:p>
        </p:txBody>
      </p:sp>
      <p:sp>
        <p:nvSpPr>
          <p:cNvPr id="14" name="grid-card-2"/>
          <p:cNvSpPr/>
          <p:nvPr/>
        </p:nvSpPr>
        <p:spPr>
          <a:xfrm>
            <a:off x="8094269"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37656"/>
            <a:ext cx="155448" cy="155448"/>
          </a:xfrm>
          <a:prstGeom prst="ellipse">
            <a:avLst/>
          </a:prstGeom>
          <a:solidFill>
            <a:srgbClr val="4C3FA3"/>
          </a:solidFill>
          <a:ln w="12700">
            <a:solidFill>
              <a:srgbClr val="4C3FA3"/>
            </a:solidFill>
            <a:prstDash val="solid"/>
          </a:ln>
        </p:spPr>
        <p:txBody>
          <a:bodyPr/>
          <a:lstStyle/>
          <a:p>
            <a:endParaRPr lang="en-US"/>
          </a:p>
        </p:txBody>
      </p:sp>
      <p:sp>
        <p:nvSpPr>
          <p:cNvPr id="16" name="gh-2"/>
          <p:cNvSpPr txBox="1"/>
          <p:nvPr/>
        </p:nvSpPr>
        <p:spPr>
          <a:xfrm>
            <a:off x="8524037" y="1810512"/>
            <a:ext cx="2981858" cy="310896"/>
          </a:xfrm>
          <a:prstGeom prst="rect">
            <a:avLst/>
          </a:prstGeom>
          <a:noFill/>
          <a:ln/>
        </p:spPr>
        <p:txBody>
          <a:bodyPr wrap="square" lIns="0" tIns="0" rIns="0" bIns="0" rtlCol="0" anchor="t"/>
          <a:lstStyle/>
          <a:p>
            <a:pPr marL="0" indent="0">
              <a:buNone/>
            </a:pPr>
            <a:r>
              <a:rPr lang="en-US" sz="1300" b="1" dirty="0">
                <a:solidFill>
                  <a:srgbClr val="4C3FA3"/>
                </a:solidFill>
                <a:latin typeface="Calibri" pitchFamily="34" charset="0"/>
                <a:ea typeface="Calibri" pitchFamily="34" charset="-122"/>
                <a:cs typeface="Calibri" pitchFamily="34" charset="-120"/>
              </a:rPr>
              <a:t>A shared research cluster</a:t>
            </a:r>
            <a:endParaRPr lang="en-US" sz="1300" dirty="0"/>
          </a:p>
        </p:txBody>
      </p:sp>
      <p:sp>
        <p:nvSpPr>
          <p:cNvPr id="17" name="gb-2"/>
          <p:cNvSpPr txBox="1"/>
          <p:nvPr/>
        </p:nvSpPr>
        <p:spPr>
          <a:xfrm>
            <a:off x="8277149"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This is Geddes. Research groups across departments share nodes. One compromised lab notebook should not reach another group's data.</a:t>
            </a:r>
            <a:endParaRPr lang="en-US" sz="1100" dirty="0"/>
          </a:p>
        </p:txBody>
      </p:sp>
      <p:sp>
        <p:nvSpPr>
          <p:cNvPr id="18" name="grid-card-3"/>
          <p:cNvSpPr/>
          <p:nvPr/>
        </p:nvSpPr>
        <p:spPr>
          <a:xfrm>
            <a:off x="502920"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4306536"/>
            <a:ext cx="155448" cy="155448"/>
          </a:xfrm>
          <a:prstGeom prst="ellipse">
            <a:avLst/>
          </a:prstGeom>
          <a:solidFill>
            <a:srgbClr val="9A5B0C"/>
          </a:solidFill>
          <a:ln w="12700">
            <a:solidFill>
              <a:srgbClr val="9A5B0C"/>
            </a:solidFill>
            <a:prstDash val="solid"/>
          </a:ln>
        </p:spPr>
        <p:txBody>
          <a:bodyPr/>
          <a:lstStyle/>
          <a:p>
            <a:endParaRPr lang="en-US"/>
          </a:p>
        </p:txBody>
      </p:sp>
      <p:sp>
        <p:nvSpPr>
          <p:cNvPr id="20" name="gh-3"/>
          <p:cNvSpPr txBox="1"/>
          <p:nvPr/>
        </p:nvSpPr>
        <p:spPr>
          <a:xfrm>
            <a:off x="932688" y="4279392"/>
            <a:ext cx="2981858"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Dev, staging and prod</a:t>
            </a:r>
            <a:endParaRPr lang="en-US" sz="1300" dirty="0"/>
          </a:p>
        </p:txBody>
      </p:sp>
      <p:sp>
        <p:nvSpPr>
          <p:cNvPr id="21" name="gb-3"/>
          <p:cNvSpPr txBox="1"/>
          <p:nvPr/>
        </p:nvSpPr>
        <p:spPr>
          <a:xfrm>
            <a:off x="685800"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One cluster with three namespaces is cheaper to run that three clusters. Also, the classic way a test job ends up talking to the production database.</a:t>
            </a:r>
            <a:endParaRPr lang="en-US" sz="1100" dirty="0"/>
          </a:p>
        </p:txBody>
      </p:sp>
      <p:sp>
        <p:nvSpPr>
          <p:cNvPr id="22" name="grid-card-4"/>
          <p:cNvSpPr/>
          <p:nvPr/>
        </p:nvSpPr>
        <p:spPr>
          <a:xfrm>
            <a:off x="4298594"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4306536"/>
            <a:ext cx="155448" cy="155448"/>
          </a:xfrm>
          <a:prstGeom prst="ellipse">
            <a:avLst/>
          </a:prstGeom>
          <a:solidFill>
            <a:srgbClr val="0067C0"/>
          </a:solidFill>
          <a:ln w="12700">
            <a:solidFill>
              <a:srgbClr val="0067C0"/>
            </a:solidFill>
            <a:prstDash val="solid"/>
          </a:ln>
        </p:spPr>
        <p:txBody>
          <a:bodyPr/>
          <a:lstStyle/>
          <a:p>
            <a:endParaRPr lang="en-US"/>
          </a:p>
        </p:txBody>
      </p:sp>
      <p:sp>
        <p:nvSpPr>
          <p:cNvPr id="24" name="gh-4"/>
          <p:cNvSpPr txBox="1"/>
          <p:nvPr/>
        </p:nvSpPr>
        <p:spPr>
          <a:xfrm>
            <a:off x="4728362" y="4279392"/>
            <a:ext cx="2981858" cy="310896"/>
          </a:xfrm>
          <a:prstGeom prst="rect">
            <a:avLst/>
          </a:prstGeom>
          <a:noFill/>
          <a:ln/>
        </p:spPr>
        <p:txBody>
          <a:bodyPr wrap="square" lIns="0" tIns="0" rIns="0" bIns="0" rtlCol="0" anchor="t"/>
          <a:lstStyle/>
          <a:p>
            <a:pPr marL="0" indent="0">
              <a:buNone/>
            </a:pPr>
            <a:r>
              <a:rPr lang="en-US" sz="1300" b="1" dirty="0">
                <a:solidFill>
                  <a:srgbClr val="0067C0"/>
                </a:solidFill>
                <a:latin typeface="Calibri" pitchFamily="34" charset="0"/>
                <a:ea typeface="Calibri" pitchFamily="34" charset="-122"/>
                <a:cs typeface="Calibri" pitchFamily="34" charset="-120"/>
              </a:rPr>
              <a:t>CI runners</a:t>
            </a:r>
            <a:endParaRPr lang="en-US" sz="1300" dirty="0"/>
          </a:p>
        </p:txBody>
      </p:sp>
      <p:sp>
        <p:nvSpPr>
          <p:cNvPr id="25" name="gb-4"/>
          <p:cNvSpPr txBox="1"/>
          <p:nvPr/>
        </p:nvSpPr>
        <p:spPr>
          <a:xfrm>
            <a:off x="4481474"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Pods that execute whatever code a contributor pushed. You are literally running strangers' code inside your cluster, on purpose.</a:t>
            </a:r>
            <a:endParaRPr lang="en-US" sz="1100" dirty="0"/>
          </a:p>
        </p:txBody>
      </p:sp>
      <p:sp>
        <p:nvSpPr>
          <p:cNvPr id="26" name="grid-card-5"/>
          <p:cNvSpPr/>
          <p:nvPr/>
        </p:nvSpPr>
        <p:spPr>
          <a:xfrm>
            <a:off x="8094269"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4306536"/>
            <a:ext cx="155448" cy="155448"/>
          </a:xfrm>
          <a:prstGeom prst="ellipse">
            <a:avLst/>
          </a:prstGeom>
          <a:solidFill>
            <a:srgbClr val="4A5568"/>
          </a:solidFill>
          <a:ln w="12700">
            <a:solidFill>
              <a:srgbClr val="4A5568"/>
            </a:solidFill>
            <a:prstDash val="solid"/>
          </a:ln>
        </p:spPr>
        <p:txBody>
          <a:bodyPr/>
          <a:lstStyle/>
          <a:p>
            <a:endParaRPr lang="en-US"/>
          </a:p>
        </p:txBody>
      </p:sp>
      <p:sp>
        <p:nvSpPr>
          <p:cNvPr id="28" name="gh-5"/>
          <p:cNvSpPr txBox="1"/>
          <p:nvPr/>
        </p:nvSpPr>
        <p:spPr>
          <a:xfrm>
            <a:off x="8524037" y="4279392"/>
            <a:ext cx="2981858" cy="310896"/>
          </a:xfrm>
          <a:prstGeom prst="rect">
            <a:avLst/>
          </a:prstGeom>
          <a:noFill/>
          <a:ln/>
        </p:spPr>
        <p:txBody>
          <a:bodyPr wrap="square" lIns="0" tIns="0" rIns="0" bIns="0" rtlCol="0" anchor="t"/>
          <a:lstStyle/>
          <a:p>
            <a:pPr marL="0" indent="0">
              <a:buNone/>
            </a:pPr>
            <a:r>
              <a:rPr lang="en-US" sz="1300" b="1" dirty="0">
                <a:solidFill>
                  <a:srgbClr val="4A5568"/>
                </a:solidFill>
                <a:latin typeface="Calibri" pitchFamily="34" charset="0"/>
                <a:ea typeface="Calibri" pitchFamily="34" charset="-122"/>
                <a:cs typeface="Calibri" pitchFamily="34" charset="-120"/>
              </a:rPr>
              <a:t>You, six months ago</a:t>
            </a:r>
            <a:endParaRPr lang="en-US" sz="1300" dirty="0"/>
          </a:p>
        </p:txBody>
      </p:sp>
      <p:sp>
        <p:nvSpPr>
          <p:cNvPr id="29" name="gb-5"/>
          <p:cNvSpPr txBox="1"/>
          <p:nvPr/>
        </p:nvSpPr>
        <p:spPr>
          <a:xfrm>
            <a:off x="8277149"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Old workloads nobody owns, with permissions nobody remembers granting. Treat your own legacy namespaces as semi-hostile too.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THE CORE MISCONCEPTION</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A namespace is not a security boundary</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Namespaces organize names. On a default cluster they stop almost nothing.</a:t>
            </a:r>
            <a:endParaRPr lang="en-US" sz="1300" dirty="0"/>
          </a:p>
        </p:txBody>
      </p:sp>
      <p:sp>
        <p:nvSpPr>
          <p:cNvPr id="6" name="cmp-0"/>
          <p:cNvSpPr/>
          <p:nvPr/>
        </p:nvSpPr>
        <p:spPr>
          <a:xfrm>
            <a:off x="502920" y="1664208"/>
            <a:ext cx="5455768" cy="4736592"/>
          </a:xfrm>
          <a:prstGeom prst="roundRect">
            <a:avLst>
              <a:gd name="adj" fmla="val 1931"/>
            </a:avLst>
          </a:prstGeom>
          <a:solidFill>
            <a:srgbClr val="FFFFFF"/>
          </a:solidFill>
          <a:ln w="12700">
            <a:solidFill>
              <a:srgbClr val="CFE3E2"/>
            </a:solidFill>
            <a:prstDash val="solid"/>
          </a:ln>
        </p:spPr>
        <p:txBody>
          <a:bodyPr/>
          <a:lstStyle/>
          <a:p>
            <a:endParaRPr lang="en-US"/>
          </a:p>
        </p:txBody>
      </p:sp>
      <p:sp>
        <p:nvSpPr>
          <p:cNvPr id="7" name="pill-bg"/>
          <p:cNvSpPr/>
          <p:nvPr/>
        </p:nvSpPr>
        <p:spPr>
          <a:xfrm>
            <a:off x="704088" y="1865376"/>
            <a:ext cx="2128723" cy="310896"/>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8" name="pill-text"/>
          <p:cNvSpPr txBox="1"/>
          <p:nvPr/>
        </p:nvSpPr>
        <p:spPr>
          <a:xfrm>
            <a:off x="704088" y="1865376"/>
            <a:ext cx="2128723"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a namespace DOES do</a:t>
            </a:r>
            <a:endParaRPr lang="en-US" sz="1150" dirty="0"/>
          </a:p>
        </p:txBody>
      </p:sp>
      <p:sp>
        <p:nvSpPr>
          <p:cNvPr id="9" name="cmpb-0"/>
          <p:cNvSpPr txBox="1"/>
          <p:nvPr/>
        </p:nvSpPr>
        <p:spPr>
          <a:xfrm>
            <a:off x="704088" y="2322576"/>
            <a:ext cx="5053432" cy="3877056"/>
          </a:xfrm>
          <a:prstGeom prst="rect">
            <a:avLst/>
          </a:prstGeom>
          <a:noFill/>
          <a:ln/>
        </p:spPr>
        <p:txBody>
          <a:bodyPr wrap="square" lIns="0" tIns="0" rIns="0" bIns="0" rtlCol="0" anchor="t"/>
          <a:lstStyle/>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Scopes names.  Two teams can each have a Service called api without colliding.</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Gives RBAC something to point at.  A Role is granted inside one namespace.</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Gives quotas something to point at.  ResourceQuota and LimitRange are per-namespace.</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Groups objects for humans.  kubectl get pods -n team-alpha.</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Acts as a label other policies can select on — which is how we will use it today.</a:t>
            </a:r>
            <a:endParaRPr lang="en-US" sz="1200" dirty="0"/>
          </a:p>
        </p:txBody>
      </p:sp>
      <p:sp>
        <p:nvSpPr>
          <p:cNvPr id="10" name="cmp-1"/>
          <p:cNvSpPr/>
          <p:nvPr/>
        </p:nvSpPr>
        <p:spPr>
          <a:xfrm>
            <a:off x="6233008" y="1664208"/>
            <a:ext cx="5455768" cy="4736592"/>
          </a:xfrm>
          <a:prstGeom prst="roundRect">
            <a:avLst>
              <a:gd name="adj" fmla="val 1931"/>
            </a:avLst>
          </a:prstGeom>
          <a:solidFill>
            <a:srgbClr val="FFFFFF"/>
          </a:solidFill>
          <a:ln w="12700">
            <a:solidFill>
              <a:srgbClr val="CFE3E2"/>
            </a:solidFill>
            <a:prstDash val="solid"/>
          </a:ln>
        </p:spPr>
        <p:txBody>
          <a:bodyPr/>
          <a:lstStyle/>
          <a:p>
            <a:endParaRPr lang="en-US"/>
          </a:p>
        </p:txBody>
      </p:sp>
      <p:sp>
        <p:nvSpPr>
          <p:cNvPr id="11" name="pill-bg"/>
          <p:cNvSpPr/>
          <p:nvPr/>
        </p:nvSpPr>
        <p:spPr>
          <a:xfrm>
            <a:off x="6434176" y="1865376"/>
            <a:ext cx="1753819" cy="310896"/>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2" name="pill-text"/>
          <p:cNvSpPr txBox="1"/>
          <p:nvPr/>
        </p:nvSpPr>
        <p:spPr>
          <a:xfrm>
            <a:off x="6434176" y="1865376"/>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it does NOT do</a:t>
            </a:r>
            <a:endParaRPr lang="en-US" sz="1150" dirty="0"/>
          </a:p>
        </p:txBody>
      </p:sp>
      <p:sp>
        <p:nvSpPr>
          <p:cNvPr id="13" name="cmpb-1"/>
          <p:cNvSpPr txBox="1"/>
          <p:nvPr/>
        </p:nvSpPr>
        <p:spPr>
          <a:xfrm>
            <a:off x="6434176" y="2322576"/>
            <a:ext cx="5053432" cy="3877056"/>
          </a:xfrm>
          <a:prstGeom prst="rect">
            <a:avLst/>
          </a:prstGeom>
          <a:noFill/>
          <a:ln/>
        </p:spPr>
        <p:txBody>
          <a:bodyPr wrap="square" lIns="0" tIns="0" rIns="0" bIns="0" rtlCol="0" anchor="t"/>
          <a:lstStyle/>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Does not stop network traffic.  Any pod can reach any pod in any namespace, by default, with no policy in the way.</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Does not stop host access.  A pod can ask for privileged mode or mount the node's filesystem and the API server will cheerfully accept it.</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Does not isolate the kernel.  Every container on a node shares one kernel. Namespaces are not virtual machines.</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Does not stop resource exhaustion.  No quota means one tenant can starve the rest.</a:t>
            </a:r>
            <a:endParaRPr lang="en-US" sz="1200" dirty="0"/>
          </a:p>
          <a:p>
            <a:pPr marL="0" indent="0">
              <a:lnSpc>
                <a:spcPct val="120000"/>
              </a:lnSpc>
              <a:buNone/>
            </a:pPr>
            <a:endParaRPr lang="en-US" sz="1200" dirty="0"/>
          </a:p>
          <a:p>
            <a:pPr marL="0" indent="0">
              <a:lnSpc>
                <a:spcPct val="120000"/>
              </a:lnSpc>
              <a:buNone/>
            </a:pPr>
            <a:r>
              <a:rPr lang="en-US" sz="1200" dirty="0">
                <a:solidFill>
                  <a:srgbClr val="1F2937"/>
                </a:solidFill>
                <a:latin typeface="Calibri" pitchFamily="34" charset="0"/>
                <a:ea typeface="Calibri" pitchFamily="34" charset="-122"/>
                <a:cs typeface="Calibri" pitchFamily="34" charset="-120"/>
              </a:rPr>
              <a:t>Does not hide the API.  Every pod gets a token and can ask the API server questions.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THREAT MODEL</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What a hostile tenant gets by default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Six abilities available to anyone who can create a pod. Each card names the control that stops it — and the section where you'll build it.</a:t>
            </a:r>
            <a:endParaRPr lang="en-US" sz="1300" dirty="0"/>
          </a:p>
        </p:txBody>
      </p:sp>
      <p:sp>
        <p:nvSpPr>
          <p:cNvPr id="6" name="grid-card-0"/>
          <p:cNvSpPr/>
          <p:nvPr/>
        </p:nvSpPr>
        <p:spPr>
          <a:xfrm>
            <a:off x="502920"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37656"/>
            <a:ext cx="155448" cy="155448"/>
          </a:xfrm>
          <a:prstGeom prst="ellipse">
            <a:avLst/>
          </a:prstGeom>
          <a:solidFill>
            <a:srgbClr val="B3263B"/>
          </a:solidFill>
          <a:ln w="12700">
            <a:solidFill>
              <a:srgbClr val="B3263B"/>
            </a:solidFill>
            <a:prstDash val="solid"/>
          </a:ln>
        </p:spPr>
        <p:txBody>
          <a:bodyPr/>
          <a:lstStyle/>
          <a:p>
            <a:endParaRPr lang="en-US"/>
          </a:p>
        </p:txBody>
      </p:sp>
      <p:sp>
        <p:nvSpPr>
          <p:cNvPr id="8" name="gh-0"/>
          <p:cNvSpPr txBox="1"/>
          <p:nvPr/>
        </p:nvSpPr>
        <p:spPr>
          <a:xfrm>
            <a:off x="932688" y="1810512"/>
            <a:ext cx="2981858"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Own the node</a:t>
            </a:r>
            <a:endParaRPr lang="en-US" sz="1300" dirty="0"/>
          </a:p>
        </p:txBody>
      </p:sp>
      <p:sp>
        <p:nvSpPr>
          <p:cNvPr id="9" name="gb-0"/>
          <p:cNvSpPr txBox="1"/>
          <p:nvPr/>
        </p:nvSpPr>
        <p:spPr>
          <a:xfrm>
            <a:off x="685800"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Create a privileged pod, mount the host root filesystem, chroot into it. You are now root on the machine — and on every other tenant's pods running there.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Stopped by: §03 admission control</a:t>
            </a:r>
            <a:endParaRPr lang="en-US" sz="1100" dirty="0"/>
          </a:p>
        </p:txBody>
      </p:sp>
      <p:sp>
        <p:nvSpPr>
          <p:cNvPr id="10" name="grid-card-1"/>
          <p:cNvSpPr/>
          <p:nvPr/>
        </p:nvSpPr>
        <p:spPr>
          <a:xfrm>
            <a:off x="4298594"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37656"/>
            <a:ext cx="155448" cy="155448"/>
          </a:xfrm>
          <a:prstGeom prst="ellipse">
            <a:avLst/>
          </a:prstGeom>
          <a:solidFill>
            <a:srgbClr val="4C3FA3"/>
          </a:solidFill>
          <a:ln w="12700">
            <a:solidFill>
              <a:srgbClr val="4C3FA3"/>
            </a:solidFill>
            <a:prstDash val="solid"/>
          </a:ln>
        </p:spPr>
        <p:txBody>
          <a:bodyPr/>
          <a:lstStyle/>
          <a:p>
            <a:endParaRPr lang="en-US"/>
          </a:p>
        </p:txBody>
      </p:sp>
      <p:sp>
        <p:nvSpPr>
          <p:cNvPr id="12" name="gh-1"/>
          <p:cNvSpPr txBox="1"/>
          <p:nvPr/>
        </p:nvSpPr>
        <p:spPr>
          <a:xfrm>
            <a:off x="4728362" y="1810512"/>
            <a:ext cx="2981858" cy="310896"/>
          </a:xfrm>
          <a:prstGeom prst="rect">
            <a:avLst/>
          </a:prstGeom>
          <a:noFill/>
          <a:ln/>
        </p:spPr>
        <p:txBody>
          <a:bodyPr wrap="square" lIns="0" tIns="0" rIns="0" bIns="0" rtlCol="0" anchor="t"/>
          <a:lstStyle/>
          <a:p>
            <a:pPr marL="0" indent="0">
              <a:buNone/>
            </a:pPr>
            <a:r>
              <a:rPr lang="en-US" sz="1300" b="1" dirty="0">
                <a:solidFill>
                  <a:srgbClr val="4C3FA3"/>
                </a:solidFill>
                <a:latin typeface="Calibri" pitchFamily="34" charset="0"/>
                <a:ea typeface="Calibri" pitchFamily="34" charset="-122"/>
                <a:cs typeface="Calibri" pitchFamily="34" charset="-120"/>
              </a:rPr>
              <a:t>Read every secret</a:t>
            </a:r>
            <a:endParaRPr lang="en-US" sz="1300" dirty="0"/>
          </a:p>
        </p:txBody>
      </p:sp>
      <p:sp>
        <p:nvSpPr>
          <p:cNvPr id="13" name="gb-1"/>
          <p:cNvSpPr txBox="1"/>
          <p:nvPr/>
        </p:nvSpPr>
        <p:spPr>
          <a:xfrm>
            <a:off x="4481474"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If RBAC is sloppy — a wildcard verb, a ClusterRoleBinding where a RoleBinding was meant — the API hands over every database password in the cluster.</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Stopped by: §04 RBAC</a:t>
            </a:r>
            <a:endParaRPr lang="en-US" sz="1100" dirty="0"/>
          </a:p>
        </p:txBody>
      </p:sp>
      <p:sp>
        <p:nvSpPr>
          <p:cNvPr id="14" name="grid-card-2"/>
          <p:cNvSpPr/>
          <p:nvPr/>
        </p:nvSpPr>
        <p:spPr>
          <a:xfrm>
            <a:off x="8094269"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37656"/>
            <a:ext cx="155448" cy="155448"/>
          </a:xfrm>
          <a:prstGeom prst="ellipse">
            <a:avLst/>
          </a:prstGeom>
          <a:solidFill>
            <a:srgbClr val="0067C0"/>
          </a:solidFill>
          <a:ln w="12700">
            <a:solidFill>
              <a:srgbClr val="0067C0"/>
            </a:solidFill>
            <a:prstDash val="solid"/>
          </a:ln>
        </p:spPr>
        <p:txBody>
          <a:bodyPr/>
          <a:lstStyle/>
          <a:p>
            <a:endParaRPr lang="en-US"/>
          </a:p>
        </p:txBody>
      </p:sp>
      <p:sp>
        <p:nvSpPr>
          <p:cNvPr id="16" name="gh-2"/>
          <p:cNvSpPr txBox="1"/>
          <p:nvPr/>
        </p:nvSpPr>
        <p:spPr>
          <a:xfrm>
            <a:off x="8524037" y="1810512"/>
            <a:ext cx="2981858" cy="310896"/>
          </a:xfrm>
          <a:prstGeom prst="rect">
            <a:avLst/>
          </a:prstGeom>
          <a:noFill/>
          <a:ln/>
        </p:spPr>
        <p:txBody>
          <a:bodyPr wrap="square" lIns="0" tIns="0" rIns="0" bIns="0" rtlCol="0" anchor="t"/>
          <a:lstStyle/>
          <a:p>
            <a:pPr marL="0" indent="0">
              <a:buNone/>
            </a:pPr>
            <a:r>
              <a:rPr lang="en-US" sz="1300" b="1" dirty="0">
                <a:solidFill>
                  <a:srgbClr val="0067C0"/>
                </a:solidFill>
                <a:latin typeface="Calibri" pitchFamily="34" charset="0"/>
                <a:ea typeface="Calibri" pitchFamily="34" charset="-122"/>
                <a:cs typeface="Calibri" pitchFamily="34" charset="-120"/>
              </a:rPr>
              <a:t>Scan the whole cluster</a:t>
            </a:r>
            <a:endParaRPr lang="en-US" sz="1300" dirty="0"/>
          </a:p>
        </p:txBody>
      </p:sp>
      <p:sp>
        <p:nvSpPr>
          <p:cNvPr id="17" name="gb-2"/>
          <p:cNvSpPr txBox="1"/>
          <p:nvPr/>
        </p:nvSpPr>
        <p:spPr>
          <a:xfrm>
            <a:off x="8277149"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Pod networking is flat. Reach any Service in any namespace, plus internal admin dashboards that were never meant to face anyone.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Stopped by: §05 network policy</a:t>
            </a:r>
            <a:endParaRPr lang="en-US" sz="1100" dirty="0"/>
          </a:p>
        </p:txBody>
      </p:sp>
      <p:sp>
        <p:nvSpPr>
          <p:cNvPr id="18" name="grid-card-3"/>
          <p:cNvSpPr/>
          <p:nvPr/>
        </p:nvSpPr>
        <p:spPr>
          <a:xfrm>
            <a:off x="502920"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4306536"/>
            <a:ext cx="155448" cy="155448"/>
          </a:xfrm>
          <a:prstGeom prst="ellipse">
            <a:avLst/>
          </a:prstGeom>
          <a:solidFill>
            <a:srgbClr val="9A5B0C"/>
          </a:solidFill>
          <a:ln w="12700">
            <a:solidFill>
              <a:srgbClr val="9A5B0C"/>
            </a:solidFill>
            <a:prstDash val="solid"/>
          </a:ln>
        </p:spPr>
        <p:txBody>
          <a:bodyPr/>
          <a:lstStyle/>
          <a:p>
            <a:endParaRPr lang="en-US"/>
          </a:p>
        </p:txBody>
      </p:sp>
      <p:sp>
        <p:nvSpPr>
          <p:cNvPr id="20" name="gh-3"/>
          <p:cNvSpPr txBox="1"/>
          <p:nvPr/>
        </p:nvSpPr>
        <p:spPr>
          <a:xfrm>
            <a:off x="932688" y="4279392"/>
            <a:ext cx="2981858"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Steal a token and escalate</a:t>
            </a:r>
            <a:endParaRPr lang="en-US" sz="1300" dirty="0"/>
          </a:p>
        </p:txBody>
      </p:sp>
      <p:sp>
        <p:nvSpPr>
          <p:cNvPr id="21" name="gb-3"/>
          <p:cNvSpPr txBox="1"/>
          <p:nvPr/>
        </p:nvSpPr>
        <p:spPr>
          <a:xfrm>
            <a:off x="685800"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Every pod mounts a ServiceAccount token by default. Find an over-permissioned one and you inherit its rights, without ever touching a password.</a:t>
            </a:r>
            <a:endParaRPr lang="en-US" sz="1100" dirty="0"/>
          </a:p>
        </p:txBody>
      </p:sp>
      <p:sp>
        <p:nvSpPr>
          <p:cNvPr id="22" name="grid-card-4"/>
          <p:cNvSpPr/>
          <p:nvPr/>
        </p:nvSpPr>
        <p:spPr>
          <a:xfrm>
            <a:off x="4298594"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4306536"/>
            <a:ext cx="155448" cy="155448"/>
          </a:xfrm>
          <a:prstGeom prst="ellipse">
            <a:avLst/>
          </a:prstGeom>
          <a:solidFill>
            <a:srgbClr val="0B4F5C"/>
          </a:solidFill>
          <a:ln w="12700">
            <a:solidFill>
              <a:srgbClr val="0B4F5C"/>
            </a:solidFill>
            <a:prstDash val="solid"/>
          </a:ln>
        </p:spPr>
        <p:txBody>
          <a:bodyPr/>
          <a:lstStyle/>
          <a:p>
            <a:endParaRPr lang="en-US"/>
          </a:p>
        </p:txBody>
      </p:sp>
      <p:sp>
        <p:nvSpPr>
          <p:cNvPr id="24" name="gh-4"/>
          <p:cNvSpPr txBox="1"/>
          <p:nvPr/>
        </p:nvSpPr>
        <p:spPr>
          <a:xfrm>
            <a:off x="4728362" y="427939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Starve everyone else</a:t>
            </a:r>
            <a:endParaRPr lang="en-US" sz="1300" dirty="0"/>
          </a:p>
        </p:txBody>
      </p:sp>
      <p:sp>
        <p:nvSpPr>
          <p:cNvPr id="25" name="gb-4"/>
          <p:cNvSpPr txBox="1"/>
          <p:nvPr/>
        </p:nvSpPr>
        <p:spPr>
          <a:xfrm>
            <a:off x="4481474"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No ResourceQuota means one tenant's runaway job can consume the node and evict their neighbours. Denial of service, no exploit required.</a:t>
            </a:r>
            <a:endParaRPr lang="en-US" sz="1100" dirty="0"/>
          </a:p>
        </p:txBody>
      </p:sp>
      <p:sp>
        <p:nvSpPr>
          <p:cNvPr id="26" name="grid-card-5"/>
          <p:cNvSpPr/>
          <p:nvPr/>
        </p:nvSpPr>
        <p:spPr>
          <a:xfrm>
            <a:off x="8094269"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4306536"/>
            <a:ext cx="155448" cy="155448"/>
          </a:xfrm>
          <a:prstGeom prst="ellipse">
            <a:avLst/>
          </a:prstGeom>
          <a:solidFill>
            <a:srgbClr val="0F7B45"/>
          </a:solidFill>
          <a:ln w="12700">
            <a:solidFill>
              <a:srgbClr val="0F7B45"/>
            </a:solidFill>
            <a:prstDash val="solid"/>
          </a:ln>
        </p:spPr>
        <p:txBody>
          <a:bodyPr/>
          <a:lstStyle/>
          <a:p>
            <a:endParaRPr lang="en-US"/>
          </a:p>
        </p:txBody>
      </p:sp>
      <p:sp>
        <p:nvSpPr>
          <p:cNvPr id="28" name="gh-5"/>
          <p:cNvSpPr txBox="1"/>
          <p:nvPr/>
        </p:nvSpPr>
        <p:spPr>
          <a:xfrm>
            <a:off x="8524037" y="4279392"/>
            <a:ext cx="2981858" cy="310896"/>
          </a:xfrm>
          <a:prstGeom prst="rect">
            <a:avLst/>
          </a:prstGeom>
          <a:noFill/>
          <a:ln/>
        </p:spPr>
        <p:txBody>
          <a:bodyPr wrap="square" lIns="0" tIns="0" rIns="0" bIns="0" rtlCol="0" anchor="t"/>
          <a:lstStyle/>
          <a:p>
            <a:pPr marL="0" indent="0">
              <a:buNone/>
            </a:pPr>
            <a:r>
              <a:rPr lang="en-US" sz="1300" b="1" dirty="0">
                <a:solidFill>
                  <a:srgbClr val="0F7B45"/>
                </a:solidFill>
                <a:latin typeface="Calibri" pitchFamily="34" charset="0"/>
                <a:ea typeface="Calibri" pitchFamily="34" charset="-122"/>
                <a:cs typeface="Calibri" pitchFamily="34" charset="-120"/>
              </a:rPr>
              <a:t>Do it all invisibly</a:t>
            </a:r>
            <a:endParaRPr lang="en-US" sz="1300" dirty="0"/>
          </a:p>
        </p:txBody>
      </p:sp>
      <p:sp>
        <p:nvSpPr>
          <p:cNvPr id="29" name="gb-5"/>
          <p:cNvSpPr txBox="1"/>
          <p:nvPr/>
        </p:nvSpPr>
        <p:spPr>
          <a:xfrm>
            <a:off x="8277149"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With no audit policy configured, none of the above leaves a durable record you can search afterwards. You cannot investigate what you never logged.</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Stopped by: §07 audit logging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THE PLAN</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Five layers, and what each one buys you</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No single control is sufficient. Each layer assumes the one to its left has already been bypassed.</a:t>
            </a:r>
            <a:endParaRPr lang="en-US" sz="1300" dirty="0"/>
          </a:p>
        </p:txBody>
      </p:sp>
      <p:sp>
        <p:nvSpPr>
          <p:cNvPr id="6" name="layer-0"/>
          <p:cNvSpPr/>
          <p:nvPr/>
        </p:nvSpPr>
        <p:spPr>
          <a:xfrm>
            <a:off x="502920" y="1920240"/>
            <a:ext cx="2076237" cy="3401568"/>
          </a:xfrm>
          <a:prstGeom prst="roundRect">
            <a:avLst>
              <a:gd name="adj" fmla="val 4404"/>
            </a:avLst>
          </a:prstGeom>
          <a:solidFill>
            <a:srgbClr val="FFFFFF"/>
          </a:solidFill>
          <a:ln w="12700">
            <a:solidFill>
              <a:srgbClr val="CFE3E2"/>
            </a:solidFill>
            <a:prstDash val="solid"/>
          </a:ln>
        </p:spPr>
        <p:txBody>
          <a:bodyPr/>
          <a:lstStyle/>
          <a:p>
            <a:endParaRPr lang="en-US"/>
          </a:p>
        </p:txBody>
      </p:sp>
      <p:sp>
        <p:nvSpPr>
          <p:cNvPr id="7" name="lh-0"/>
          <p:cNvSpPr/>
          <p:nvPr/>
        </p:nvSpPr>
        <p:spPr>
          <a:xfrm>
            <a:off x="502920" y="1920240"/>
            <a:ext cx="2076237" cy="475488"/>
          </a:xfrm>
          <a:prstGeom prst="roundRect">
            <a:avLst>
              <a:gd name="adj" fmla="val 19231"/>
            </a:avLst>
          </a:prstGeom>
          <a:solidFill>
            <a:srgbClr val="B3263B"/>
          </a:solidFill>
          <a:ln w="12700">
            <a:solidFill>
              <a:srgbClr val="B3263B"/>
            </a:solidFill>
            <a:prstDash val="solid"/>
          </a:ln>
        </p:spPr>
        <p:txBody>
          <a:bodyPr/>
          <a:lstStyle/>
          <a:p>
            <a:endParaRPr lang="en-US"/>
          </a:p>
        </p:txBody>
      </p:sp>
      <p:sp>
        <p:nvSpPr>
          <p:cNvPr id="8" name="Text 5"/>
          <p:cNvSpPr txBox="1"/>
          <p:nvPr/>
        </p:nvSpPr>
        <p:spPr>
          <a:xfrm>
            <a:off x="502920" y="1920240"/>
            <a:ext cx="2076237" cy="47548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PREVENT</a:t>
            </a:r>
            <a:endParaRPr lang="en-US" sz="1200" dirty="0"/>
          </a:p>
        </p:txBody>
      </p:sp>
      <p:sp>
        <p:nvSpPr>
          <p:cNvPr id="9" name="Text 6"/>
          <p:cNvSpPr txBox="1"/>
          <p:nvPr/>
        </p:nvSpPr>
        <p:spPr>
          <a:xfrm>
            <a:off x="630936" y="2487168"/>
            <a:ext cx="1820205" cy="237744"/>
          </a:xfrm>
          <a:prstGeom prst="rect">
            <a:avLst/>
          </a:prstGeom>
          <a:noFill/>
          <a:ln/>
        </p:spPr>
        <p:txBody>
          <a:bodyPr wrap="square" lIns="0" tIns="0" rIns="0" bIns="0" rtlCol="0" anchor="ctr"/>
          <a:lstStyle/>
          <a:p>
            <a:pPr marL="0" indent="0" algn="ctr">
              <a:buNone/>
            </a:pPr>
            <a:r>
              <a:rPr lang="en-US" sz="1000" b="1" dirty="0">
                <a:solidFill>
                  <a:srgbClr val="4A5568"/>
                </a:solidFill>
                <a:latin typeface="Calibri" pitchFamily="34" charset="0"/>
                <a:ea typeface="Calibri" pitchFamily="34" charset="-122"/>
                <a:cs typeface="Calibri" pitchFamily="34" charset="-120"/>
              </a:rPr>
              <a:t>§03</a:t>
            </a:r>
            <a:endParaRPr lang="en-US" sz="1000" dirty="0"/>
          </a:p>
        </p:txBody>
      </p:sp>
      <p:sp>
        <p:nvSpPr>
          <p:cNvPr id="10" name="Text 7"/>
          <p:cNvSpPr txBox="1"/>
          <p:nvPr/>
        </p:nvSpPr>
        <p:spPr>
          <a:xfrm>
            <a:off x="630936" y="2761488"/>
            <a:ext cx="1820205" cy="658368"/>
          </a:xfrm>
          <a:prstGeom prst="rect">
            <a:avLst/>
          </a:prstGeom>
          <a:noFill/>
          <a:ln/>
        </p:spPr>
        <p:txBody>
          <a:bodyPr wrap="square" lIns="0" tIns="0" rIns="0" bIns="0" rtlCol="0" anchor="ctr"/>
          <a:lstStyle/>
          <a:p>
            <a:pPr marL="0" indent="0" algn="ctr">
              <a:buNone/>
            </a:pPr>
            <a:r>
              <a:rPr lang="en-US" sz="1400" b="1" dirty="0">
                <a:solidFill>
                  <a:srgbClr val="1B1537"/>
                </a:solidFill>
                <a:latin typeface="Arvo" pitchFamily="34" charset="0"/>
                <a:ea typeface="Arvo" pitchFamily="34" charset="-122"/>
                <a:cs typeface="Arvo" pitchFamily="34" charset="-120"/>
              </a:rPr>
              <a:t>Admission control</a:t>
            </a:r>
            <a:endParaRPr lang="en-US" sz="1400" dirty="0"/>
          </a:p>
        </p:txBody>
      </p:sp>
      <p:sp>
        <p:nvSpPr>
          <p:cNvPr id="11" name="Text 8"/>
          <p:cNvSpPr txBox="1"/>
          <p:nvPr/>
        </p:nvSpPr>
        <p:spPr>
          <a:xfrm>
            <a:off x="649224" y="3401568"/>
            <a:ext cx="1783629" cy="1755648"/>
          </a:xfrm>
          <a:prstGeom prst="rect">
            <a:avLst/>
          </a:prstGeom>
          <a:noFill/>
          <a:ln/>
        </p:spPr>
        <p:txBody>
          <a:bodyPr wrap="square" lIns="0" tIns="0" rIns="0" bIns="0" rtlCol="0" anchor="ctr"/>
          <a:lstStyle/>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The dangerous pod is never created.</a:t>
            </a:r>
            <a:endParaRPr lang="en-US" sz="1050" dirty="0"/>
          </a:p>
          <a:p>
            <a:pPr marL="0" indent="0" algn="ctr">
              <a:lnSpc>
                <a:spcPct val="115000"/>
              </a:lnSpc>
              <a:buNone/>
            </a:pPr>
            <a:endParaRPr lang="en-US" sz="1050" dirty="0"/>
          </a:p>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Privileged containers, hostPath mounts and host namespaces are refused before they ever reach etcd.</a:t>
            </a:r>
            <a:endParaRPr lang="en-US" sz="1050" dirty="0"/>
          </a:p>
        </p:txBody>
      </p:sp>
      <p:sp>
        <p:nvSpPr>
          <p:cNvPr id="12" name="Text 9"/>
          <p:cNvSpPr txBox="1"/>
          <p:nvPr/>
        </p:nvSpPr>
        <p:spPr>
          <a:xfrm>
            <a:off x="2579157" y="3383280"/>
            <a:ext cx="201168"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layer-1"/>
          <p:cNvSpPr/>
          <p:nvPr/>
        </p:nvSpPr>
        <p:spPr>
          <a:xfrm>
            <a:off x="2780325" y="1920240"/>
            <a:ext cx="2076237" cy="3401568"/>
          </a:xfrm>
          <a:prstGeom prst="roundRect">
            <a:avLst>
              <a:gd name="adj" fmla="val 4404"/>
            </a:avLst>
          </a:prstGeom>
          <a:solidFill>
            <a:srgbClr val="FFFFFF"/>
          </a:solidFill>
          <a:ln w="12700">
            <a:solidFill>
              <a:srgbClr val="CFE3E2"/>
            </a:solidFill>
            <a:prstDash val="solid"/>
          </a:ln>
        </p:spPr>
        <p:txBody>
          <a:bodyPr/>
          <a:lstStyle/>
          <a:p>
            <a:endParaRPr lang="en-US"/>
          </a:p>
        </p:txBody>
      </p:sp>
      <p:sp>
        <p:nvSpPr>
          <p:cNvPr id="14" name="lh-1"/>
          <p:cNvSpPr/>
          <p:nvPr/>
        </p:nvSpPr>
        <p:spPr>
          <a:xfrm>
            <a:off x="2780325" y="1920240"/>
            <a:ext cx="2076237" cy="475488"/>
          </a:xfrm>
          <a:prstGeom prst="roundRect">
            <a:avLst>
              <a:gd name="adj" fmla="val 19231"/>
            </a:avLst>
          </a:prstGeom>
          <a:solidFill>
            <a:srgbClr val="4C3FA3"/>
          </a:solidFill>
          <a:ln w="12700">
            <a:solidFill>
              <a:srgbClr val="4C3FA3"/>
            </a:solidFill>
            <a:prstDash val="solid"/>
          </a:ln>
        </p:spPr>
        <p:txBody>
          <a:bodyPr/>
          <a:lstStyle/>
          <a:p>
            <a:endParaRPr lang="en-US"/>
          </a:p>
        </p:txBody>
      </p:sp>
      <p:sp>
        <p:nvSpPr>
          <p:cNvPr id="15" name="Text 12"/>
          <p:cNvSpPr txBox="1"/>
          <p:nvPr/>
        </p:nvSpPr>
        <p:spPr>
          <a:xfrm>
            <a:off x="2780325" y="1920240"/>
            <a:ext cx="2076237" cy="47548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LIMIT</a:t>
            </a:r>
            <a:endParaRPr lang="en-US" sz="1200" dirty="0"/>
          </a:p>
        </p:txBody>
      </p:sp>
      <p:sp>
        <p:nvSpPr>
          <p:cNvPr id="16" name="Text 13"/>
          <p:cNvSpPr txBox="1"/>
          <p:nvPr/>
        </p:nvSpPr>
        <p:spPr>
          <a:xfrm>
            <a:off x="2908341" y="2487168"/>
            <a:ext cx="1820205" cy="237744"/>
          </a:xfrm>
          <a:prstGeom prst="rect">
            <a:avLst/>
          </a:prstGeom>
          <a:noFill/>
          <a:ln/>
        </p:spPr>
        <p:txBody>
          <a:bodyPr wrap="square" lIns="0" tIns="0" rIns="0" bIns="0" rtlCol="0" anchor="ctr"/>
          <a:lstStyle/>
          <a:p>
            <a:pPr marL="0" indent="0" algn="ctr">
              <a:buNone/>
            </a:pPr>
            <a:r>
              <a:rPr lang="en-US" sz="1000" b="1" dirty="0">
                <a:solidFill>
                  <a:srgbClr val="4A5568"/>
                </a:solidFill>
                <a:latin typeface="Calibri" pitchFamily="34" charset="0"/>
                <a:ea typeface="Calibri" pitchFamily="34" charset="-122"/>
                <a:cs typeface="Calibri" pitchFamily="34" charset="-120"/>
              </a:rPr>
              <a:t>§04</a:t>
            </a:r>
            <a:endParaRPr lang="en-US" sz="1000" dirty="0"/>
          </a:p>
        </p:txBody>
      </p:sp>
      <p:sp>
        <p:nvSpPr>
          <p:cNvPr id="17" name="Text 14"/>
          <p:cNvSpPr txBox="1"/>
          <p:nvPr/>
        </p:nvSpPr>
        <p:spPr>
          <a:xfrm>
            <a:off x="2908341" y="2761488"/>
            <a:ext cx="1820205" cy="658368"/>
          </a:xfrm>
          <a:prstGeom prst="rect">
            <a:avLst/>
          </a:prstGeom>
          <a:noFill/>
          <a:ln/>
        </p:spPr>
        <p:txBody>
          <a:bodyPr wrap="square" lIns="0" tIns="0" rIns="0" bIns="0" rtlCol="0" anchor="ctr"/>
          <a:lstStyle/>
          <a:p>
            <a:pPr marL="0" indent="0" algn="ctr">
              <a:buNone/>
            </a:pPr>
            <a:r>
              <a:rPr lang="en-US" sz="1400" b="1" dirty="0">
                <a:solidFill>
                  <a:srgbClr val="1B1537"/>
                </a:solidFill>
                <a:latin typeface="Arvo" pitchFamily="34" charset="0"/>
                <a:ea typeface="Arvo" pitchFamily="34" charset="-122"/>
                <a:cs typeface="Arvo" pitchFamily="34" charset="-120"/>
              </a:rPr>
              <a:t>RBAC</a:t>
            </a:r>
            <a:endParaRPr lang="en-US" sz="1400" dirty="0"/>
          </a:p>
        </p:txBody>
      </p:sp>
      <p:sp>
        <p:nvSpPr>
          <p:cNvPr id="18" name="Text 15"/>
          <p:cNvSpPr txBox="1"/>
          <p:nvPr/>
        </p:nvSpPr>
        <p:spPr>
          <a:xfrm>
            <a:off x="2926629" y="3401568"/>
            <a:ext cx="1783629" cy="1755648"/>
          </a:xfrm>
          <a:prstGeom prst="rect">
            <a:avLst/>
          </a:prstGeom>
          <a:noFill/>
          <a:ln/>
        </p:spPr>
        <p:txBody>
          <a:bodyPr wrap="square" lIns="0" tIns="0" rIns="0" bIns="0" rtlCol="0" anchor="ctr"/>
          <a:lstStyle/>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Fewer identities can even ask.</a:t>
            </a:r>
            <a:endParaRPr lang="en-US" sz="1050" dirty="0"/>
          </a:p>
          <a:p>
            <a:pPr marL="0" indent="0" algn="ctr">
              <a:lnSpc>
                <a:spcPct val="115000"/>
              </a:lnSpc>
              <a:buNone/>
            </a:pPr>
            <a:endParaRPr lang="en-US" sz="1050" dirty="0"/>
          </a:p>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Namespace-scoped Roles, no wildcard verbs, and no access to secrets by default.</a:t>
            </a:r>
            <a:endParaRPr lang="en-US" sz="1050" dirty="0"/>
          </a:p>
        </p:txBody>
      </p:sp>
      <p:sp>
        <p:nvSpPr>
          <p:cNvPr id="19" name="Text 16"/>
          <p:cNvSpPr txBox="1"/>
          <p:nvPr/>
        </p:nvSpPr>
        <p:spPr>
          <a:xfrm>
            <a:off x="4856561" y="3383280"/>
            <a:ext cx="201168"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0" name="layer-2"/>
          <p:cNvSpPr/>
          <p:nvPr/>
        </p:nvSpPr>
        <p:spPr>
          <a:xfrm>
            <a:off x="5057729" y="1920240"/>
            <a:ext cx="2076237" cy="3401568"/>
          </a:xfrm>
          <a:prstGeom prst="roundRect">
            <a:avLst>
              <a:gd name="adj" fmla="val 4404"/>
            </a:avLst>
          </a:prstGeom>
          <a:solidFill>
            <a:srgbClr val="FFFFFF"/>
          </a:solidFill>
          <a:ln w="12700">
            <a:solidFill>
              <a:srgbClr val="CFE3E2"/>
            </a:solidFill>
            <a:prstDash val="solid"/>
          </a:ln>
        </p:spPr>
        <p:txBody>
          <a:bodyPr/>
          <a:lstStyle/>
          <a:p>
            <a:endParaRPr lang="en-US"/>
          </a:p>
        </p:txBody>
      </p:sp>
      <p:sp>
        <p:nvSpPr>
          <p:cNvPr id="21" name="lh-2"/>
          <p:cNvSpPr/>
          <p:nvPr/>
        </p:nvSpPr>
        <p:spPr>
          <a:xfrm>
            <a:off x="5057729" y="1920240"/>
            <a:ext cx="2076237" cy="475488"/>
          </a:xfrm>
          <a:prstGeom prst="roundRect">
            <a:avLst>
              <a:gd name="adj" fmla="val 19231"/>
            </a:avLst>
          </a:prstGeom>
          <a:solidFill>
            <a:srgbClr val="0067C0"/>
          </a:solidFill>
          <a:ln w="12700">
            <a:solidFill>
              <a:srgbClr val="0067C0"/>
            </a:solidFill>
            <a:prstDash val="solid"/>
          </a:ln>
        </p:spPr>
        <p:txBody>
          <a:bodyPr/>
          <a:lstStyle/>
          <a:p>
            <a:endParaRPr lang="en-US"/>
          </a:p>
        </p:txBody>
      </p:sp>
      <p:sp>
        <p:nvSpPr>
          <p:cNvPr id="22" name="Text 19"/>
          <p:cNvSpPr txBox="1"/>
          <p:nvPr/>
        </p:nvSpPr>
        <p:spPr>
          <a:xfrm>
            <a:off x="5057729" y="1920240"/>
            <a:ext cx="2076237" cy="47548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CONTAIN</a:t>
            </a:r>
            <a:endParaRPr lang="en-US" sz="1200" dirty="0"/>
          </a:p>
        </p:txBody>
      </p:sp>
      <p:sp>
        <p:nvSpPr>
          <p:cNvPr id="23" name="Text 20"/>
          <p:cNvSpPr txBox="1"/>
          <p:nvPr/>
        </p:nvSpPr>
        <p:spPr>
          <a:xfrm>
            <a:off x="5185745" y="2487168"/>
            <a:ext cx="1820205" cy="237744"/>
          </a:xfrm>
          <a:prstGeom prst="rect">
            <a:avLst/>
          </a:prstGeom>
          <a:noFill/>
          <a:ln/>
        </p:spPr>
        <p:txBody>
          <a:bodyPr wrap="square" lIns="0" tIns="0" rIns="0" bIns="0" rtlCol="0" anchor="ctr"/>
          <a:lstStyle/>
          <a:p>
            <a:pPr marL="0" indent="0" algn="ctr">
              <a:buNone/>
            </a:pPr>
            <a:r>
              <a:rPr lang="en-US" sz="1000" b="1" dirty="0">
                <a:solidFill>
                  <a:srgbClr val="4A5568"/>
                </a:solidFill>
                <a:latin typeface="Calibri" pitchFamily="34" charset="0"/>
                <a:ea typeface="Calibri" pitchFamily="34" charset="-122"/>
                <a:cs typeface="Calibri" pitchFamily="34" charset="-120"/>
              </a:rPr>
              <a:t>§05</a:t>
            </a:r>
            <a:endParaRPr lang="en-US" sz="1000" dirty="0"/>
          </a:p>
        </p:txBody>
      </p:sp>
      <p:sp>
        <p:nvSpPr>
          <p:cNvPr id="24" name="Text 21"/>
          <p:cNvSpPr txBox="1"/>
          <p:nvPr/>
        </p:nvSpPr>
        <p:spPr>
          <a:xfrm>
            <a:off x="5185745" y="2761488"/>
            <a:ext cx="1820205" cy="658368"/>
          </a:xfrm>
          <a:prstGeom prst="rect">
            <a:avLst/>
          </a:prstGeom>
          <a:noFill/>
          <a:ln/>
        </p:spPr>
        <p:txBody>
          <a:bodyPr wrap="square" lIns="0" tIns="0" rIns="0" bIns="0" rtlCol="0" anchor="ctr"/>
          <a:lstStyle/>
          <a:p>
            <a:pPr marL="0" indent="0" algn="ctr">
              <a:buNone/>
            </a:pPr>
            <a:r>
              <a:rPr lang="en-US" sz="1400" b="1" dirty="0">
                <a:solidFill>
                  <a:srgbClr val="1B1537"/>
                </a:solidFill>
                <a:latin typeface="Arvo" pitchFamily="34" charset="0"/>
                <a:ea typeface="Arvo" pitchFamily="34" charset="-122"/>
                <a:cs typeface="Arvo" pitchFamily="34" charset="-120"/>
              </a:rPr>
              <a:t>Network policy</a:t>
            </a:r>
            <a:endParaRPr lang="en-US" sz="1400" dirty="0"/>
          </a:p>
        </p:txBody>
      </p:sp>
      <p:sp>
        <p:nvSpPr>
          <p:cNvPr id="25" name="Text 22"/>
          <p:cNvSpPr txBox="1"/>
          <p:nvPr/>
        </p:nvSpPr>
        <p:spPr>
          <a:xfrm>
            <a:off x="5204033" y="3401568"/>
            <a:ext cx="1783629" cy="1755648"/>
          </a:xfrm>
          <a:prstGeom prst="rect">
            <a:avLst/>
          </a:prstGeom>
          <a:noFill/>
          <a:ln/>
        </p:spPr>
        <p:txBody>
          <a:bodyPr wrap="square" lIns="0" tIns="0" rIns="0" bIns="0" rtlCol="0" anchor="ctr"/>
          <a:lstStyle/>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A hostile pod reaches nothing.</a:t>
            </a:r>
            <a:endParaRPr lang="en-US" sz="1050" dirty="0"/>
          </a:p>
          <a:p>
            <a:pPr marL="0" indent="0" algn="ctr">
              <a:lnSpc>
                <a:spcPct val="115000"/>
              </a:lnSpc>
              <a:buNone/>
            </a:pPr>
            <a:endParaRPr lang="en-US" sz="1050" dirty="0"/>
          </a:p>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Default-deny in every namespace, then allow back only the callers you can name.</a:t>
            </a:r>
            <a:endParaRPr lang="en-US" sz="1050" dirty="0"/>
          </a:p>
        </p:txBody>
      </p:sp>
      <p:sp>
        <p:nvSpPr>
          <p:cNvPr id="26" name="Text 23"/>
          <p:cNvSpPr txBox="1"/>
          <p:nvPr/>
        </p:nvSpPr>
        <p:spPr>
          <a:xfrm>
            <a:off x="7133966" y="3383280"/>
            <a:ext cx="201168"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7" name="layer-3"/>
          <p:cNvSpPr/>
          <p:nvPr/>
        </p:nvSpPr>
        <p:spPr>
          <a:xfrm>
            <a:off x="7335134" y="1920240"/>
            <a:ext cx="2076237" cy="3401568"/>
          </a:xfrm>
          <a:prstGeom prst="roundRect">
            <a:avLst>
              <a:gd name="adj" fmla="val 4404"/>
            </a:avLst>
          </a:prstGeom>
          <a:solidFill>
            <a:srgbClr val="FFFFFF"/>
          </a:solidFill>
          <a:ln w="12700">
            <a:solidFill>
              <a:srgbClr val="CFE3E2"/>
            </a:solidFill>
            <a:prstDash val="solid"/>
          </a:ln>
        </p:spPr>
        <p:txBody>
          <a:bodyPr/>
          <a:lstStyle/>
          <a:p>
            <a:endParaRPr lang="en-US"/>
          </a:p>
        </p:txBody>
      </p:sp>
      <p:sp>
        <p:nvSpPr>
          <p:cNvPr id="28" name="lh-3"/>
          <p:cNvSpPr/>
          <p:nvPr/>
        </p:nvSpPr>
        <p:spPr>
          <a:xfrm>
            <a:off x="7335134" y="1920240"/>
            <a:ext cx="2076237" cy="475488"/>
          </a:xfrm>
          <a:prstGeom prst="roundRect">
            <a:avLst>
              <a:gd name="adj" fmla="val 19231"/>
            </a:avLst>
          </a:prstGeom>
          <a:solidFill>
            <a:srgbClr val="9A5B0C"/>
          </a:solidFill>
          <a:ln w="12700">
            <a:solidFill>
              <a:srgbClr val="9A5B0C"/>
            </a:solidFill>
            <a:prstDash val="solid"/>
          </a:ln>
        </p:spPr>
        <p:txBody>
          <a:bodyPr/>
          <a:lstStyle/>
          <a:p>
            <a:endParaRPr lang="en-US"/>
          </a:p>
        </p:txBody>
      </p:sp>
      <p:sp>
        <p:nvSpPr>
          <p:cNvPr id="29" name="Text 26"/>
          <p:cNvSpPr txBox="1"/>
          <p:nvPr/>
        </p:nvSpPr>
        <p:spPr>
          <a:xfrm>
            <a:off x="7335134" y="1920240"/>
            <a:ext cx="2076237" cy="47548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PROTECT</a:t>
            </a:r>
            <a:endParaRPr lang="en-US" sz="1200" dirty="0"/>
          </a:p>
        </p:txBody>
      </p:sp>
      <p:sp>
        <p:nvSpPr>
          <p:cNvPr id="30" name="Text 27"/>
          <p:cNvSpPr txBox="1"/>
          <p:nvPr/>
        </p:nvSpPr>
        <p:spPr>
          <a:xfrm>
            <a:off x="7463150" y="2487168"/>
            <a:ext cx="1820205" cy="237744"/>
          </a:xfrm>
          <a:prstGeom prst="rect">
            <a:avLst/>
          </a:prstGeom>
          <a:noFill/>
          <a:ln/>
        </p:spPr>
        <p:txBody>
          <a:bodyPr wrap="square" lIns="0" tIns="0" rIns="0" bIns="0" rtlCol="0" anchor="ctr"/>
          <a:lstStyle/>
          <a:p>
            <a:pPr marL="0" indent="0" algn="ctr">
              <a:buNone/>
            </a:pPr>
            <a:r>
              <a:rPr lang="en-US" sz="1000" b="1" dirty="0">
                <a:solidFill>
                  <a:srgbClr val="4A5568"/>
                </a:solidFill>
                <a:latin typeface="Calibri" pitchFamily="34" charset="0"/>
                <a:ea typeface="Calibri" pitchFamily="34" charset="-122"/>
                <a:cs typeface="Calibri" pitchFamily="34" charset="-120"/>
              </a:rPr>
              <a:t>§06</a:t>
            </a:r>
            <a:endParaRPr lang="en-US" sz="1000" dirty="0"/>
          </a:p>
        </p:txBody>
      </p:sp>
      <p:sp>
        <p:nvSpPr>
          <p:cNvPr id="31" name="Text 28"/>
          <p:cNvSpPr txBox="1"/>
          <p:nvPr/>
        </p:nvSpPr>
        <p:spPr>
          <a:xfrm>
            <a:off x="7463150" y="2761488"/>
            <a:ext cx="1820205" cy="658368"/>
          </a:xfrm>
          <a:prstGeom prst="rect">
            <a:avLst/>
          </a:prstGeom>
          <a:noFill/>
          <a:ln/>
        </p:spPr>
        <p:txBody>
          <a:bodyPr wrap="square" lIns="0" tIns="0" rIns="0" bIns="0" rtlCol="0" anchor="ctr"/>
          <a:lstStyle/>
          <a:p>
            <a:pPr marL="0" indent="0" algn="ctr">
              <a:buNone/>
            </a:pPr>
            <a:r>
              <a:rPr lang="en-US" sz="1400" b="1" dirty="0">
                <a:solidFill>
                  <a:srgbClr val="1B1537"/>
                </a:solidFill>
                <a:latin typeface="Arvo" pitchFamily="34" charset="0"/>
                <a:ea typeface="Arvo" pitchFamily="34" charset="-122"/>
                <a:cs typeface="Arvo" pitchFamily="34" charset="-120"/>
              </a:rPr>
              <a:t>Secrets</a:t>
            </a:r>
            <a:endParaRPr lang="en-US" sz="1400" dirty="0"/>
          </a:p>
        </p:txBody>
      </p:sp>
      <p:sp>
        <p:nvSpPr>
          <p:cNvPr id="32" name="Text 29"/>
          <p:cNvSpPr txBox="1"/>
          <p:nvPr/>
        </p:nvSpPr>
        <p:spPr>
          <a:xfrm>
            <a:off x="7481438" y="3401568"/>
            <a:ext cx="1783629" cy="1755648"/>
          </a:xfrm>
          <a:prstGeom prst="rect">
            <a:avLst/>
          </a:prstGeom>
          <a:noFill/>
          <a:ln/>
        </p:spPr>
        <p:txBody>
          <a:bodyPr wrap="square" lIns="0" tIns="0" rIns="0" bIns="0" rtlCol="0" anchor="ctr"/>
          <a:lstStyle/>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Less is worth stealing.</a:t>
            </a:r>
            <a:endParaRPr lang="en-US" sz="1050" dirty="0"/>
          </a:p>
          <a:p>
            <a:pPr marL="0" indent="0" algn="ctr">
              <a:lnSpc>
                <a:spcPct val="115000"/>
              </a:lnSpc>
              <a:buNone/>
            </a:pPr>
            <a:endParaRPr lang="en-US" sz="1050" dirty="0"/>
          </a:p>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Encryption at rest, short-lived tokens, and no mounted token for workloads that never call the API.</a:t>
            </a:r>
            <a:endParaRPr lang="en-US" sz="1050" dirty="0"/>
          </a:p>
        </p:txBody>
      </p:sp>
      <p:sp>
        <p:nvSpPr>
          <p:cNvPr id="33" name="Text 30"/>
          <p:cNvSpPr txBox="1"/>
          <p:nvPr/>
        </p:nvSpPr>
        <p:spPr>
          <a:xfrm>
            <a:off x="9411371" y="3383280"/>
            <a:ext cx="201168"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4" name="layer-4"/>
          <p:cNvSpPr/>
          <p:nvPr/>
        </p:nvSpPr>
        <p:spPr>
          <a:xfrm>
            <a:off x="9612539" y="1920240"/>
            <a:ext cx="2076237" cy="3401568"/>
          </a:xfrm>
          <a:prstGeom prst="roundRect">
            <a:avLst>
              <a:gd name="adj" fmla="val 4404"/>
            </a:avLst>
          </a:prstGeom>
          <a:solidFill>
            <a:srgbClr val="FFFFFF"/>
          </a:solidFill>
          <a:ln w="12700">
            <a:solidFill>
              <a:srgbClr val="CFE3E2"/>
            </a:solidFill>
            <a:prstDash val="solid"/>
          </a:ln>
        </p:spPr>
        <p:txBody>
          <a:bodyPr/>
          <a:lstStyle/>
          <a:p>
            <a:endParaRPr lang="en-US"/>
          </a:p>
        </p:txBody>
      </p:sp>
      <p:sp>
        <p:nvSpPr>
          <p:cNvPr id="35" name="lh-4"/>
          <p:cNvSpPr/>
          <p:nvPr/>
        </p:nvSpPr>
        <p:spPr>
          <a:xfrm>
            <a:off x="9612539" y="1920240"/>
            <a:ext cx="2076237" cy="475488"/>
          </a:xfrm>
          <a:prstGeom prst="roundRect">
            <a:avLst>
              <a:gd name="adj" fmla="val 19231"/>
            </a:avLst>
          </a:prstGeom>
          <a:solidFill>
            <a:srgbClr val="0F7B45"/>
          </a:solidFill>
          <a:ln w="12700">
            <a:solidFill>
              <a:srgbClr val="0F7B45"/>
            </a:solidFill>
            <a:prstDash val="solid"/>
          </a:ln>
        </p:spPr>
        <p:txBody>
          <a:bodyPr/>
          <a:lstStyle/>
          <a:p>
            <a:endParaRPr lang="en-US"/>
          </a:p>
        </p:txBody>
      </p:sp>
      <p:sp>
        <p:nvSpPr>
          <p:cNvPr id="36" name="Text 33"/>
          <p:cNvSpPr txBox="1"/>
          <p:nvPr/>
        </p:nvSpPr>
        <p:spPr>
          <a:xfrm>
            <a:off x="9612539" y="1920240"/>
            <a:ext cx="2076237" cy="47548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DETECT</a:t>
            </a:r>
            <a:endParaRPr lang="en-US" sz="1200" dirty="0"/>
          </a:p>
        </p:txBody>
      </p:sp>
      <p:sp>
        <p:nvSpPr>
          <p:cNvPr id="37" name="Text 34"/>
          <p:cNvSpPr txBox="1"/>
          <p:nvPr/>
        </p:nvSpPr>
        <p:spPr>
          <a:xfrm>
            <a:off x="9740555" y="2487168"/>
            <a:ext cx="1820205" cy="237744"/>
          </a:xfrm>
          <a:prstGeom prst="rect">
            <a:avLst/>
          </a:prstGeom>
          <a:noFill/>
          <a:ln/>
        </p:spPr>
        <p:txBody>
          <a:bodyPr wrap="square" lIns="0" tIns="0" rIns="0" bIns="0" rtlCol="0" anchor="ctr"/>
          <a:lstStyle/>
          <a:p>
            <a:pPr marL="0" indent="0" algn="ctr">
              <a:buNone/>
            </a:pPr>
            <a:r>
              <a:rPr lang="en-US" sz="1000" b="1" dirty="0">
                <a:solidFill>
                  <a:srgbClr val="4A5568"/>
                </a:solidFill>
                <a:latin typeface="Calibri" pitchFamily="34" charset="0"/>
                <a:ea typeface="Calibri" pitchFamily="34" charset="-122"/>
                <a:cs typeface="Calibri" pitchFamily="34" charset="-120"/>
              </a:rPr>
              <a:t>§07</a:t>
            </a:r>
            <a:endParaRPr lang="en-US" sz="1000" dirty="0"/>
          </a:p>
        </p:txBody>
      </p:sp>
      <p:sp>
        <p:nvSpPr>
          <p:cNvPr id="38" name="Text 35"/>
          <p:cNvSpPr txBox="1"/>
          <p:nvPr/>
        </p:nvSpPr>
        <p:spPr>
          <a:xfrm>
            <a:off x="9740555" y="2761488"/>
            <a:ext cx="1820205" cy="658368"/>
          </a:xfrm>
          <a:prstGeom prst="rect">
            <a:avLst/>
          </a:prstGeom>
          <a:noFill/>
          <a:ln/>
        </p:spPr>
        <p:txBody>
          <a:bodyPr wrap="square" lIns="0" tIns="0" rIns="0" bIns="0" rtlCol="0" anchor="ctr"/>
          <a:lstStyle/>
          <a:p>
            <a:pPr marL="0" indent="0" algn="ctr">
              <a:buNone/>
            </a:pPr>
            <a:r>
              <a:rPr lang="en-US" sz="1400" b="1" dirty="0">
                <a:solidFill>
                  <a:srgbClr val="1B1537"/>
                </a:solidFill>
                <a:latin typeface="Arvo" pitchFamily="34" charset="0"/>
                <a:ea typeface="Arvo" pitchFamily="34" charset="-122"/>
                <a:cs typeface="Arvo" pitchFamily="34" charset="-120"/>
              </a:rPr>
              <a:t>Audit logging</a:t>
            </a:r>
            <a:endParaRPr lang="en-US" sz="1400" dirty="0"/>
          </a:p>
        </p:txBody>
      </p:sp>
      <p:sp>
        <p:nvSpPr>
          <p:cNvPr id="39" name="Text 36"/>
          <p:cNvSpPr txBox="1"/>
          <p:nvPr/>
        </p:nvSpPr>
        <p:spPr>
          <a:xfrm>
            <a:off x="9758843" y="3401568"/>
            <a:ext cx="1783629" cy="1755648"/>
          </a:xfrm>
          <a:prstGeom prst="rect">
            <a:avLst/>
          </a:prstGeom>
          <a:noFill/>
          <a:ln/>
        </p:spPr>
        <p:txBody>
          <a:bodyPr wrap="square" lIns="0" tIns="0" rIns="0" bIns="0" rtlCol="0" anchor="ctr"/>
          <a:lstStyle/>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You can prove what happened.</a:t>
            </a:r>
            <a:endParaRPr lang="en-US" sz="1050" dirty="0"/>
          </a:p>
          <a:p>
            <a:pPr marL="0" indent="0" algn="ctr">
              <a:lnSpc>
                <a:spcPct val="115000"/>
              </a:lnSpc>
              <a:buNone/>
            </a:pPr>
            <a:endParaRPr lang="en-US" sz="1050" dirty="0"/>
          </a:p>
          <a:p>
            <a:pPr marL="0" indent="0" algn="ctr">
              <a:lnSpc>
                <a:spcPct val="115000"/>
              </a:lnSpc>
              <a:buNone/>
            </a:pPr>
            <a:r>
              <a:rPr lang="en-US" sz="1050" dirty="0">
                <a:solidFill>
                  <a:srgbClr val="1F2937"/>
                </a:solidFill>
                <a:latin typeface="Calibri" pitchFamily="34" charset="0"/>
                <a:ea typeface="Calibri" pitchFamily="34" charset="-122"/>
                <a:cs typeface="Calibri" pitchFamily="34" charset="-120"/>
              </a:rPr>
              <a:t>Every API call attributed and timestamped, shipped off the node, retained for a year.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02</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Setup · one cluster, two tenants</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minikube with Calico networking and audit logging switched 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SETUP · BEFORE YOU START</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What you need</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Four tools, plus one setting that blocks more students than everything else combined. After this slide every command is identical on Mac and Windows.</a:t>
            </a:r>
            <a:endParaRPr lang="en-US" sz="1300" dirty="0"/>
          </a:p>
        </p:txBody>
      </p:sp>
      <p:sp>
        <p:nvSpPr>
          <p:cNvPr id="6" name="grid-card-0"/>
          <p:cNvSpPr/>
          <p:nvPr/>
        </p:nvSpPr>
        <p:spPr>
          <a:xfrm>
            <a:off x="502920"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0B4F5C"/>
          </a:solidFill>
          <a:ln w="12700">
            <a:solidFill>
              <a:srgbClr val="0B4F5C"/>
            </a:solidFill>
            <a:prstDash val="solid"/>
          </a:ln>
        </p:spPr>
        <p:txBody>
          <a:bodyPr/>
          <a:lstStyle/>
          <a:p>
            <a:endParaRPr lang="en-US"/>
          </a:p>
        </p:txBody>
      </p:sp>
      <p:sp>
        <p:nvSpPr>
          <p:cNvPr id="8" name="gh-0"/>
          <p:cNvSpPr txBox="1"/>
          <p:nvPr/>
        </p:nvSpPr>
        <p:spPr>
          <a:xfrm>
            <a:off x="932688" y="181051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minikube</a:t>
            </a:r>
            <a:endParaRPr lang="en-US" sz="1300" dirty="0"/>
          </a:p>
        </p:txBody>
      </p:sp>
      <p:sp>
        <p:nvSpPr>
          <p:cNvPr id="9" name="gb-0"/>
          <p:cNvSpPr txBox="1"/>
          <p:nvPr/>
        </p:nvSpPr>
        <p:spPr>
          <a:xfrm>
            <a:off x="685800"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Mac:  brew install minikube</a:t>
            </a: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Windows:  winget install Kubernetes.minikube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Runs the cluster. We use a named profile so your existing clusters are untouched.</a:t>
            </a:r>
            <a:endParaRPr lang="en-US" sz="1100" dirty="0"/>
          </a:p>
        </p:txBody>
      </p:sp>
      <p:sp>
        <p:nvSpPr>
          <p:cNvPr id="10" name="grid-card-1"/>
          <p:cNvSpPr/>
          <p:nvPr/>
        </p:nvSpPr>
        <p:spPr>
          <a:xfrm>
            <a:off x="4298594"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83664"/>
            <a:ext cx="155448" cy="155448"/>
          </a:xfrm>
          <a:prstGeom prst="ellipse">
            <a:avLst/>
          </a:prstGeom>
          <a:solidFill>
            <a:srgbClr val="0B4F5C"/>
          </a:solidFill>
          <a:ln w="12700">
            <a:solidFill>
              <a:srgbClr val="0B4F5C"/>
            </a:solidFill>
            <a:prstDash val="solid"/>
          </a:ln>
        </p:spPr>
        <p:txBody>
          <a:bodyPr/>
          <a:lstStyle/>
          <a:p>
            <a:endParaRPr lang="en-US"/>
          </a:p>
        </p:txBody>
      </p:sp>
      <p:sp>
        <p:nvSpPr>
          <p:cNvPr id="12" name="gh-1"/>
          <p:cNvSpPr txBox="1"/>
          <p:nvPr/>
        </p:nvSpPr>
        <p:spPr>
          <a:xfrm>
            <a:off x="4728362" y="181051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kubectl + helm</a:t>
            </a:r>
            <a:endParaRPr lang="en-US" sz="1300" dirty="0"/>
          </a:p>
        </p:txBody>
      </p:sp>
      <p:sp>
        <p:nvSpPr>
          <p:cNvPr id="13" name="gb-1"/>
          <p:cNvSpPr txBox="1"/>
          <p:nvPr/>
        </p:nvSpPr>
        <p:spPr>
          <a:xfrm>
            <a:off x="4481474"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Mac:  brew install kubectl helm</a:t>
            </a: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Windows:  winget install Kubernetes.kubectl Helm.Helm</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kubectl talks to the cluster. helm installs cert-manager and Kubewarden.</a:t>
            </a:r>
            <a:endParaRPr lang="en-US" sz="1100" dirty="0"/>
          </a:p>
        </p:txBody>
      </p:sp>
      <p:sp>
        <p:nvSpPr>
          <p:cNvPr id="14" name="grid-card-2"/>
          <p:cNvSpPr/>
          <p:nvPr/>
        </p:nvSpPr>
        <p:spPr>
          <a:xfrm>
            <a:off x="8094269"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83664"/>
            <a:ext cx="155448" cy="155448"/>
          </a:xfrm>
          <a:prstGeom prst="ellipse">
            <a:avLst/>
          </a:prstGeom>
          <a:solidFill>
            <a:srgbClr val="0B4F5C"/>
          </a:solidFill>
          <a:ln w="12700">
            <a:solidFill>
              <a:srgbClr val="0B4F5C"/>
            </a:solidFill>
            <a:prstDash val="solid"/>
          </a:ln>
        </p:spPr>
        <p:txBody>
          <a:bodyPr/>
          <a:lstStyle/>
          <a:p>
            <a:endParaRPr lang="en-US"/>
          </a:p>
        </p:txBody>
      </p:sp>
      <p:sp>
        <p:nvSpPr>
          <p:cNvPr id="16" name="gh-2"/>
          <p:cNvSpPr txBox="1"/>
          <p:nvPr/>
        </p:nvSpPr>
        <p:spPr>
          <a:xfrm>
            <a:off x="8524037" y="181051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git</a:t>
            </a:r>
            <a:endParaRPr lang="en-US" sz="1300" dirty="0"/>
          </a:p>
        </p:txBody>
      </p:sp>
      <p:sp>
        <p:nvSpPr>
          <p:cNvPr id="17" name="gb-2"/>
          <p:cNvSpPr txBox="1"/>
          <p:nvPr/>
        </p:nvSpPr>
        <p:spPr>
          <a:xfrm>
            <a:off x="8277149"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You almost certainly have it. Check with:</a:t>
            </a: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git --version</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Used once, to clone the manifests. No git knowledge needed beyond clone.</a:t>
            </a:r>
            <a:endParaRPr lang="en-US" sz="1100" dirty="0"/>
          </a:p>
        </p:txBody>
      </p:sp>
      <p:sp>
        <p:nvSpPr>
          <p:cNvPr id="18" name="grid-card-3"/>
          <p:cNvSpPr/>
          <p:nvPr/>
        </p:nvSpPr>
        <p:spPr>
          <a:xfrm>
            <a:off x="502920"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4352544"/>
            <a:ext cx="155448" cy="155448"/>
          </a:xfrm>
          <a:prstGeom prst="ellipse">
            <a:avLst/>
          </a:prstGeom>
          <a:solidFill>
            <a:srgbClr val="B3263B"/>
          </a:solidFill>
          <a:ln w="12700">
            <a:solidFill>
              <a:srgbClr val="B3263B"/>
            </a:solidFill>
            <a:prstDash val="solid"/>
          </a:ln>
        </p:spPr>
        <p:txBody>
          <a:bodyPr/>
          <a:lstStyle/>
          <a:p>
            <a:endParaRPr lang="en-US"/>
          </a:p>
        </p:txBody>
      </p:sp>
      <p:sp>
        <p:nvSpPr>
          <p:cNvPr id="20" name="gh-3"/>
          <p:cNvSpPr txBox="1"/>
          <p:nvPr/>
        </p:nvSpPr>
        <p:spPr>
          <a:xfrm>
            <a:off x="932688" y="4279392"/>
            <a:ext cx="2981858"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Docker Desktop: raise the memory</a:t>
            </a:r>
            <a:endParaRPr lang="en-US" sz="1300" dirty="0"/>
          </a:p>
        </p:txBody>
      </p:sp>
      <p:sp>
        <p:nvSpPr>
          <p:cNvPr id="21" name="gb-3"/>
          <p:cNvSpPr txBox="1"/>
          <p:nvPr/>
        </p:nvSpPr>
        <p:spPr>
          <a:xfrm>
            <a:off x="685800"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THE most common blocker. minikube runs inside Docker Desktop and cannot exceed its limit.</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Settings → Resources → Memory → 6 GB, CPUs → 4 → Apply &amp; Restart.</a:t>
            </a:r>
            <a:endParaRPr lang="en-US" sz="1100" dirty="0"/>
          </a:p>
        </p:txBody>
      </p:sp>
      <p:sp>
        <p:nvSpPr>
          <p:cNvPr id="22" name="grid-card-4"/>
          <p:cNvSpPr/>
          <p:nvPr/>
        </p:nvSpPr>
        <p:spPr>
          <a:xfrm>
            <a:off x="4298594"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4352544"/>
            <a:ext cx="155448" cy="155448"/>
          </a:xfrm>
          <a:prstGeom prst="ellipse">
            <a:avLst/>
          </a:prstGeom>
          <a:solidFill>
            <a:srgbClr val="B3263B"/>
          </a:solidFill>
          <a:ln w="12700">
            <a:solidFill>
              <a:srgbClr val="B3263B"/>
            </a:solidFill>
            <a:prstDash val="solid"/>
          </a:ln>
        </p:spPr>
        <p:txBody>
          <a:bodyPr/>
          <a:lstStyle/>
          <a:p>
            <a:endParaRPr lang="en-US"/>
          </a:p>
        </p:txBody>
      </p:sp>
      <p:sp>
        <p:nvSpPr>
          <p:cNvPr id="24" name="gh-4"/>
          <p:cNvSpPr txBox="1"/>
          <p:nvPr/>
        </p:nvSpPr>
        <p:spPr>
          <a:xfrm>
            <a:off x="4728362" y="4279392"/>
            <a:ext cx="2981858"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Windows / WSL 2 only</a:t>
            </a:r>
            <a:endParaRPr lang="en-US" sz="1300" dirty="0"/>
          </a:p>
        </p:txBody>
      </p:sp>
      <p:sp>
        <p:nvSpPr>
          <p:cNvPr id="25" name="gb-4"/>
          <p:cNvSpPr txBox="1"/>
          <p:nvPr/>
        </p:nvSpPr>
        <p:spPr>
          <a:xfrm>
            <a:off x="4481474"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WSL 2 manages memory itself. Create %UserProfile%\.wslconfig containing:</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[wsl2]</a:t>
            </a: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memory=6GB</a:t>
            </a: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processors=4</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Then: wsl --shutdown, and reopen Docker Desktop.</a:t>
            </a:r>
            <a:endParaRPr lang="en-US" sz="1100" dirty="0"/>
          </a:p>
        </p:txBody>
      </p:sp>
      <p:sp>
        <p:nvSpPr>
          <p:cNvPr id="26" name="grid-card-5"/>
          <p:cNvSpPr/>
          <p:nvPr/>
        </p:nvSpPr>
        <p:spPr>
          <a:xfrm>
            <a:off x="8094269"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4352544"/>
            <a:ext cx="155448" cy="155448"/>
          </a:xfrm>
          <a:prstGeom prst="ellipse">
            <a:avLst/>
          </a:prstGeom>
          <a:solidFill>
            <a:srgbClr val="9A5B0C"/>
          </a:solidFill>
          <a:ln w="12700">
            <a:solidFill>
              <a:srgbClr val="9A5B0C"/>
            </a:solidFill>
            <a:prstDash val="solid"/>
          </a:ln>
        </p:spPr>
        <p:txBody>
          <a:bodyPr/>
          <a:lstStyle/>
          <a:p>
            <a:endParaRPr lang="en-US"/>
          </a:p>
        </p:txBody>
      </p:sp>
      <p:sp>
        <p:nvSpPr>
          <p:cNvPr id="28" name="gh-5"/>
          <p:cNvSpPr txBox="1"/>
          <p:nvPr/>
        </p:nvSpPr>
        <p:spPr>
          <a:xfrm>
            <a:off x="8524037" y="4279392"/>
            <a:ext cx="2981858"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Do this at home</a:t>
            </a:r>
            <a:endParaRPr lang="en-US" sz="1300" dirty="0"/>
          </a:p>
        </p:txBody>
      </p:sp>
      <p:sp>
        <p:nvSpPr>
          <p:cNvPr id="29" name="gb-5"/>
          <p:cNvSpPr txBox="1"/>
          <p:nvPr/>
        </p:nvSpPr>
        <p:spPr>
          <a:xfrm>
            <a:off x="8277149"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The cluster pulls Calico, cert-manager and Kubewarden images — several hundred MB. Thirty laptops doing that on venue Wi-Fi will not finish. Run the setup section the night before.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SETUP · STEP 1</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Clone the workshop repo</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Every manifest you apply today is in here. The slides show you the contents, so you always know what you are applying.</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032510"/>
          </a:xfrm>
          <a:prstGeom prst="roundRect">
            <a:avLst>
              <a:gd name="adj" fmla="val 6199"/>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758190"/>
          </a:xfrm>
          <a:prstGeom prst="rect">
            <a:avLst/>
          </a:prstGeom>
          <a:noFill/>
          <a:ln/>
        </p:spPr>
        <p:txBody>
          <a:bodyPr wrap="square" lIns="0" tIns="0" rIns="0" bIns="0" rtlCol="0" anchor="t"/>
          <a:lstStyle/>
          <a:p>
            <a:pPr>
              <a:lnSpc>
                <a:spcPct val="112000"/>
              </a:lnSpc>
            </a:pPr>
            <a:r>
              <a:rPr lang="en-US" sz="1300" dirty="0">
                <a:solidFill>
                  <a:srgbClr val="E9EDF5"/>
                </a:solidFill>
                <a:latin typeface="Roboto Mono" pitchFamily="34" charset="0"/>
                <a:ea typeface="Roboto Mono" pitchFamily="34" charset="-122"/>
                <a:cs typeface="Roboto Mono" pitchFamily="34" charset="-120"/>
              </a:rPr>
              <a:t>git clone https://</a:t>
            </a:r>
            <a:r>
              <a:rPr lang="en-US" sz="1300" dirty="0" err="1">
                <a:solidFill>
                  <a:srgbClr val="E9EDF5"/>
                </a:solidFill>
                <a:latin typeface="Roboto Mono" pitchFamily="34" charset="0"/>
                <a:ea typeface="Roboto Mono" pitchFamily="34" charset="-122"/>
                <a:cs typeface="Roboto Mono" pitchFamily="34" charset="-120"/>
              </a:rPr>
              <a:t>github.com</a:t>
            </a:r>
            <a:r>
              <a:rPr lang="en-US" sz="1300" dirty="0">
                <a:solidFill>
                  <a:srgbClr val="E9EDF5"/>
                </a:solidFill>
                <a:latin typeface="Roboto Mono" pitchFamily="34" charset="0"/>
                <a:ea typeface="Roboto Mono" pitchFamily="34" charset="-122"/>
                <a:cs typeface="Roboto Mono" pitchFamily="34" charset="-120"/>
              </a:rPr>
              <a:t>/</a:t>
            </a:r>
            <a:r>
              <a:rPr lang="en-US" sz="1300" dirty="0" err="1">
                <a:solidFill>
                  <a:srgbClr val="E9EDF5"/>
                </a:solidFill>
                <a:latin typeface="Roboto Mono" pitchFamily="34" charset="0"/>
                <a:ea typeface="Roboto Mono" pitchFamily="34" charset="-122"/>
                <a:cs typeface="Roboto Mono" pitchFamily="34" charset="-120"/>
              </a:rPr>
              <a:t>goughes</a:t>
            </a:r>
            <a:r>
              <a:rPr lang="en-US" sz="1300" dirty="0">
                <a:solidFill>
                  <a:srgbClr val="E9EDF5"/>
                </a:solidFill>
                <a:latin typeface="Roboto Mono" pitchFamily="34" charset="0"/>
                <a:ea typeface="Roboto Mono" pitchFamily="34" charset="-122"/>
                <a:cs typeface="Roboto Mono" pitchFamily="34" charset="-120"/>
              </a:rPr>
              <a:t>/cnap-k8s-security.git</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cd cnap-k8s-security</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ls</a:t>
            </a:r>
            <a:endParaRPr lang="en-US" sz="1300" dirty="0"/>
          </a:p>
        </p:txBody>
      </p:sp>
      <p:sp>
        <p:nvSpPr>
          <p:cNvPr id="9" name="pill-bg"/>
          <p:cNvSpPr/>
          <p:nvPr/>
        </p:nvSpPr>
        <p:spPr>
          <a:xfrm>
            <a:off x="502920" y="3355086"/>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355086"/>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3775710"/>
            <a:ext cx="6903720" cy="725932"/>
          </a:xfrm>
          <a:prstGeom prst="roundRect">
            <a:avLst>
              <a:gd name="adj" fmla="val 8817"/>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3912870"/>
            <a:ext cx="6574536" cy="451612"/>
          </a:xfrm>
          <a:prstGeom prst="rect">
            <a:avLst/>
          </a:prstGeom>
          <a:noFill/>
          <a:ln/>
        </p:spPr>
        <p:txBody>
          <a:bodyPr wrap="square" lIns="0" tIns="0" rIns="0" bIns="0" rtlCol="0" anchor="t"/>
          <a:lstStyle/>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README.md   setup/   policies/   rbac/   network/</a:t>
            </a: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secrets/    audit/   scripts/</a:t>
            </a:r>
            <a:endParaRPr lang="en-US" sz="11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228954"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5" name="pill-text"/>
          <p:cNvSpPr txBox="1"/>
          <p:nvPr/>
        </p:nvSpPr>
        <p:spPr>
          <a:xfrm>
            <a:off x="7863840" y="1847088"/>
            <a:ext cx="1228954"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What's in it</a:t>
            </a:r>
            <a:endParaRPr lang="en-US" sz="1150" dirty="0"/>
          </a:p>
        </p:txBody>
      </p:sp>
      <p:sp>
        <p:nvSpPr>
          <p:cNvPr id="16" name="sdot-0"/>
          <p:cNvSpPr/>
          <p:nvPr/>
        </p:nvSpPr>
        <p:spPr>
          <a:xfrm>
            <a:off x="7882128" y="2414016"/>
            <a:ext cx="128016" cy="128016"/>
          </a:xfrm>
          <a:prstGeom prst="ellipse">
            <a:avLst/>
          </a:prstGeom>
          <a:solidFill>
            <a:srgbClr val="0B4F5C"/>
          </a:solidFill>
          <a:ln w="12700">
            <a:solidFill>
              <a:srgbClr val="0B4F5C"/>
            </a:solidFill>
            <a:prstDash val="solid"/>
          </a:ln>
        </p:spPr>
        <p:txBody>
          <a:bodyPr/>
          <a:lstStyle/>
          <a:p>
            <a:endParaRPr lang="en-US"/>
          </a:p>
        </p:txBody>
      </p:sp>
      <p:sp>
        <p:nvSpPr>
          <p:cNvPr id="17" name="sitem-0"/>
          <p:cNvSpPr txBox="1"/>
          <p:nvPr/>
        </p:nvSpPr>
        <p:spPr>
          <a:xfrm>
            <a:off x="8101584" y="2340864"/>
            <a:ext cx="3386023" cy="510540"/>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setup/  </a:t>
            </a:r>
            <a:r>
              <a:rPr lang="en-US" sz="1050" dirty="0">
                <a:solidFill>
                  <a:srgbClr val="1F2937"/>
                </a:solidFill>
                <a:latin typeface="Calibri" pitchFamily="34" charset="0"/>
                <a:ea typeface="Calibri" pitchFamily="34" charset="-122"/>
                <a:cs typeface="Calibri" pitchFamily="34" charset="-120"/>
              </a:rPr>
              <a:t>namespaces for the two tenants</a:t>
            </a:r>
            <a:endParaRPr lang="en-US" sz="1050" dirty="0"/>
          </a:p>
        </p:txBody>
      </p:sp>
      <p:sp>
        <p:nvSpPr>
          <p:cNvPr id="18" name="sdot-1"/>
          <p:cNvSpPr/>
          <p:nvPr/>
        </p:nvSpPr>
        <p:spPr>
          <a:xfrm>
            <a:off x="7882128" y="2979420"/>
            <a:ext cx="128016" cy="128016"/>
          </a:xfrm>
          <a:prstGeom prst="ellipse">
            <a:avLst/>
          </a:prstGeom>
          <a:solidFill>
            <a:srgbClr val="B3263B"/>
          </a:solidFill>
          <a:ln w="12700">
            <a:solidFill>
              <a:srgbClr val="B3263B"/>
            </a:solidFill>
            <a:prstDash val="solid"/>
          </a:ln>
        </p:spPr>
        <p:txBody>
          <a:bodyPr/>
          <a:lstStyle/>
          <a:p>
            <a:endParaRPr lang="en-US"/>
          </a:p>
        </p:txBody>
      </p:sp>
      <p:sp>
        <p:nvSpPr>
          <p:cNvPr id="19" name="sitem-1"/>
          <p:cNvSpPr txBox="1"/>
          <p:nvPr/>
        </p:nvSpPr>
        <p:spPr>
          <a:xfrm>
            <a:off x="8101584" y="2906268"/>
            <a:ext cx="3386023" cy="510540"/>
          </a:xfrm>
          <a:prstGeom prst="rect">
            <a:avLst/>
          </a:prstGeom>
          <a:noFill/>
          <a:ln/>
        </p:spPr>
        <p:txBody>
          <a:bodyPr wrap="square" lIns="0" tIns="0" rIns="0" bIns="0" rtlCol="0" anchor="t"/>
          <a:lstStyle/>
          <a:p>
            <a:pPr marL="0" indent="0">
              <a:lnSpc>
                <a:spcPct val="112000"/>
              </a:lnSpc>
              <a:buNone/>
            </a:pPr>
            <a:r>
              <a:rPr lang="en-US" sz="1050" b="1" dirty="0">
                <a:solidFill>
                  <a:srgbClr val="B3263B"/>
                </a:solidFill>
                <a:latin typeface="Calibri" pitchFamily="34" charset="0"/>
                <a:ea typeface="Calibri" pitchFamily="34" charset="-122"/>
                <a:cs typeface="Calibri" pitchFamily="34" charset="-120"/>
              </a:rPr>
              <a:t>policies/  </a:t>
            </a:r>
            <a:r>
              <a:rPr lang="en-US" sz="1050" dirty="0">
                <a:solidFill>
                  <a:srgbClr val="1F2937"/>
                </a:solidFill>
                <a:latin typeface="Calibri" pitchFamily="34" charset="0"/>
                <a:ea typeface="Calibri" pitchFamily="34" charset="-122"/>
                <a:cs typeface="Calibri" pitchFamily="34" charset="-120"/>
              </a:rPr>
              <a:t>the attack pod and the Kubewarden policies that stop it</a:t>
            </a:r>
            <a:endParaRPr lang="en-US" sz="1050" dirty="0"/>
          </a:p>
        </p:txBody>
      </p:sp>
      <p:sp>
        <p:nvSpPr>
          <p:cNvPr id="20" name="sdot-2"/>
          <p:cNvSpPr/>
          <p:nvPr/>
        </p:nvSpPr>
        <p:spPr>
          <a:xfrm>
            <a:off x="7882128" y="3544824"/>
            <a:ext cx="128016" cy="128016"/>
          </a:xfrm>
          <a:prstGeom prst="ellipse">
            <a:avLst/>
          </a:prstGeom>
          <a:solidFill>
            <a:srgbClr val="4C3FA3"/>
          </a:solidFill>
          <a:ln w="12700">
            <a:solidFill>
              <a:srgbClr val="4C3FA3"/>
            </a:solidFill>
            <a:prstDash val="solid"/>
          </a:ln>
        </p:spPr>
        <p:txBody>
          <a:bodyPr/>
          <a:lstStyle/>
          <a:p>
            <a:endParaRPr lang="en-US"/>
          </a:p>
        </p:txBody>
      </p:sp>
      <p:sp>
        <p:nvSpPr>
          <p:cNvPr id="21" name="sitem-2"/>
          <p:cNvSpPr txBox="1"/>
          <p:nvPr/>
        </p:nvSpPr>
        <p:spPr>
          <a:xfrm>
            <a:off x="8101584" y="3471672"/>
            <a:ext cx="3386023" cy="510540"/>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rbac/  </a:t>
            </a:r>
            <a:r>
              <a:rPr lang="en-US" sz="1050" dirty="0">
                <a:solidFill>
                  <a:srgbClr val="1F2937"/>
                </a:solidFill>
                <a:latin typeface="Calibri" pitchFamily="34" charset="0"/>
                <a:ea typeface="Calibri" pitchFamily="34" charset="-122"/>
                <a:cs typeface="Calibri" pitchFamily="34" charset="-120"/>
              </a:rPr>
              <a:t>Roles and RoleBindings for a least-privilege tenant</a:t>
            </a:r>
            <a:endParaRPr lang="en-US" sz="1050" dirty="0"/>
          </a:p>
        </p:txBody>
      </p:sp>
      <p:sp>
        <p:nvSpPr>
          <p:cNvPr id="22" name="sdot-3"/>
          <p:cNvSpPr/>
          <p:nvPr/>
        </p:nvSpPr>
        <p:spPr>
          <a:xfrm>
            <a:off x="7882128" y="4110228"/>
            <a:ext cx="128016" cy="128016"/>
          </a:xfrm>
          <a:prstGeom prst="ellipse">
            <a:avLst/>
          </a:prstGeom>
          <a:solidFill>
            <a:srgbClr val="0067C0"/>
          </a:solidFill>
          <a:ln w="12700">
            <a:solidFill>
              <a:srgbClr val="0067C0"/>
            </a:solidFill>
            <a:prstDash val="solid"/>
          </a:ln>
        </p:spPr>
        <p:txBody>
          <a:bodyPr/>
          <a:lstStyle/>
          <a:p>
            <a:endParaRPr lang="en-US"/>
          </a:p>
        </p:txBody>
      </p:sp>
      <p:sp>
        <p:nvSpPr>
          <p:cNvPr id="23" name="sitem-3"/>
          <p:cNvSpPr txBox="1"/>
          <p:nvPr/>
        </p:nvSpPr>
        <p:spPr>
          <a:xfrm>
            <a:off x="8101584" y="4037076"/>
            <a:ext cx="3386023" cy="510540"/>
          </a:xfrm>
          <a:prstGeom prst="rect">
            <a:avLst/>
          </a:prstGeom>
          <a:noFill/>
          <a:ln/>
        </p:spPr>
        <p:txBody>
          <a:bodyPr wrap="square" lIns="0" tIns="0" rIns="0" bIns="0" rtlCol="0" anchor="t"/>
          <a:lstStyle/>
          <a:p>
            <a:pPr marL="0" indent="0">
              <a:lnSpc>
                <a:spcPct val="112000"/>
              </a:lnSpc>
              <a:buNone/>
            </a:pPr>
            <a:r>
              <a:rPr lang="en-US" sz="1050" b="1" dirty="0">
                <a:solidFill>
                  <a:srgbClr val="0067C0"/>
                </a:solidFill>
                <a:latin typeface="Calibri" pitchFamily="34" charset="0"/>
                <a:ea typeface="Calibri" pitchFamily="34" charset="-122"/>
                <a:cs typeface="Calibri" pitchFamily="34" charset="-120"/>
              </a:rPr>
              <a:t>network/  </a:t>
            </a:r>
            <a:r>
              <a:rPr lang="en-US" sz="1050" dirty="0">
                <a:solidFill>
                  <a:srgbClr val="1F2937"/>
                </a:solidFill>
                <a:latin typeface="Calibri" pitchFamily="34" charset="0"/>
                <a:ea typeface="Calibri" pitchFamily="34" charset="-122"/>
                <a:cs typeface="Calibri" pitchFamily="34" charset="-120"/>
              </a:rPr>
              <a:t>default-deny and the targeted allow rules</a:t>
            </a:r>
            <a:endParaRPr lang="en-US" sz="1050" dirty="0"/>
          </a:p>
        </p:txBody>
      </p:sp>
      <p:sp>
        <p:nvSpPr>
          <p:cNvPr id="24" name="sdot-4"/>
          <p:cNvSpPr/>
          <p:nvPr/>
        </p:nvSpPr>
        <p:spPr>
          <a:xfrm>
            <a:off x="7882128" y="4675632"/>
            <a:ext cx="128016" cy="128016"/>
          </a:xfrm>
          <a:prstGeom prst="ellipse">
            <a:avLst/>
          </a:prstGeom>
          <a:solidFill>
            <a:srgbClr val="0F7B45"/>
          </a:solidFill>
          <a:ln w="12700">
            <a:solidFill>
              <a:srgbClr val="0F7B45"/>
            </a:solidFill>
            <a:prstDash val="solid"/>
          </a:ln>
        </p:spPr>
        <p:txBody>
          <a:bodyPr/>
          <a:lstStyle/>
          <a:p>
            <a:endParaRPr lang="en-US"/>
          </a:p>
        </p:txBody>
      </p:sp>
      <p:sp>
        <p:nvSpPr>
          <p:cNvPr id="25" name="sitem-4"/>
          <p:cNvSpPr txBox="1"/>
          <p:nvPr/>
        </p:nvSpPr>
        <p:spPr>
          <a:xfrm>
            <a:off x="8101584" y="4602480"/>
            <a:ext cx="3386023" cy="510540"/>
          </a:xfrm>
          <a:prstGeom prst="rect">
            <a:avLst/>
          </a:prstGeom>
          <a:noFill/>
          <a:ln/>
        </p:spPr>
        <p:txBody>
          <a:bodyPr wrap="square" lIns="0" tIns="0" rIns="0" bIns="0" rtlCol="0" anchor="t"/>
          <a:lstStyle/>
          <a:p>
            <a:pPr marL="0" indent="0">
              <a:lnSpc>
                <a:spcPct val="112000"/>
              </a:lnSpc>
              <a:buNone/>
            </a:pPr>
            <a:r>
              <a:rPr lang="en-US" sz="1050" b="1" dirty="0">
                <a:solidFill>
                  <a:srgbClr val="0F7B45"/>
                </a:solidFill>
                <a:latin typeface="Calibri" pitchFamily="34" charset="0"/>
                <a:ea typeface="Calibri" pitchFamily="34" charset="-122"/>
                <a:cs typeface="Calibri" pitchFamily="34" charset="-120"/>
              </a:rPr>
              <a:t>audit/  </a:t>
            </a:r>
            <a:r>
              <a:rPr lang="en-US" sz="1050" dirty="0">
                <a:solidFill>
                  <a:srgbClr val="1F2937"/>
                </a:solidFill>
                <a:latin typeface="Calibri" pitchFamily="34" charset="0"/>
                <a:ea typeface="Calibri" pitchFamily="34" charset="-122"/>
                <a:cs typeface="Calibri" pitchFamily="34" charset="-120"/>
              </a:rPr>
              <a:t>the audit policy we stage into the node next</a:t>
            </a:r>
            <a:endParaRPr lang="en-US" sz="1050" dirty="0"/>
          </a:p>
        </p:txBody>
      </p:sp>
      <p:sp>
        <p:nvSpPr>
          <p:cNvPr id="26" name="sdot-5"/>
          <p:cNvSpPr/>
          <p:nvPr/>
        </p:nvSpPr>
        <p:spPr>
          <a:xfrm>
            <a:off x="7882128" y="5241036"/>
            <a:ext cx="128016" cy="128016"/>
          </a:xfrm>
          <a:prstGeom prst="ellipse">
            <a:avLst/>
          </a:prstGeom>
          <a:solidFill>
            <a:srgbClr val="4A5568"/>
          </a:solidFill>
          <a:ln w="12700">
            <a:solidFill>
              <a:srgbClr val="4A5568"/>
            </a:solidFill>
            <a:prstDash val="solid"/>
          </a:ln>
        </p:spPr>
        <p:txBody>
          <a:bodyPr/>
          <a:lstStyle/>
          <a:p>
            <a:endParaRPr lang="en-US"/>
          </a:p>
        </p:txBody>
      </p:sp>
      <p:sp>
        <p:nvSpPr>
          <p:cNvPr id="27" name="sitem-5"/>
          <p:cNvSpPr txBox="1"/>
          <p:nvPr/>
        </p:nvSpPr>
        <p:spPr>
          <a:xfrm>
            <a:off x="8101584" y="5167884"/>
            <a:ext cx="3386023" cy="510540"/>
          </a:xfrm>
          <a:prstGeom prst="rect">
            <a:avLst/>
          </a:prstGeom>
          <a:noFill/>
          <a:ln/>
        </p:spPr>
        <p:txBody>
          <a:bodyPr wrap="square" lIns="0" tIns="0" rIns="0" bIns="0" rtlCol="0" anchor="t"/>
          <a:lstStyle/>
          <a:p>
            <a:pPr marL="0" indent="0">
              <a:lnSpc>
                <a:spcPct val="112000"/>
              </a:lnSpc>
              <a:buNone/>
            </a:pPr>
            <a:r>
              <a:rPr lang="en-US" sz="1050" b="1" dirty="0">
                <a:solidFill>
                  <a:srgbClr val="4A5568"/>
                </a:solidFill>
                <a:latin typeface="Calibri" pitchFamily="34" charset="0"/>
                <a:ea typeface="Calibri" pitchFamily="34" charset="-122"/>
                <a:cs typeface="Calibri" pitchFamily="34" charset="-120"/>
              </a:rPr>
              <a:t>scripts/  </a:t>
            </a:r>
            <a:r>
              <a:rPr lang="en-US" sz="1050" dirty="0">
                <a:solidFill>
                  <a:srgbClr val="1F2937"/>
                </a:solidFill>
                <a:latin typeface="Calibri" pitchFamily="34" charset="0"/>
                <a:ea typeface="Calibri" pitchFamily="34" charset="-122"/>
                <a:cs typeface="Calibri" pitchFamily="34" charset="-120"/>
              </a:rPr>
              <a:t>preflight.sh and reset.sh, if you need to start over</a:t>
            </a:r>
            <a:endParaRPr lang="en-US" sz="1050" dirty="0"/>
          </a:p>
        </p:txBody>
      </p:sp>
      <p:sp>
        <p:nvSpPr>
          <p:cNvPr id="28"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9"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ls shows the folders above, and your prompt is inside cnap-k8s-security.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SETUP · STEP 2</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Stage the audit policy first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Anything you put under ~/.minikube/files is copied into the node at the same path when the cluster starts. This is how we get a config file onto a machine that does not exist yet.</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844040"/>
          </a:xfrm>
          <a:prstGeom prst="roundRect">
            <a:avLst>
              <a:gd name="adj" fmla="val 3471"/>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569720"/>
          </a:xfrm>
          <a:prstGeom prst="rect">
            <a:avLst/>
          </a:prstGeom>
          <a:noFill/>
          <a:ln/>
        </p:spPr>
        <p:txBody>
          <a:bodyPr wrap="square" lIns="0" tIns="0" rIns="0" bIns="0" rtlCol="0" anchor="t"/>
          <a:lstStyle/>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 Mac / Linux</a:t>
            </a: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mkdir -p ~/.minikube/files/etc/ssl/certs</a:t>
            </a: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cp audit/audit-policy.yaml ~/.minikube/files/etc/ssl/certs/</a:t>
            </a:r>
            <a:endParaRPr lang="en-US" sz="1200" dirty="0"/>
          </a:p>
          <a:p>
            <a:pPr marL="0" indent="0">
              <a:lnSpc>
                <a:spcPct val="112000"/>
              </a:lnSpc>
              <a:buNone/>
            </a:pP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 Windows PowerShell</a:t>
            </a: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mkdir -Force $HOME\.minikube\files\etc\ssl\certs</a:t>
            </a: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cp audit\audit-policy.yaml $HOME\.minikube\files\etc\ssl\certs\</a:t>
            </a:r>
            <a:endParaRPr lang="en-US" sz="1200" dirty="0"/>
          </a:p>
        </p:txBody>
      </p:sp>
      <p:sp>
        <p:nvSpPr>
          <p:cNvPr id="9"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0" name="pill-bg"/>
          <p:cNvSpPr/>
          <p:nvPr/>
        </p:nvSpPr>
        <p:spPr>
          <a:xfrm>
            <a:off x="7863840" y="1847088"/>
            <a:ext cx="1303934"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1" name="pill-text"/>
          <p:cNvSpPr txBox="1"/>
          <p:nvPr/>
        </p:nvSpPr>
        <p:spPr>
          <a:xfrm>
            <a:off x="7863840" y="1847088"/>
            <a:ext cx="1303934"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Why this path</a:t>
            </a:r>
            <a:endParaRPr lang="en-US" sz="1150" dirty="0"/>
          </a:p>
        </p:txBody>
      </p:sp>
      <p:sp>
        <p:nvSpPr>
          <p:cNvPr id="12" name="sdot-0"/>
          <p:cNvSpPr/>
          <p:nvPr/>
        </p:nvSpPr>
        <p:spPr>
          <a:xfrm>
            <a:off x="7882128" y="2414016"/>
            <a:ext cx="128016" cy="128016"/>
          </a:xfrm>
          <a:prstGeom prst="ellipse">
            <a:avLst/>
          </a:prstGeom>
          <a:solidFill>
            <a:srgbClr val="4C3FA3"/>
          </a:solidFill>
          <a:ln w="12700">
            <a:solidFill>
              <a:srgbClr val="4C3FA3"/>
            </a:solidFill>
            <a:prstDash val="solid"/>
          </a:ln>
        </p:spPr>
        <p:txBody>
          <a:bodyPr/>
          <a:lstStyle/>
          <a:p>
            <a:endParaRPr lang="en-US"/>
          </a:p>
        </p:txBody>
      </p:sp>
      <p:sp>
        <p:nvSpPr>
          <p:cNvPr id="13"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The API server is a static pod.  </a:t>
            </a:r>
            <a:r>
              <a:rPr lang="en-US" sz="1050" dirty="0">
                <a:solidFill>
                  <a:srgbClr val="1F2937"/>
                </a:solidFill>
                <a:latin typeface="Calibri" pitchFamily="34" charset="0"/>
                <a:ea typeface="Calibri" pitchFamily="34" charset="-122"/>
                <a:cs typeface="Calibri" pitchFamily="34" charset="-120"/>
              </a:rPr>
              <a:t>It can only read host directories that are mounted into it. Most of the filesystem is invisible to it.</a:t>
            </a:r>
            <a:endParaRPr lang="en-US" sz="1050" dirty="0"/>
          </a:p>
        </p:txBody>
      </p:sp>
      <p:sp>
        <p:nvSpPr>
          <p:cNvPr id="14" name="sdot-1"/>
          <p:cNvSpPr/>
          <p:nvPr/>
        </p:nvSpPr>
        <p:spPr>
          <a:xfrm>
            <a:off x="7882128" y="3262122"/>
            <a:ext cx="128016" cy="128016"/>
          </a:xfrm>
          <a:prstGeom prst="ellipse">
            <a:avLst/>
          </a:prstGeom>
          <a:solidFill>
            <a:srgbClr val="4C3FA3"/>
          </a:solidFill>
          <a:ln w="12700">
            <a:solidFill>
              <a:srgbClr val="4C3FA3"/>
            </a:solidFill>
            <a:prstDash val="solid"/>
          </a:ln>
        </p:spPr>
        <p:txBody>
          <a:bodyPr/>
          <a:lstStyle/>
          <a:p>
            <a:endParaRPr lang="en-US"/>
          </a:p>
        </p:txBody>
      </p:sp>
      <p:sp>
        <p:nvSpPr>
          <p:cNvPr id="15"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/etc/ssl/certs is already mounted.  </a:t>
            </a:r>
            <a:r>
              <a:rPr lang="en-US" sz="1050" dirty="0">
                <a:solidFill>
                  <a:srgbClr val="1F2937"/>
                </a:solidFill>
                <a:latin typeface="Calibri" pitchFamily="34" charset="0"/>
                <a:ea typeface="Calibri" pitchFamily="34" charset="-122"/>
                <a:cs typeface="Calibri" pitchFamily="34" charset="-120"/>
              </a:rPr>
              <a:t>kubeadm mounts it read-only so the API server can validate certificates. We borrow it. Read-only is fine — the API server only reads the policy.</a:t>
            </a:r>
            <a:endParaRPr lang="en-US" sz="1050" dirty="0"/>
          </a:p>
        </p:txBody>
      </p:sp>
      <p:sp>
        <p:nvSpPr>
          <p:cNvPr id="16" name="sdot-2"/>
          <p:cNvSpPr/>
          <p:nvPr/>
        </p:nvSpPr>
        <p:spPr>
          <a:xfrm>
            <a:off x="7882128" y="4110228"/>
            <a:ext cx="128016" cy="128016"/>
          </a:xfrm>
          <a:prstGeom prst="ellipse">
            <a:avLst/>
          </a:prstGeom>
          <a:solidFill>
            <a:srgbClr val="B3263B"/>
          </a:solidFill>
          <a:ln w="12700">
            <a:solidFill>
              <a:srgbClr val="B3263B"/>
            </a:solidFill>
            <a:prstDash val="solid"/>
          </a:ln>
        </p:spPr>
        <p:txBody>
          <a:bodyPr/>
          <a:lstStyle/>
          <a:p>
            <a:endParaRPr lang="en-US"/>
          </a:p>
        </p:txBody>
      </p:sp>
      <p:sp>
        <p:nvSpPr>
          <p:cNvPr id="17"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B3263B"/>
                </a:solidFill>
                <a:latin typeface="Calibri" pitchFamily="34" charset="0"/>
                <a:ea typeface="Calibri" pitchFamily="34" charset="-122"/>
                <a:cs typeface="Calibri" pitchFamily="34" charset="-120"/>
              </a:rPr>
              <a:t>Put it anywhere else and the API server crash-loops  </a:t>
            </a:r>
            <a:r>
              <a:rPr lang="en-US" sz="1050" dirty="0">
                <a:solidFill>
                  <a:srgbClr val="1F2937"/>
                </a:solidFill>
                <a:latin typeface="Calibri" pitchFamily="34" charset="0"/>
                <a:ea typeface="Calibri" pitchFamily="34" charset="-122"/>
                <a:cs typeface="Calibri" pitchFamily="34" charset="-120"/>
              </a:rPr>
              <a:t>with 'no such file or directory'. This is the number one way this step fails.</a:t>
            </a:r>
            <a:endParaRPr lang="en-US" sz="1050" dirty="0"/>
          </a:p>
        </p:txBody>
      </p:sp>
      <p:sp>
        <p:nvSpPr>
          <p:cNvPr id="18" name="sdot-3"/>
          <p:cNvSpPr/>
          <p:nvPr/>
        </p:nvSpPr>
        <p:spPr>
          <a:xfrm>
            <a:off x="7882128" y="4958334"/>
            <a:ext cx="128016" cy="128016"/>
          </a:xfrm>
          <a:prstGeom prst="ellipse">
            <a:avLst/>
          </a:prstGeom>
          <a:solidFill>
            <a:srgbClr val="9A5B0C"/>
          </a:solidFill>
          <a:ln w="12700">
            <a:solidFill>
              <a:srgbClr val="9A5B0C"/>
            </a:solidFill>
            <a:prstDash val="solid"/>
          </a:ln>
        </p:spPr>
        <p:txBody>
          <a:bodyPr/>
          <a:lstStyle/>
          <a:p>
            <a:endParaRPr lang="en-US"/>
          </a:p>
        </p:txBody>
      </p:sp>
      <p:sp>
        <p:nvSpPr>
          <p:cNvPr id="19"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9A5B0C"/>
                </a:solidFill>
                <a:latin typeface="Calibri" pitchFamily="34" charset="0"/>
                <a:ea typeface="Calibri" pitchFamily="34" charset="-122"/>
                <a:cs typeface="Calibri" pitchFamily="34" charset="-120"/>
              </a:rPr>
              <a:t>File sync only runs during minikube start.  </a:t>
            </a:r>
            <a:r>
              <a:rPr lang="en-US" sz="1050" dirty="0">
                <a:solidFill>
                  <a:srgbClr val="1F2937"/>
                </a:solidFill>
                <a:latin typeface="Calibri" pitchFamily="34" charset="0"/>
                <a:ea typeface="Calibri" pitchFamily="34" charset="-122"/>
                <a:cs typeface="Calibri" pitchFamily="34" charset="-120"/>
              </a:rPr>
              <a:t>Copying the file after the cluster is up does nothing.</a:t>
            </a:r>
            <a:endParaRPr lang="en-US" sz="1050" dirty="0"/>
          </a:p>
        </p:txBody>
      </p:sp>
      <p:sp>
        <p:nvSpPr>
          <p:cNvPr id="20"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1"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The file exists at ~/.minikube/files/etc/ssl/certs/audit-policy.yaml on your laptop. Nothing has started yet.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SETUP · STEP 3</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Start the cluster</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only long command in the workshop — it is in the repo as scripts/start.sh if you would rather not type it.</a:t>
            </a:r>
            <a:endParaRPr lang="en-US" sz="1300" dirty="0"/>
          </a:p>
        </p:txBody>
      </p:sp>
      <p:sp>
        <p:nvSpPr>
          <p:cNvPr id="6"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7"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8" name="code-bg"/>
          <p:cNvSpPr/>
          <p:nvPr/>
        </p:nvSpPr>
        <p:spPr>
          <a:xfrm>
            <a:off x="502920" y="2084832"/>
            <a:ext cx="11185855" cy="1501394"/>
          </a:xfrm>
          <a:prstGeom prst="roundRect">
            <a:avLst>
              <a:gd name="adj" fmla="val 4263"/>
            </a:avLst>
          </a:prstGeom>
          <a:solidFill>
            <a:srgbClr val="1B1537"/>
          </a:solidFill>
          <a:ln w="12700">
            <a:solidFill>
              <a:srgbClr val="1B1537"/>
            </a:solidFill>
            <a:prstDash val="solid"/>
          </a:ln>
        </p:spPr>
        <p:txBody>
          <a:bodyPr/>
          <a:lstStyle/>
          <a:p>
            <a:endParaRPr lang="en-US"/>
          </a:p>
        </p:txBody>
      </p:sp>
      <p:sp>
        <p:nvSpPr>
          <p:cNvPr id="9" name="code-text"/>
          <p:cNvSpPr txBox="1"/>
          <p:nvPr/>
        </p:nvSpPr>
        <p:spPr>
          <a:xfrm>
            <a:off x="667512" y="2221992"/>
            <a:ext cx="10856671" cy="1227074"/>
          </a:xfrm>
          <a:prstGeom prst="rect">
            <a:avLst/>
          </a:prstGeom>
          <a:noFill/>
          <a:ln/>
        </p:spPr>
        <p:txBody>
          <a:bodyPr wrap="square" lIns="0" tIns="0" rIns="0" bIns="0" rtlCol="0" anchor="t"/>
          <a:lstStyle/>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minikube start -p k8s-security \</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  --driver=docker --container-runtime=containerd \</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  --cni=calico --cpus=4 --memory=6144 --disk-size=20g \</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  --extra-config=apiserver.audit-policy-file=/etc/ssl/certs/audit-policy.yaml \</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  --extra-config=apiserver.audit-log-path=-</a:t>
            </a:r>
            <a:endParaRPr lang="en-US" sz="1300" dirty="0"/>
          </a:p>
        </p:txBody>
      </p:sp>
      <p:sp>
        <p:nvSpPr>
          <p:cNvPr id="10" name="flag-0"/>
          <p:cNvSpPr/>
          <p:nvPr/>
        </p:nvSpPr>
        <p:spPr>
          <a:xfrm>
            <a:off x="502920" y="3730752"/>
            <a:ext cx="2090867" cy="1901952"/>
          </a:xfrm>
          <a:prstGeom prst="roundRect">
            <a:avLst>
              <a:gd name="adj" fmla="val 4808"/>
            </a:avLst>
          </a:prstGeom>
          <a:solidFill>
            <a:srgbClr val="FFFFFF"/>
          </a:solidFill>
          <a:ln w="12700">
            <a:solidFill>
              <a:srgbClr val="CFE3E2"/>
            </a:solidFill>
            <a:prstDash val="solid"/>
          </a:ln>
        </p:spPr>
        <p:txBody>
          <a:bodyPr/>
          <a:lstStyle/>
          <a:p>
            <a:endParaRPr lang="en-US"/>
          </a:p>
        </p:txBody>
      </p:sp>
      <p:sp>
        <p:nvSpPr>
          <p:cNvPr id="11" name="Text 8"/>
          <p:cNvSpPr txBox="1"/>
          <p:nvPr/>
        </p:nvSpPr>
        <p:spPr>
          <a:xfrm>
            <a:off x="649224" y="3877056"/>
            <a:ext cx="1798259" cy="457200"/>
          </a:xfrm>
          <a:prstGeom prst="rect">
            <a:avLst/>
          </a:prstGeom>
          <a:noFill/>
          <a:ln/>
        </p:spPr>
        <p:txBody>
          <a:bodyPr wrap="square" lIns="0" tIns="0" rIns="0" bIns="0" rtlCol="0" anchor="t"/>
          <a:lstStyle/>
          <a:p>
            <a:pPr marL="0" indent="0">
              <a:buNone/>
            </a:pPr>
            <a:r>
              <a:rPr lang="en-US" sz="1050" b="1" dirty="0">
                <a:solidFill>
                  <a:srgbClr val="0B4F5C"/>
                </a:solidFill>
                <a:latin typeface="Roboto Mono" pitchFamily="34" charset="0"/>
                <a:ea typeface="Roboto Mono" pitchFamily="34" charset="-122"/>
                <a:cs typeface="Roboto Mono" pitchFamily="34" charset="-120"/>
              </a:rPr>
              <a:t>-p k8s-security</a:t>
            </a:r>
            <a:endParaRPr lang="en-US" sz="1050" dirty="0"/>
          </a:p>
        </p:txBody>
      </p:sp>
      <p:sp>
        <p:nvSpPr>
          <p:cNvPr id="12" name="Text 9"/>
          <p:cNvSpPr txBox="1"/>
          <p:nvPr/>
        </p:nvSpPr>
        <p:spPr>
          <a:xfrm>
            <a:off x="649224" y="4389120"/>
            <a:ext cx="1798259" cy="1115568"/>
          </a:xfrm>
          <a:prstGeom prst="rect">
            <a:avLst/>
          </a:prstGeom>
          <a:noFill/>
          <a:ln/>
        </p:spPr>
        <p:txBody>
          <a:bodyPr wrap="square" lIns="0" tIns="0" rIns="0" bIns="0" rtlCol="0" anchor="t"/>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A named profile. Leaves any cluster you already had alone, and makes reset a one-liner. Your node — and so your API server pod — is named after it.</a:t>
            </a:r>
            <a:endParaRPr lang="en-US" sz="1000" dirty="0"/>
          </a:p>
        </p:txBody>
      </p:sp>
      <p:sp>
        <p:nvSpPr>
          <p:cNvPr id="13" name="flag-1"/>
          <p:cNvSpPr/>
          <p:nvPr/>
        </p:nvSpPr>
        <p:spPr>
          <a:xfrm>
            <a:off x="2776667" y="3730752"/>
            <a:ext cx="2090867" cy="1901952"/>
          </a:xfrm>
          <a:prstGeom prst="roundRect">
            <a:avLst>
              <a:gd name="adj" fmla="val 4808"/>
            </a:avLst>
          </a:prstGeom>
          <a:solidFill>
            <a:srgbClr val="FFFFFF"/>
          </a:solidFill>
          <a:ln w="12700">
            <a:solidFill>
              <a:srgbClr val="CFE3E2"/>
            </a:solidFill>
            <a:prstDash val="solid"/>
          </a:ln>
        </p:spPr>
        <p:txBody>
          <a:bodyPr/>
          <a:lstStyle/>
          <a:p>
            <a:endParaRPr lang="en-US"/>
          </a:p>
        </p:txBody>
      </p:sp>
      <p:sp>
        <p:nvSpPr>
          <p:cNvPr id="14" name="Text 11"/>
          <p:cNvSpPr txBox="1"/>
          <p:nvPr/>
        </p:nvSpPr>
        <p:spPr>
          <a:xfrm>
            <a:off x="2922971" y="3877056"/>
            <a:ext cx="1798259" cy="457200"/>
          </a:xfrm>
          <a:prstGeom prst="rect">
            <a:avLst/>
          </a:prstGeom>
          <a:noFill/>
          <a:ln/>
        </p:spPr>
        <p:txBody>
          <a:bodyPr wrap="square" lIns="0" tIns="0" rIns="0" bIns="0" rtlCol="0" anchor="t"/>
          <a:lstStyle/>
          <a:p>
            <a:pPr marL="0" indent="0">
              <a:buNone/>
            </a:pPr>
            <a:r>
              <a:rPr lang="en-US" sz="1050" b="1" dirty="0">
                <a:solidFill>
                  <a:srgbClr val="0067C0"/>
                </a:solidFill>
                <a:latin typeface="Roboto Mono" pitchFamily="34" charset="0"/>
                <a:ea typeface="Roboto Mono" pitchFamily="34" charset="-122"/>
                <a:cs typeface="Roboto Mono" pitchFamily="34" charset="-120"/>
              </a:rPr>
              <a:t>--cni=calico</a:t>
            </a:r>
            <a:endParaRPr lang="en-US" sz="1050" dirty="0"/>
          </a:p>
        </p:txBody>
      </p:sp>
      <p:sp>
        <p:nvSpPr>
          <p:cNvPr id="15" name="Text 12"/>
          <p:cNvSpPr txBox="1"/>
          <p:nvPr/>
        </p:nvSpPr>
        <p:spPr>
          <a:xfrm>
            <a:off x="2922971" y="4389120"/>
            <a:ext cx="1798259" cy="1115568"/>
          </a:xfrm>
          <a:prstGeom prst="rect">
            <a:avLst/>
          </a:prstGeom>
          <a:noFill/>
          <a:ln/>
        </p:spPr>
        <p:txBody>
          <a:bodyPr wrap="square" lIns="0" tIns="0" rIns="0" bIns="0" rtlCol="0" anchor="t"/>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A network plugin that actually enforces NetworkPolicy. minikube's default accepts policies and silently ignores them. Used in Section 5.</a:t>
            </a:r>
            <a:endParaRPr lang="en-US" sz="1000" dirty="0"/>
          </a:p>
        </p:txBody>
      </p:sp>
      <p:sp>
        <p:nvSpPr>
          <p:cNvPr id="16" name="flag-2"/>
          <p:cNvSpPr/>
          <p:nvPr/>
        </p:nvSpPr>
        <p:spPr>
          <a:xfrm>
            <a:off x="5050414" y="3730752"/>
            <a:ext cx="2090867" cy="1901952"/>
          </a:xfrm>
          <a:prstGeom prst="roundRect">
            <a:avLst>
              <a:gd name="adj" fmla="val 4808"/>
            </a:avLst>
          </a:prstGeom>
          <a:solidFill>
            <a:srgbClr val="FFFFFF"/>
          </a:solidFill>
          <a:ln w="12700">
            <a:solidFill>
              <a:srgbClr val="CFE3E2"/>
            </a:solidFill>
            <a:prstDash val="solid"/>
          </a:ln>
        </p:spPr>
        <p:txBody>
          <a:bodyPr/>
          <a:lstStyle/>
          <a:p>
            <a:endParaRPr lang="en-US"/>
          </a:p>
        </p:txBody>
      </p:sp>
      <p:sp>
        <p:nvSpPr>
          <p:cNvPr id="17" name="Text 14"/>
          <p:cNvSpPr txBox="1"/>
          <p:nvPr/>
        </p:nvSpPr>
        <p:spPr>
          <a:xfrm>
            <a:off x="5196718" y="3877056"/>
            <a:ext cx="1798259" cy="457200"/>
          </a:xfrm>
          <a:prstGeom prst="rect">
            <a:avLst/>
          </a:prstGeom>
          <a:noFill/>
          <a:ln/>
        </p:spPr>
        <p:txBody>
          <a:bodyPr wrap="square" lIns="0" tIns="0" rIns="0" bIns="0" rtlCol="0" anchor="t"/>
          <a:lstStyle/>
          <a:p>
            <a:pPr marL="0" indent="0">
              <a:buNone/>
            </a:pPr>
            <a:r>
              <a:rPr lang="en-US" sz="1050" b="1" dirty="0">
                <a:solidFill>
                  <a:srgbClr val="9A5B0C"/>
                </a:solidFill>
                <a:latin typeface="Roboto Mono" pitchFamily="34" charset="0"/>
                <a:ea typeface="Roboto Mono" pitchFamily="34" charset="-122"/>
                <a:cs typeface="Roboto Mono" pitchFamily="34" charset="-120"/>
              </a:rPr>
              <a:t>--cpus / --memory</a:t>
            </a:r>
            <a:endParaRPr lang="en-US" sz="1050" dirty="0"/>
          </a:p>
        </p:txBody>
      </p:sp>
      <p:sp>
        <p:nvSpPr>
          <p:cNvPr id="18" name="Text 15"/>
          <p:cNvSpPr txBox="1"/>
          <p:nvPr/>
        </p:nvSpPr>
        <p:spPr>
          <a:xfrm>
            <a:off x="5196718" y="4389120"/>
            <a:ext cx="1798259" cy="1115568"/>
          </a:xfrm>
          <a:prstGeom prst="rect">
            <a:avLst/>
          </a:prstGeom>
          <a:noFill/>
          <a:ln/>
        </p:spPr>
        <p:txBody>
          <a:bodyPr wrap="square" lIns="0" tIns="0" rIns="0" bIns="0" rtlCol="0" anchor="t"/>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Calico + cert-manager + Kubewarden need roughly 2 GB on top of the control plane. 4096 works but is tight.</a:t>
            </a:r>
            <a:endParaRPr lang="en-US" sz="1000" dirty="0"/>
          </a:p>
        </p:txBody>
      </p:sp>
      <p:sp>
        <p:nvSpPr>
          <p:cNvPr id="19" name="flag-3"/>
          <p:cNvSpPr/>
          <p:nvPr/>
        </p:nvSpPr>
        <p:spPr>
          <a:xfrm>
            <a:off x="7324161" y="3730752"/>
            <a:ext cx="2090867" cy="1901952"/>
          </a:xfrm>
          <a:prstGeom prst="roundRect">
            <a:avLst>
              <a:gd name="adj" fmla="val 4808"/>
            </a:avLst>
          </a:prstGeom>
          <a:solidFill>
            <a:srgbClr val="FFFFFF"/>
          </a:solidFill>
          <a:ln w="12700">
            <a:solidFill>
              <a:srgbClr val="CFE3E2"/>
            </a:solidFill>
            <a:prstDash val="solid"/>
          </a:ln>
        </p:spPr>
        <p:txBody>
          <a:bodyPr/>
          <a:lstStyle/>
          <a:p>
            <a:endParaRPr lang="en-US"/>
          </a:p>
        </p:txBody>
      </p:sp>
      <p:sp>
        <p:nvSpPr>
          <p:cNvPr id="20" name="Text 17"/>
          <p:cNvSpPr txBox="1"/>
          <p:nvPr/>
        </p:nvSpPr>
        <p:spPr>
          <a:xfrm>
            <a:off x="7470465" y="3877056"/>
            <a:ext cx="1798259" cy="457200"/>
          </a:xfrm>
          <a:prstGeom prst="rect">
            <a:avLst/>
          </a:prstGeom>
          <a:noFill/>
          <a:ln/>
        </p:spPr>
        <p:txBody>
          <a:bodyPr wrap="square" lIns="0" tIns="0" rIns="0" bIns="0" rtlCol="0" anchor="t"/>
          <a:lstStyle/>
          <a:p>
            <a:pPr marL="0" indent="0">
              <a:buNone/>
            </a:pPr>
            <a:r>
              <a:rPr lang="en-US" sz="1050" b="1" dirty="0">
                <a:solidFill>
                  <a:srgbClr val="0F7B45"/>
                </a:solidFill>
                <a:latin typeface="Roboto Mono" pitchFamily="34" charset="0"/>
                <a:ea typeface="Roboto Mono" pitchFamily="34" charset="-122"/>
                <a:cs typeface="Roboto Mono" pitchFamily="34" charset="-120"/>
              </a:rPr>
              <a:t>--extra-config=apiserver.*</a:t>
            </a:r>
            <a:endParaRPr lang="en-US" sz="1050" dirty="0"/>
          </a:p>
        </p:txBody>
      </p:sp>
      <p:sp>
        <p:nvSpPr>
          <p:cNvPr id="21" name="Text 18"/>
          <p:cNvSpPr txBox="1"/>
          <p:nvPr/>
        </p:nvSpPr>
        <p:spPr>
          <a:xfrm>
            <a:off x="7470465" y="4389120"/>
            <a:ext cx="1798259" cy="1115568"/>
          </a:xfrm>
          <a:prstGeom prst="rect">
            <a:avLst/>
          </a:prstGeom>
          <a:noFill/>
          <a:ln/>
        </p:spPr>
        <p:txBody>
          <a:bodyPr wrap="square" lIns="0" tIns="0" rIns="0" bIns="0" rtlCol="0" anchor="t"/>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Adds flags to the API server itself. These two turn on audit logging, reading the policy file we staged in step 2.</a:t>
            </a:r>
            <a:endParaRPr lang="en-US" sz="1000" dirty="0"/>
          </a:p>
        </p:txBody>
      </p:sp>
      <p:sp>
        <p:nvSpPr>
          <p:cNvPr id="22" name="flag-4"/>
          <p:cNvSpPr/>
          <p:nvPr/>
        </p:nvSpPr>
        <p:spPr>
          <a:xfrm>
            <a:off x="9597908" y="3730752"/>
            <a:ext cx="2090867" cy="1901952"/>
          </a:xfrm>
          <a:prstGeom prst="roundRect">
            <a:avLst>
              <a:gd name="adj" fmla="val 4808"/>
            </a:avLst>
          </a:prstGeom>
          <a:solidFill>
            <a:srgbClr val="FFFFFF"/>
          </a:solidFill>
          <a:ln w="12700">
            <a:solidFill>
              <a:srgbClr val="CFE3E2"/>
            </a:solidFill>
            <a:prstDash val="solid"/>
          </a:ln>
        </p:spPr>
        <p:txBody>
          <a:bodyPr/>
          <a:lstStyle/>
          <a:p>
            <a:endParaRPr lang="en-US"/>
          </a:p>
        </p:txBody>
      </p:sp>
      <p:sp>
        <p:nvSpPr>
          <p:cNvPr id="23" name="Text 20"/>
          <p:cNvSpPr txBox="1"/>
          <p:nvPr/>
        </p:nvSpPr>
        <p:spPr>
          <a:xfrm>
            <a:off x="9744212" y="3877056"/>
            <a:ext cx="1798259" cy="457200"/>
          </a:xfrm>
          <a:prstGeom prst="rect">
            <a:avLst/>
          </a:prstGeom>
          <a:noFill/>
          <a:ln/>
        </p:spPr>
        <p:txBody>
          <a:bodyPr wrap="square" lIns="0" tIns="0" rIns="0" bIns="0" rtlCol="0" anchor="t"/>
          <a:lstStyle/>
          <a:p>
            <a:pPr marL="0" indent="0">
              <a:buNone/>
            </a:pPr>
            <a:r>
              <a:rPr lang="en-US" sz="1050" b="1" dirty="0">
                <a:solidFill>
                  <a:srgbClr val="0F7B45"/>
                </a:solidFill>
                <a:latin typeface="Roboto Mono" pitchFamily="34" charset="0"/>
                <a:ea typeface="Roboto Mono" pitchFamily="34" charset="-122"/>
                <a:cs typeface="Roboto Mono" pitchFamily="34" charset="-120"/>
              </a:rPr>
              <a:t>audit-log-path=-</a:t>
            </a:r>
            <a:endParaRPr lang="en-US" sz="1050" dirty="0"/>
          </a:p>
        </p:txBody>
      </p:sp>
      <p:sp>
        <p:nvSpPr>
          <p:cNvPr id="24" name="Text 21"/>
          <p:cNvSpPr txBox="1"/>
          <p:nvPr/>
        </p:nvSpPr>
        <p:spPr>
          <a:xfrm>
            <a:off x="9744212" y="4389120"/>
            <a:ext cx="1798259" cy="1115568"/>
          </a:xfrm>
          <a:prstGeom prst="rect">
            <a:avLst/>
          </a:prstGeom>
          <a:noFill/>
          <a:ln/>
        </p:spPr>
        <p:txBody>
          <a:bodyPr wrap="square" lIns="0" tIns="0" rIns="0" bIns="0" rtlCol="0" anchor="t"/>
          <a:lstStyle/>
          <a:p>
            <a:pPr marL="0" indent="0">
              <a:lnSpc>
                <a:spcPct val="112000"/>
              </a:lnSpc>
              <a:buNone/>
            </a:pPr>
            <a:r>
              <a:rPr lang="en-US" sz="1000" dirty="0">
                <a:solidFill>
                  <a:srgbClr val="1F2937"/>
                </a:solidFill>
                <a:latin typeface="Calibri" pitchFamily="34" charset="0"/>
                <a:ea typeface="Calibri" pitchFamily="34" charset="-122"/>
                <a:cs typeface="Calibri" pitchFamily="34" charset="-120"/>
              </a:rPr>
              <a:t>A single dash means stdout, so we can read the audit log with kubectl logs. A real file would need a writable mount and hand-edited manifests.</a:t>
            </a:r>
            <a:endParaRPr lang="en-US" sz="1000" dirty="0"/>
          </a:p>
        </p:txBody>
      </p:sp>
      <p:sp>
        <p:nvSpPr>
          <p:cNvPr id="25"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6"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The command finishes with “Done! kubectl is now configured to use ‘k8s-security’”. First run takes 3-5 minutes.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SETUP · STEP 4</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Check the cluster and the network plugin</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node stays NotReady until Calico finishes starting. That is expected, not a failure.</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798068"/>
          </a:xfrm>
          <a:prstGeom prst="roundRect">
            <a:avLst>
              <a:gd name="adj" fmla="val 8020"/>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523748"/>
          </a:xfrm>
          <a:prstGeom prst="rect">
            <a:avLst/>
          </a:prstGeom>
          <a:noFill/>
          <a:ln/>
        </p:spPr>
        <p:txBody>
          <a:bodyPr wrap="square" lIns="0" tIns="0" rIns="0" bIns="0" rtlCol="0" anchor="t"/>
          <a:lstStyle/>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get nodes</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get pods -A | grep -Ei 'calico|tigera'</a:t>
            </a:r>
            <a:endParaRPr lang="en-US" sz="1300" dirty="0"/>
          </a:p>
        </p:txBody>
      </p:sp>
      <p:sp>
        <p:nvSpPr>
          <p:cNvPr id="9" name="pill-bg"/>
          <p:cNvSpPr/>
          <p:nvPr/>
        </p:nvSpPr>
        <p:spPr>
          <a:xfrm>
            <a:off x="502920" y="3120644"/>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120644"/>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3541268"/>
            <a:ext cx="6903720" cy="1321054"/>
          </a:xfrm>
          <a:prstGeom prst="roundRect">
            <a:avLst>
              <a:gd name="adj" fmla="val 4845"/>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3678428"/>
            <a:ext cx="6574536" cy="1046734"/>
          </a:xfrm>
          <a:prstGeom prst="rect">
            <a:avLst/>
          </a:prstGeom>
          <a:noFill/>
          <a:ln/>
        </p:spPr>
        <p:txBody>
          <a:bodyPr wrap="square" lIns="0" tIns="0" rIns="0" bIns="0" rtlCol="0" anchor="t"/>
          <a:lstStyle/>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NAME           STATUS   ROLES           AGE   VERSION</a:t>
            </a: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k8s-security   Ready    control-plane   2m    v1.3x.x</a:t>
            </a:r>
            <a:endParaRPr lang="en-US" sz="1100" dirty="0"/>
          </a:p>
          <a:p>
            <a:pPr marL="0" indent="0">
              <a:lnSpc>
                <a:spcPct val="112000"/>
              </a:lnSpc>
              <a:buNone/>
            </a:pP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kube-system   calico-node-xxxxx                   1/1   Running</a:t>
            </a: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kube-system   calico-kube-controllers-xxxxxxx-x   1/1   Running</a:t>
            </a:r>
            <a:endParaRPr lang="en-US" sz="11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528877" cy="310896"/>
          </a:xfrm>
          <a:prstGeom prst="roundRect">
            <a:avLst>
              <a:gd name="adj" fmla="val 50000"/>
            </a:avLst>
          </a:prstGeom>
          <a:solidFill>
            <a:srgbClr val="9A5B0C"/>
          </a:solidFill>
          <a:ln w="12700">
            <a:solidFill>
              <a:srgbClr val="9A5B0C"/>
            </a:solidFill>
            <a:prstDash val="solid"/>
          </a:ln>
        </p:spPr>
        <p:txBody>
          <a:bodyPr/>
          <a:lstStyle/>
          <a:p>
            <a:endParaRPr lang="en-US"/>
          </a:p>
        </p:txBody>
      </p:sp>
      <p:sp>
        <p:nvSpPr>
          <p:cNvPr id="15" name="pill-text"/>
          <p:cNvSpPr txBox="1"/>
          <p:nvPr/>
        </p:nvSpPr>
        <p:spPr>
          <a:xfrm>
            <a:off x="7863840" y="1847088"/>
            <a:ext cx="1528877"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Give it a minute</a:t>
            </a:r>
            <a:endParaRPr lang="en-US" sz="1150" dirty="0"/>
          </a:p>
        </p:txBody>
      </p:sp>
      <p:sp>
        <p:nvSpPr>
          <p:cNvPr id="16" name="sdot-0"/>
          <p:cNvSpPr/>
          <p:nvPr/>
        </p:nvSpPr>
        <p:spPr>
          <a:xfrm>
            <a:off x="7882128" y="2414016"/>
            <a:ext cx="128016" cy="128016"/>
          </a:xfrm>
          <a:prstGeom prst="ellipse">
            <a:avLst/>
          </a:prstGeom>
          <a:solidFill>
            <a:srgbClr val="9A5B0C"/>
          </a:solidFill>
          <a:ln w="12700">
            <a:solidFill>
              <a:srgbClr val="9A5B0C"/>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9A5B0C"/>
                </a:solidFill>
                <a:latin typeface="Calibri" pitchFamily="34" charset="0"/>
                <a:ea typeface="Calibri" pitchFamily="34" charset="-122"/>
                <a:cs typeface="Calibri" pitchFamily="34" charset="-120"/>
              </a:rPr>
              <a:t>NotReady at first is normal.  </a:t>
            </a:r>
            <a:r>
              <a:rPr lang="en-US" sz="1050" dirty="0">
                <a:solidFill>
                  <a:srgbClr val="1F2937"/>
                </a:solidFill>
                <a:latin typeface="Calibri" pitchFamily="34" charset="0"/>
                <a:ea typeface="Calibri" pitchFamily="34" charset="-122"/>
                <a:cs typeface="Calibri" pitchFamily="34" charset="-120"/>
              </a:rPr>
              <a:t>The kubelet reports 'container runtime network not ready' until the CNI is up. 30-90 seconds warm, 2-5 minutes if it is pulling images.</a:t>
            </a:r>
            <a:endParaRPr lang="en-US" sz="1050" dirty="0"/>
          </a:p>
        </p:txBody>
      </p:sp>
      <p:sp>
        <p:nvSpPr>
          <p:cNvPr id="18" name="sdot-1"/>
          <p:cNvSpPr/>
          <p:nvPr/>
        </p:nvSpPr>
        <p:spPr>
          <a:xfrm>
            <a:off x="7882128" y="3262122"/>
            <a:ext cx="128016" cy="128016"/>
          </a:xfrm>
          <a:prstGeom prst="ellipse">
            <a:avLst/>
          </a:prstGeom>
          <a:solidFill>
            <a:srgbClr val="0B4F5C"/>
          </a:solidFill>
          <a:ln w="12700">
            <a:solidFill>
              <a:srgbClr val="0B4F5C"/>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Watch it instead of re-running:  </a:t>
            </a:r>
            <a:r>
              <a:rPr lang="en-US" sz="1050" dirty="0">
                <a:solidFill>
                  <a:srgbClr val="1F2937"/>
                </a:solidFill>
                <a:latin typeface="Calibri" pitchFamily="34" charset="0"/>
                <a:ea typeface="Calibri" pitchFamily="34" charset="-122"/>
                <a:cs typeface="Calibri" pitchFamily="34" charset="-120"/>
              </a:rPr>
              <a:t>kubectl get pods -A -w   (Ctrl+C to stop)</a:t>
            </a:r>
            <a:endParaRPr lang="en-US" sz="1050" dirty="0"/>
          </a:p>
        </p:txBody>
      </p:sp>
      <p:sp>
        <p:nvSpPr>
          <p:cNvPr id="20" name="sdot-2"/>
          <p:cNvSpPr/>
          <p:nvPr/>
        </p:nvSpPr>
        <p:spPr>
          <a:xfrm>
            <a:off x="7882128" y="4110228"/>
            <a:ext cx="128016" cy="128016"/>
          </a:xfrm>
          <a:prstGeom prst="ellipse">
            <a:avLst/>
          </a:prstGeom>
          <a:solidFill>
            <a:srgbClr val="4C3FA3"/>
          </a:solidFill>
          <a:ln w="12700">
            <a:solidFill>
              <a:srgbClr val="4C3FA3"/>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Namespace varies.  </a:t>
            </a:r>
            <a:r>
              <a:rPr lang="en-US" sz="1050" dirty="0">
                <a:solidFill>
                  <a:srgbClr val="1F2937"/>
                </a:solidFill>
                <a:latin typeface="Calibri" pitchFamily="34" charset="0"/>
                <a:ea typeface="Calibri" pitchFamily="34" charset="-122"/>
                <a:cs typeface="Calibri" pitchFamily="34" charset="-120"/>
              </a:rPr>
              <a:t>minikube's bundled Calico lands in kube-system. The operator install from the Calico docs uses calico-system. grep across all namespaces and you do not have to care.</a:t>
            </a:r>
            <a:endParaRPr lang="en-US" sz="1050" dirty="0"/>
          </a:p>
        </p:txBody>
      </p:sp>
      <p:sp>
        <p:nvSpPr>
          <p:cNvPr id="22" name="sdot-3"/>
          <p:cNvSpPr/>
          <p:nvPr/>
        </p:nvSpPr>
        <p:spPr>
          <a:xfrm>
            <a:off x="7882128" y="4958334"/>
            <a:ext cx="128016" cy="128016"/>
          </a:xfrm>
          <a:prstGeom prst="ellipse">
            <a:avLst/>
          </a:prstGeom>
          <a:solidFill>
            <a:srgbClr val="B3263B"/>
          </a:solidFill>
          <a:ln w="12700">
            <a:solidFill>
              <a:srgbClr val="B3263B"/>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B3263B"/>
                </a:solidFill>
                <a:latin typeface="Calibri" pitchFamily="34" charset="0"/>
                <a:ea typeface="Calibri" pitchFamily="34" charset="-122"/>
                <a:cs typeface="Calibri" pitchFamily="34" charset="-120"/>
              </a:rPr>
              <a:t>calico-node stuck at 0/1?  </a:t>
            </a:r>
            <a:r>
              <a:rPr lang="en-US" sz="1050" dirty="0">
                <a:solidFill>
                  <a:srgbClr val="1F2937"/>
                </a:solidFill>
                <a:latin typeface="Calibri" pitchFamily="34" charset="0"/>
                <a:ea typeface="Calibri" pitchFamily="34" charset="-122"/>
                <a:cs typeface="Calibri" pitchFamily="34" charset="-120"/>
              </a:rPr>
              <a:t>Usually interface autodetection. Fix:</a:t>
            </a:r>
            <a:endParaRPr lang="en-US" sz="1050" dirty="0"/>
          </a:p>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kubectl -n kube-system set env ds/calico-node IP_AUTODETECTION_METHOD=interface=eth0</a:t>
            </a:r>
            <a:endParaRPr lang="en-US" sz="10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One node, STATUS Ready, and calico-node showing 1/1 Running.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SETUP · STEP 5</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Create the two tenants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team-alpha is you. team-bravo is the other team on your cluster — the one whose database password you would quite like to read.</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798068"/>
          </a:xfrm>
          <a:prstGeom prst="roundRect">
            <a:avLst>
              <a:gd name="adj" fmla="val 8020"/>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523748"/>
          </a:xfrm>
          <a:prstGeom prst="rect">
            <a:avLst/>
          </a:prstGeom>
          <a:noFill/>
          <a:ln/>
        </p:spPr>
        <p:txBody>
          <a:bodyPr wrap="square" lIns="0" tIns="0" rIns="0" bIns="0" rtlCol="0" anchor="t"/>
          <a:lstStyle/>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apply -f setup/tenants.yaml</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get ns --show-labels | grep team-</a:t>
            </a:r>
            <a:endParaRPr lang="en-US" sz="1300" dirty="0"/>
          </a:p>
        </p:txBody>
      </p:sp>
      <p:sp>
        <p:nvSpPr>
          <p:cNvPr id="9" name="pill-bg"/>
          <p:cNvSpPr/>
          <p:nvPr/>
        </p:nvSpPr>
        <p:spPr>
          <a:xfrm>
            <a:off x="502920" y="3120644"/>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120644"/>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3541268"/>
            <a:ext cx="6903720" cy="1321054"/>
          </a:xfrm>
          <a:prstGeom prst="roundRect">
            <a:avLst>
              <a:gd name="adj" fmla="val 4845"/>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3678428"/>
            <a:ext cx="6574536" cy="1046734"/>
          </a:xfrm>
          <a:prstGeom prst="rect">
            <a:avLst/>
          </a:prstGeom>
          <a:noFill/>
          <a:ln/>
        </p:spPr>
        <p:txBody>
          <a:bodyPr wrap="square" lIns="0" tIns="0" rIns="0" bIns="0" rtlCol="0" anchor="t"/>
          <a:lstStyle/>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namespace/team-alpha created</a:t>
            </a: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namespace/team-bravo created</a:t>
            </a:r>
            <a:endParaRPr lang="en-US" sz="1100" dirty="0"/>
          </a:p>
          <a:p>
            <a:pPr marL="0" indent="0">
              <a:lnSpc>
                <a:spcPct val="112000"/>
              </a:lnSpc>
              <a:buNone/>
            </a:pP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team-alpha   Active   1s   tenant=alpha</a:t>
            </a: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team-bravo   Active   1s   tenant=bravo</a:t>
            </a:r>
            <a:endParaRPr lang="en-US" sz="1100" dirty="0"/>
          </a:p>
        </p:txBody>
      </p:sp>
      <p:sp>
        <p:nvSpPr>
          <p:cNvPr id="13" name="pill-bg"/>
          <p:cNvSpPr/>
          <p:nvPr/>
        </p:nvSpPr>
        <p:spPr>
          <a:xfrm>
            <a:off x="7680960" y="1664208"/>
            <a:ext cx="1678838"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4" name="pill-text"/>
          <p:cNvSpPr txBox="1"/>
          <p:nvPr/>
        </p:nvSpPr>
        <p:spPr>
          <a:xfrm>
            <a:off x="7680960" y="1664208"/>
            <a:ext cx="1678838"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setup/tenants.yaml</a:t>
            </a:r>
            <a:endParaRPr lang="en-US" sz="1150" dirty="0"/>
          </a:p>
        </p:txBody>
      </p:sp>
      <p:sp>
        <p:nvSpPr>
          <p:cNvPr id="15" name="code-bg"/>
          <p:cNvSpPr/>
          <p:nvPr/>
        </p:nvSpPr>
        <p:spPr>
          <a:xfrm>
            <a:off x="7680960" y="2084832"/>
            <a:ext cx="4007815" cy="3794760"/>
          </a:xfrm>
          <a:prstGeom prst="roundRect">
            <a:avLst>
              <a:gd name="adj" fmla="val 1687"/>
            </a:avLst>
          </a:prstGeom>
          <a:solidFill>
            <a:srgbClr val="241E4E"/>
          </a:solidFill>
          <a:ln w="12700">
            <a:solidFill>
              <a:srgbClr val="241E4E"/>
            </a:solidFill>
            <a:prstDash val="solid"/>
          </a:ln>
        </p:spPr>
        <p:txBody>
          <a:bodyPr/>
          <a:lstStyle/>
          <a:p>
            <a:endParaRPr lang="en-US"/>
          </a:p>
        </p:txBody>
      </p:sp>
      <p:sp>
        <p:nvSpPr>
          <p:cNvPr id="16" name="code-text"/>
          <p:cNvSpPr txBox="1"/>
          <p:nvPr/>
        </p:nvSpPr>
        <p:spPr>
          <a:xfrm>
            <a:off x="7845552" y="2221992"/>
            <a:ext cx="3678631" cy="3520440"/>
          </a:xfrm>
          <a:prstGeom prst="rect">
            <a:avLst/>
          </a:prstGeom>
          <a:noFill/>
          <a:ln/>
        </p:spPr>
        <p:txBody>
          <a:bodyPr wrap="square" lIns="0" tIns="0" rIns="0" bIns="0" rtlCol="0" anchor="t"/>
          <a:lstStyle/>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apiVersion: v1</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kind: Namespace</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metadata:</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name: team-alpha</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labels:</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tenant: alpha</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apiVersion: v1</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kind: Namespace</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metadata:</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name: team-bravo</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labels:</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tenant: bravo</a:t>
            </a:r>
            <a:endParaRPr lang="en-US" sz="1050" dirty="0"/>
          </a:p>
          <a:p>
            <a:pPr marL="0" indent="0">
              <a:lnSpc>
                <a:spcPct val="112000"/>
              </a:lnSpc>
              <a:buNone/>
            </a:pP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The labels matter.</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Network policies and</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admission policies both</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select namespaces by</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label, never by name.</a:t>
            </a:r>
            <a:endParaRPr lang="en-US" sz="1050" dirty="0"/>
          </a:p>
        </p:txBody>
      </p:sp>
      <p:sp>
        <p:nvSpPr>
          <p:cNvPr id="17"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18"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Two namespaces, Active, each carrying a tenant= label.</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03</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Policy &amp; admission control</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Break out of a container onto the node, then close every door you walked through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HOW IT WORKS</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Life of an API request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Admission controllers are the last chance to say no before an object is written to etcd and becomes real.</a:t>
            </a:r>
            <a:endParaRPr lang="en-US" sz="1300" dirty="0"/>
          </a:p>
        </p:txBody>
      </p:sp>
      <p:sp>
        <p:nvSpPr>
          <p:cNvPr id="6" name="pipe-0"/>
          <p:cNvSpPr/>
          <p:nvPr/>
        </p:nvSpPr>
        <p:spPr>
          <a:xfrm>
            <a:off x="502920" y="2103120"/>
            <a:ext cx="1988454" cy="2377440"/>
          </a:xfrm>
          <a:prstGeom prst="roundRect">
            <a:avLst>
              <a:gd name="adj" fmla="val 4599"/>
            </a:avLst>
          </a:prstGeom>
          <a:solidFill>
            <a:srgbClr val="FFFFFF"/>
          </a:solidFill>
          <a:ln w="12700">
            <a:solidFill>
              <a:srgbClr val="CFE3E2"/>
            </a:solidFill>
            <a:prstDash val="solid"/>
          </a:ln>
        </p:spPr>
        <p:txBody>
          <a:bodyPr/>
          <a:lstStyle/>
          <a:p>
            <a:endParaRPr lang="en-US"/>
          </a:p>
        </p:txBody>
      </p:sp>
      <p:sp>
        <p:nvSpPr>
          <p:cNvPr id="7" name="pn-0"/>
          <p:cNvSpPr/>
          <p:nvPr/>
        </p:nvSpPr>
        <p:spPr>
          <a:xfrm>
            <a:off x="1314267" y="2267712"/>
            <a:ext cx="365760" cy="365760"/>
          </a:xfrm>
          <a:prstGeom prst="ellipse">
            <a:avLst/>
          </a:prstGeom>
          <a:solidFill>
            <a:srgbClr val="4A5568"/>
          </a:solidFill>
          <a:ln w="12700">
            <a:solidFill>
              <a:srgbClr val="4A5568"/>
            </a:solidFill>
            <a:prstDash val="solid"/>
          </a:ln>
        </p:spPr>
        <p:txBody>
          <a:bodyPr/>
          <a:lstStyle/>
          <a:p>
            <a:endParaRPr lang="en-US"/>
          </a:p>
        </p:txBody>
      </p:sp>
      <p:sp>
        <p:nvSpPr>
          <p:cNvPr id="8" name="Text 5"/>
          <p:cNvSpPr txBox="1"/>
          <p:nvPr/>
        </p:nvSpPr>
        <p:spPr>
          <a:xfrm>
            <a:off x="1314267" y="2267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612648" y="2706624"/>
            <a:ext cx="1768998" cy="566928"/>
          </a:xfrm>
          <a:prstGeom prst="rect">
            <a:avLst/>
          </a:prstGeom>
          <a:noFill/>
          <a:ln/>
        </p:spPr>
        <p:txBody>
          <a:bodyPr wrap="square" lIns="0" tIns="0" rIns="0" bIns="0" rtlCol="0" anchor="ctr"/>
          <a:lstStyle/>
          <a:p>
            <a:pPr marL="0" indent="0" algn="ctr">
              <a:buNone/>
            </a:pPr>
            <a:r>
              <a:rPr lang="en-US" sz="1300" b="1" dirty="0">
                <a:solidFill>
                  <a:srgbClr val="1B1537"/>
                </a:solidFill>
                <a:latin typeface="Arvo" pitchFamily="34" charset="0"/>
                <a:ea typeface="Arvo" pitchFamily="34" charset="-122"/>
                <a:cs typeface="Arvo" pitchFamily="34" charset="-120"/>
              </a:rPr>
              <a:t>Authentication</a:t>
            </a:r>
            <a:endParaRPr lang="en-US" sz="1300" dirty="0"/>
          </a:p>
        </p:txBody>
      </p:sp>
      <p:sp>
        <p:nvSpPr>
          <p:cNvPr id="10" name="Text 7"/>
          <p:cNvSpPr txBox="1"/>
          <p:nvPr/>
        </p:nvSpPr>
        <p:spPr>
          <a:xfrm>
            <a:off x="612648" y="3291840"/>
            <a:ext cx="1768998" cy="237744"/>
          </a:xfrm>
          <a:prstGeom prst="rect">
            <a:avLst/>
          </a:prstGeom>
          <a:noFill/>
          <a:ln/>
        </p:spPr>
        <p:txBody>
          <a:bodyPr wrap="square" lIns="0" tIns="0" rIns="0" bIns="0" rtlCol="0" anchor="ctr"/>
          <a:lstStyle/>
          <a:p>
            <a:pPr marL="0" indent="0" algn="ctr">
              <a:buNone/>
            </a:pPr>
            <a:r>
              <a:rPr lang="en-US" sz="1050" i="1" dirty="0">
                <a:solidFill>
                  <a:srgbClr val="4A5568"/>
                </a:solidFill>
                <a:latin typeface="Calibri" pitchFamily="34" charset="0"/>
                <a:ea typeface="Calibri" pitchFamily="34" charset="-122"/>
                <a:cs typeface="Calibri" pitchFamily="34" charset="-120"/>
              </a:rPr>
              <a:t>Who are you?</a:t>
            </a:r>
            <a:endParaRPr lang="en-US" sz="1050" dirty="0"/>
          </a:p>
        </p:txBody>
      </p:sp>
      <p:sp>
        <p:nvSpPr>
          <p:cNvPr id="11" name="Text 8"/>
          <p:cNvSpPr txBox="1"/>
          <p:nvPr/>
        </p:nvSpPr>
        <p:spPr>
          <a:xfrm>
            <a:off x="612648" y="3566160"/>
            <a:ext cx="1768998" cy="914400"/>
          </a:xfrm>
          <a:prstGeom prst="rect">
            <a:avLst/>
          </a:prstGeom>
          <a:noFill/>
          <a:ln/>
        </p:spPr>
        <p:txBody>
          <a:bodyPr wrap="square" lIns="0" tIns="0" rIns="0" bIns="0" rtlCol="0" anchor="t"/>
          <a:lstStyle/>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Certificate, token, OIDC.</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Fails → 401</a:t>
            </a:r>
            <a:endParaRPr lang="en-US" sz="1000" dirty="0"/>
          </a:p>
        </p:txBody>
      </p:sp>
      <p:sp>
        <p:nvSpPr>
          <p:cNvPr id="12" name="Text 9"/>
          <p:cNvSpPr txBox="1"/>
          <p:nvPr/>
        </p:nvSpPr>
        <p:spPr>
          <a:xfrm>
            <a:off x="2491374" y="3063240"/>
            <a:ext cx="310896"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3" name="pipe-1"/>
          <p:cNvSpPr/>
          <p:nvPr/>
        </p:nvSpPr>
        <p:spPr>
          <a:xfrm>
            <a:off x="2802270" y="2103120"/>
            <a:ext cx="1988454" cy="2377440"/>
          </a:xfrm>
          <a:prstGeom prst="roundRect">
            <a:avLst>
              <a:gd name="adj" fmla="val 4599"/>
            </a:avLst>
          </a:prstGeom>
          <a:solidFill>
            <a:srgbClr val="FFFFFF"/>
          </a:solidFill>
          <a:ln w="12700">
            <a:solidFill>
              <a:srgbClr val="CFE3E2"/>
            </a:solidFill>
            <a:prstDash val="solid"/>
          </a:ln>
        </p:spPr>
        <p:txBody>
          <a:bodyPr/>
          <a:lstStyle/>
          <a:p>
            <a:endParaRPr lang="en-US"/>
          </a:p>
        </p:txBody>
      </p:sp>
      <p:sp>
        <p:nvSpPr>
          <p:cNvPr id="14" name="pn-1"/>
          <p:cNvSpPr/>
          <p:nvPr/>
        </p:nvSpPr>
        <p:spPr>
          <a:xfrm>
            <a:off x="3613617" y="2267712"/>
            <a:ext cx="365760" cy="365760"/>
          </a:xfrm>
          <a:prstGeom prst="ellipse">
            <a:avLst/>
          </a:prstGeom>
          <a:solidFill>
            <a:srgbClr val="4C3FA3"/>
          </a:solidFill>
          <a:ln w="12700">
            <a:solidFill>
              <a:srgbClr val="4C3FA3"/>
            </a:solidFill>
            <a:prstDash val="solid"/>
          </a:ln>
        </p:spPr>
        <p:txBody>
          <a:bodyPr/>
          <a:lstStyle/>
          <a:p>
            <a:endParaRPr lang="en-US"/>
          </a:p>
        </p:txBody>
      </p:sp>
      <p:sp>
        <p:nvSpPr>
          <p:cNvPr id="15" name="Text 12"/>
          <p:cNvSpPr txBox="1"/>
          <p:nvPr/>
        </p:nvSpPr>
        <p:spPr>
          <a:xfrm>
            <a:off x="3613617" y="2267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2911998" y="2706624"/>
            <a:ext cx="1768998" cy="566928"/>
          </a:xfrm>
          <a:prstGeom prst="rect">
            <a:avLst/>
          </a:prstGeom>
          <a:noFill/>
          <a:ln/>
        </p:spPr>
        <p:txBody>
          <a:bodyPr wrap="square" lIns="0" tIns="0" rIns="0" bIns="0" rtlCol="0" anchor="ctr"/>
          <a:lstStyle/>
          <a:p>
            <a:pPr marL="0" indent="0" algn="ctr">
              <a:buNone/>
            </a:pPr>
            <a:r>
              <a:rPr lang="en-US" sz="1300" b="1" dirty="0">
                <a:solidFill>
                  <a:srgbClr val="1B1537"/>
                </a:solidFill>
                <a:latin typeface="Arvo" pitchFamily="34" charset="0"/>
                <a:ea typeface="Arvo" pitchFamily="34" charset="-122"/>
                <a:cs typeface="Arvo" pitchFamily="34" charset="-120"/>
              </a:rPr>
              <a:t>Authorization</a:t>
            </a:r>
            <a:endParaRPr lang="en-US" sz="1300" dirty="0"/>
          </a:p>
        </p:txBody>
      </p:sp>
      <p:sp>
        <p:nvSpPr>
          <p:cNvPr id="17" name="Text 14"/>
          <p:cNvSpPr txBox="1"/>
          <p:nvPr/>
        </p:nvSpPr>
        <p:spPr>
          <a:xfrm>
            <a:off x="2911998" y="3291840"/>
            <a:ext cx="1768998" cy="237744"/>
          </a:xfrm>
          <a:prstGeom prst="rect">
            <a:avLst/>
          </a:prstGeom>
          <a:noFill/>
          <a:ln/>
        </p:spPr>
        <p:txBody>
          <a:bodyPr wrap="square" lIns="0" tIns="0" rIns="0" bIns="0" rtlCol="0" anchor="ctr"/>
          <a:lstStyle/>
          <a:p>
            <a:pPr marL="0" indent="0" algn="ctr">
              <a:buNone/>
            </a:pPr>
            <a:r>
              <a:rPr lang="en-US" sz="1050" i="1" dirty="0">
                <a:solidFill>
                  <a:srgbClr val="4C3FA3"/>
                </a:solidFill>
                <a:latin typeface="Calibri" pitchFamily="34" charset="0"/>
                <a:ea typeface="Calibri" pitchFamily="34" charset="-122"/>
                <a:cs typeface="Calibri" pitchFamily="34" charset="-120"/>
              </a:rPr>
              <a:t>May you?</a:t>
            </a:r>
            <a:endParaRPr lang="en-US" sz="1050" dirty="0"/>
          </a:p>
        </p:txBody>
      </p:sp>
      <p:sp>
        <p:nvSpPr>
          <p:cNvPr id="18" name="Text 15"/>
          <p:cNvSpPr txBox="1"/>
          <p:nvPr/>
        </p:nvSpPr>
        <p:spPr>
          <a:xfrm>
            <a:off x="2911998" y="3566160"/>
            <a:ext cx="1768998" cy="914400"/>
          </a:xfrm>
          <a:prstGeom prst="rect">
            <a:avLst/>
          </a:prstGeom>
          <a:noFill/>
          <a:ln/>
        </p:spPr>
        <p:txBody>
          <a:bodyPr wrap="square" lIns="0" tIns="0" rIns="0" bIns="0" rtlCol="0" anchor="t"/>
          <a:lstStyle/>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RBAC. Verb + resource</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 namespace.</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Fails → 403</a:t>
            </a:r>
            <a:endParaRPr lang="en-US" sz="1000" dirty="0"/>
          </a:p>
        </p:txBody>
      </p:sp>
      <p:sp>
        <p:nvSpPr>
          <p:cNvPr id="19" name="Text 16"/>
          <p:cNvSpPr txBox="1"/>
          <p:nvPr/>
        </p:nvSpPr>
        <p:spPr>
          <a:xfrm>
            <a:off x="4790724" y="3063240"/>
            <a:ext cx="310896"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0" name="pipe-2"/>
          <p:cNvSpPr/>
          <p:nvPr/>
        </p:nvSpPr>
        <p:spPr>
          <a:xfrm>
            <a:off x="5101620" y="2103120"/>
            <a:ext cx="1988454" cy="2377440"/>
          </a:xfrm>
          <a:prstGeom prst="roundRect">
            <a:avLst>
              <a:gd name="adj" fmla="val 4599"/>
            </a:avLst>
          </a:prstGeom>
          <a:solidFill>
            <a:srgbClr val="FFFFFF"/>
          </a:solidFill>
          <a:ln w="12700">
            <a:solidFill>
              <a:srgbClr val="CFE3E2"/>
            </a:solidFill>
            <a:prstDash val="solid"/>
          </a:ln>
        </p:spPr>
        <p:txBody>
          <a:bodyPr/>
          <a:lstStyle/>
          <a:p>
            <a:endParaRPr lang="en-US"/>
          </a:p>
        </p:txBody>
      </p:sp>
      <p:sp>
        <p:nvSpPr>
          <p:cNvPr id="21" name="pn-2"/>
          <p:cNvSpPr/>
          <p:nvPr/>
        </p:nvSpPr>
        <p:spPr>
          <a:xfrm>
            <a:off x="5912968" y="2267712"/>
            <a:ext cx="365760" cy="365760"/>
          </a:xfrm>
          <a:prstGeom prst="ellipse">
            <a:avLst/>
          </a:prstGeom>
          <a:solidFill>
            <a:srgbClr val="9A5B0C"/>
          </a:solidFill>
          <a:ln w="12700">
            <a:solidFill>
              <a:srgbClr val="9A5B0C"/>
            </a:solidFill>
            <a:prstDash val="solid"/>
          </a:ln>
        </p:spPr>
        <p:txBody>
          <a:bodyPr/>
          <a:lstStyle/>
          <a:p>
            <a:endParaRPr lang="en-US"/>
          </a:p>
        </p:txBody>
      </p:sp>
      <p:sp>
        <p:nvSpPr>
          <p:cNvPr id="22" name="Text 19"/>
          <p:cNvSpPr txBox="1"/>
          <p:nvPr/>
        </p:nvSpPr>
        <p:spPr>
          <a:xfrm>
            <a:off x="5912968" y="2267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0"/>
          <p:cNvSpPr txBox="1"/>
          <p:nvPr/>
        </p:nvSpPr>
        <p:spPr>
          <a:xfrm>
            <a:off x="5211348" y="2706624"/>
            <a:ext cx="1768998" cy="566928"/>
          </a:xfrm>
          <a:prstGeom prst="rect">
            <a:avLst/>
          </a:prstGeom>
          <a:noFill/>
          <a:ln/>
        </p:spPr>
        <p:txBody>
          <a:bodyPr wrap="square" lIns="0" tIns="0" rIns="0" bIns="0" rtlCol="0" anchor="ctr"/>
          <a:lstStyle/>
          <a:p>
            <a:pPr marL="0" indent="0" algn="ctr">
              <a:buNone/>
            </a:pPr>
            <a:r>
              <a:rPr lang="en-US" sz="1300" b="1" dirty="0">
                <a:solidFill>
                  <a:srgbClr val="1B1537"/>
                </a:solidFill>
                <a:latin typeface="Arvo" pitchFamily="34" charset="0"/>
                <a:ea typeface="Arvo" pitchFamily="34" charset="-122"/>
                <a:cs typeface="Arvo" pitchFamily="34" charset="-120"/>
              </a:rPr>
              <a:t>Mutating</a:t>
            </a:r>
            <a:endParaRPr lang="en-US" sz="1300" dirty="0"/>
          </a:p>
          <a:p>
            <a:pPr marL="0" indent="0" algn="ctr">
              <a:buNone/>
            </a:pPr>
            <a:r>
              <a:rPr lang="en-US" sz="1300" b="1" dirty="0">
                <a:solidFill>
                  <a:srgbClr val="1B1537"/>
                </a:solidFill>
                <a:latin typeface="Arvo" pitchFamily="34" charset="0"/>
                <a:ea typeface="Arvo" pitchFamily="34" charset="-122"/>
                <a:cs typeface="Arvo" pitchFamily="34" charset="-120"/>
              </a:rPr>
              <a:t>admission</a:t>
            </a:r>
            <a:endParaRPr lang="en-US" sz="1300" dirty="0"/>
          </a:p>
        </p:txBody>
      </p:sp>
      <p:sp>
        <p:nvSpPr>
          <p:cNvPr id="24" name="Text 21"/>
          <p:cNvSpPr txBox="1"/>
          <p:nvPr/>
        </p:nvSpPr>
        <p:spPr>
          <a:xfrm>
            <a:off x="5211348" y="3291840"/>
            <a:ext cx="1768998" cy="237744"/>
          </a:xfrm>
          <a:prstGeom prst="rect">
            <a:avLst/>
          </a:prstGeom>
          <a:noFill/>
          <a:ln/>
        </p:spPr>
        <p:txBody>
          <a:bodyPr wrap="square" lIns="0" tIns="0" rIns="0" bIns="0" rtlCol="0" anchor="ctr"/>
          <a:lstStyle/>
          <a:p>
            <a:pPr marL="0" indent="0" algn="ctr">
              <a:buNone/>
            </a:pPr>
            <a:r>
              <a:rPr lang="en-US" sz="1050" i="1" dirty="0">
                <a:solidFill>
                  <a:srgbClr val="9A5B0C"/>
                </a:solidFill>
                <a:latin typeface="Calibri" pitchFamily="34" charset="0"/>
                <a:ea typeface="Calibri" pitchFamily="34" charset="-122"/>
                <a:cs typeface="Calibri" pitchFamily="34" charset="-120"/>
              </a:rPr>
              <a:t>Change it</a:t>
            </a:r>
            <a:endParaRPr lang="en-US" sz="1050" dirty="0"/>
          </a:p>
        </p:txBody>
      </p:sp>
      <p:sp>
        <p:nvSpPr>
          <p:cNvPr id="25" name="Text 22"/>
          <p:cNvSpPr txBox="1"/>
          <p:nvPr/>
        </p:nvSpPr>
        <p:spPr>
          <a:xfrm>
            <a:off x="5211348" y="3566160"/>
            <a:ext cx="1768998" cy="914400"/>
          </a:xfrm>
          <a:prstGeom prst="rect">
            <a:avLst/>
          </a:prstGeom>
          <a:noFill/>
          <a:ln/>
        </p:spPr>
        <p:txBody>
          <a:bodyPr wrap="square" lIns="0" tIns="0" rIns="0" bIns="0" rtlCol="0" anchor="t"/>
          <a:lstStyle/>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Webhooks that rewrite</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the object. Sidecars,</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defaults.</a:t>
            </a:r>
            <a:endParaRPr lang="en-US" sz="1000" dirty="0"/>
          </a:p>
        </p:txBody>
      </p:sp>
      <p:sp>
        <p:nvSpPr>
          <p:cNvPr id="26" name="Text 23"/>
          <p:cNvSpPr txBox="1"/>
          <p:nvPr/>
        </p:nvSpPr>
        <p:spPr>
          <a:xfrm>
            <a:off x="7090075" y="3063240"/>
            <a:ext cx="310896"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7" name="pipe-3"/>
          <p:cNvSpPr/>
          <p:nvPr/>
        </p:nvSpPr>
        <p:spPr>
          <a:xfrm>
            <a:off x="7400971" y="2103120"/>
            <a:ext cx="1988454" cy="2377440"/>
          </a:xfrm>
          <a:prstGeom prst="roundRect">
            <a:avLst>
              <a:gd name="adj" fmla="val 4599"/>
            </a:avLst>
          </a:prstGeom>
          <a:solidFill>
            <a:srgbClr val="FFFFFF"/>
          </a:solidFill>
          <a:ln w="12700">
            <a:solidFill>
              <a:srgbClr val="B3263B"/>
            </a:solidFill>
            <a:prstDash val="solid"/>
          </a:ln>
        </p:spPr>
        <p:txBody>
          <a:bodyPr/>
          <a:lstStyle/>
          <a:p>
            <a:endParaRPr lang="en-US"/>
          </a:p>
        </p:txBody>
      </p:sp>
      <p:sp>
        <p:nvSpPr>
          <p:cNvPr id="28" name="pn-3"/>
          <p:cNvSpPr/>
          <p:nvPr/>
        </p:nvSpPr>
        <p:spPr>
          <a:xfrm>
            <a:off x="8212318" y="2267712"/>
            <a:ext cx="365760" cy="365760"/>
          </a:xfrm>
          <a:prstGeom prst="ellipse">
            <a:avLst/>
          </a:prstGeom>
          <a:solidFill>
            <a:srgbClr val="B3263B"/>
          </a:solidFill>
          <a:ln w="12700">
            <a:solidFill>
              <a:srgbClr val="B3263B"/>
            </a:solidFill>
            <a:prstDash val="solid"/>
          </a:ln>
        </p:spPr>
        <p:txBody>
          <a:bodyPr/>
          <a:lstStyle/>
          <a:p>
            <a:endParaRPr lang="en-US"/>
          </a:p>
        </p:txBody>
      </p:sp>
      <p:sp>
        <p:nvSpPr>
          <p:cNvPr id="29" name="Text 26"/>
          <p:cNvSpPr txBox="1"/>
          <p:nvPr/>
        </p:nvSpPr>
        <p:spPr>
          <a:xfrm>
            <a:off x="8212318" y="2267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7"/>
          <p:cNvSpPr txBox="1"/>
          <p:nvPr/>
        </p:nvSpPr>
        <p:spPr>
          <a:xfrm>
            <a:off x="7510699" y="2706624"/>
            <a:ext cx="1768998" cy="566928"/>
          </a:xfrm>
          <a:prstGeom prst="rect">
            <a:avLst/>
          </a:prstGeom>
          <a:noFill/>
          <a:ln/>
        </p:spPr>
        <p:txBody>
          <a:bodyPr wrap="square" lIns="0" tIns="0" rIns="0" bIns="0" rtlCol="0" anchor="ctr"/>
          <a:lstStyle/>
          <a:p>
            <a:pPr marL="0" indent="0" algn="ctr">
              <a:buNone/>
            </a:pPr>
            <a:r>
              <a:rPr lang="en-US" sz="1300" b="1" dirty="0">
                <a:solidFill>
                  <a:srgbClr val="B3263B"/>
                </a:solidFill>
                <a:latin typeface="Arvo" pitchFamily="34" charset="0"/>
                <a:ea typeface="Arvo" pitchFamily="34" charset="-122"/>
                <a:cs typeface="Arvo" pitchFamily="34" charset="-120"/>
              </a:rPr>
              <a:t>Validating</a:t>
            </a:r>
            <a:endParaRPr lang="en-US" sz="1300" dirty="0"/>
          </a:p>
          <a:p>
            <a:pPr marL="0" indent="0" algn="ctr">
              <a:buNone/>
            </a:pPr>
            <a:r>
              <a:rPr lang="en-US" sz="1300" b="1" dirty="0">
                <a:solidFill>
                  <a:srgbClr val="B3263B"/>
                </a:solidFill>
                <a:latin typeface="Arvo" pitchFamily="34" charset="0"/>
                <a:ea typeface="Arvo" pitchFamily="34" charset="-122"/>
                <a:cs typeface="Arvo" pitchFamily="34" charset="-120"/>
              </a:rPr>
              <a:t>admission</a:t>
            </a:r>
            <a:endParaRPr lang="en-US" sz="1300" dirty="0"/>
          </a:p>
        </p:txBody>
      </p:sp>
      <p:sp>
        <p:nvSpPr>
          <p:cNvPr id="31" name="Text 28"/>
          <p:cNvSpPr txBox="1"/>
          <p:nvPr/>
        </p:nvSpPr>
        <p:spPr>
          <a:xfrm>
            <a:off x="7510699" y="3291840"/>
            <a:ext cx="1768998" cy="237744"/>
          </a:xfrm>
          <a:prstGeom prst="rect">
            <a:avLst/>
          </a:prstGeom>
          <a:noFill/>
          <a:ln/>
        </p:spPr>
        <p:txBody>
          <a:bodyPr wrap="square" lIns="0" tIns="0" rIns="0" bIns="0" rtlCol="0" anchor="ctr"/>
          <a:lstStyle/>
          <a:p>
            <a:pPr marL="0" indent="0" algn="ctr">
              <a:buNone/>
            </a:pPr>
            <a:r>
              <a:rPr lang="en-US" sz="1050" i="1" dirty="0">
                <a:solidFill>
                  <a:srgbClr val="B3263B"/>
                </a:solidFill>
                <a:latin typeface="Calibri" pitchFamily="34" charset="0"/>
                <a:ea typeface="Calibri" pitchFamily="34" charset="-122"/>
                <a:cs typeface="Calibri" pitchFamily="34" charset="-120"/>
              </a:rPr>
              <a:t>Allow or deny</a:t>
            </a:r>
            <a:endParaRPr lang="en-US" sz="1050" dirty="0"/>
          </a:p>
        </p:txBody>
      </p:sp>
      <p:sp>
        <p:nvSpPr>
          <p:cNvPr id="32" name="Text 29"/>
          <p:cNvSpPr txBox="1"/>
          <p:nvPr/>
        </p:nvSpPr>
        <p:spPr>
          <a:xfrm>
            <a:off x="7510699" y="3566160"/>
            <a:ext cx="1768998" cy="914400"/>
          </a:xfrm>
          <a:prstGeom prst="rect">
            <a:avLst/>
          </a:prstGeom>
          <a:noFill/>
          <a:ln/>
        </p:spPr>
        <p:txBody>
          <a:bodyPr wrap="square" lIns="0" tIns="0" rIns="0" bIns="0" rtlCol="0" anchor="t"/>
          <a:lstStyle/>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Webhooks that judge the</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final object. Kubewarden</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lives here.</a:t>
            </a:r>
            <a:endParaRPr lang="en-US" sz="1000" dirty="0"/>
          </a:p>
        </p:txBody>
      </p:sp>
      <p:sp>
        <p:nvSpPr>
          <p:cNvPr id="33" name="Text 30"/>
          <p:cNvSpPr txBox="1"/>
          <p:nvPr/>
        </p:nvSpPr>
        <p:spPr>
          <a:xfrm>
            <a:off x="9389425" y="3063240"/>
            <a:ext cx="310896"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34" name="pipe-4"/>
          <p:cNvSpPr/>
          <p:nvPr/>
        </p:nvSpPr>
        <p:spPr>
          <a:xfrm>
            <a:off x="9700321" y="2103120"/>
            <a:ext cx="1988454" cy="2377440"/>
          </a:xfrm>
          <a:prstGeom prst="roundRect">
            <a:avLst>
              <a:gd name="adj" fmla="val 4599"/>
            </a:avLst>
          </a:prstGeom>
          <a:solidFill>
            <a:srgbClr val="FFFFFF"/>
          </a:solidFill>
          <a:ln w="12700">
            <a:solidFill>
              <a:srgbClr val="CFE3E2"/>
            </a:solidFill>
            <a:prstDash val="solid"/>
          </a:ln>
        </p:spPr>
        <p:txBody>
          <a:bodyPr/>
          <a:lstStyle/>
          <a:p>
            <a:endParaRPr lang="en-US"/>
          </a:p>
        </p:txBody>
      </p:sp>
      <p:sp>
        <p:nvSpPr>
          <p:cNvPr id="35" name="pn-4"/>
          <p:cNvSpPr/>
          <p:nvPr/>
        </p:nvSpPr>
        <p:spPr>
          <a:xfrm>
            <a:off x="10511668" y="2267712"/>
            <a:ext cx="365760" cy="365760"/>
          </a:xfrm>
          <a:prstGeom prst="ellipse">
            <a:avLst/>
          </a:prstGeom>
          <a:solidFill>
            <a:srgbClr val="0B4F5C"/>
          </a:solidFill>
          <a:ln w="12700">
            <a:solidFill>
              <a:srgbClr val="0B4F5C"/>
            </a:solidFill>
            <a:prstDash val="solid"/>
          </a:ln>
        </p:spPr>
        <p:txBody>
          <a:bodyPr/>
          <a:lstStyle/>
          <a:p>
            <a:endParaRPr lang="en-US"/>
          </a:p>
        </p:txBody>
      </p:sp>
      <p:sp>
        <p:nvSpPr>
          <p:cNvPr id="36" name="Text 33"/>
          <p:cNvSpPr txBox="1"/>
          <p:nvPr/>
        </p:nvSpPr>
        <p:spPr>
          <a:xfrm>
            <a:off x="10511668" y="22677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4"/>
          <p:cNvSpPr txBox="1"/>
          <p:nvPr/>
        </p:nvSpPr>
        <p:spPr>
          <a:xfrm>
            <a:off x="9810049" y="2706624"/>
            <a:ext cx="1768998" cy="566928"/>
          </a:xfrm>
          <a:prstGeom prst="rect">
            <a:avLst/>
          </a:prstGeom>
          <a:noFill/>
          <a:ln/>
        </p:spPr>
        <p:txBody>
          <a:bodyPr wrap="square" lIns="0" tIns="0" rIns="0" bIns="0" rtlCol="0" anchor="ctr"/>
          <a:lstStyle/>
          <a:p>
            <a:pPr marL="0" indent="0" algn="ctr">
              <a:buNone/>
            </a:pPr>
            <a:r>
              <a:rPr lang="en-US" sz="1300" b="1" dirty="0">
                <a:solidFill>
                  <a:srgbClr val="1B1537"/>
                </a:solidFill>
                <a:latin typeface="Arvo" pitchFamily="34" charset="0"/>
                <a:ea typeface="Arvo" pitchFamily="34" charset="-122"/>
                <a:cs typeface="Arvo" pitchFamily="34" charset="-120"/>
              </a:rPr>
              <a:t>etcd</a:t>
            </a:r>
            <a:endParaRPr lang="en-US" sz="1300" dirty="0"/>
          </a:p>
        </p:txBody>
      </p:sp>
      <p:sp>
        <p:nvSpPr>
          <p:cNvPr id="38" name="Text 35"/>
          <p:cNvSpPr txBox="1"/>
          <p:nvPr/>
        </p:nvSpPr>
        <p:spPr>
          <a:xfrm>
            <a:off x="9810049" y="3291840"/>
            <a:ext cx="1768998" cy="237744"/>
          </a:xfrm>
          <a:prstGeom prst="rect">
            <a:avLst/>
          </a:prstGeom>
          <a:noFill/>
          <a:ln/>
        </p:spPr>
        <p:txBody>
          <a:bodyPr wrap="square" lIns="0" tIns="0" rIns="0" bIns="0" rtlCol="0" anchor="ctr"/>
          <a:lstStyle/>
          <a:p>
            <a:pPr marL="0" indent="0" algn="ctr">
              <a:buNone/>
            </a:pPr>
            <a:r>
              <a:rPr lang="en-US" sz="1050" i="1" dirty="0">
                <a:solidFill>
                  <a:srgbClr val="0B4F5C"/>
                </a:solidFill>
                <a:latin typeface="Calibri" pitchFamily="34" charset="0"/>
                <a:ea typeface="Calibri" pitchFamily="34" charset="-122"/>
                <a:cs typeface="Calibri" pitchFamily="34" charset="-120"/>
              </a:rPr>
              <a:t>It is real</a:t>
            </a:r>
            <a:endParaRPr lang="en-US" sz="1050" dirty="0"/>
          </a:p>
        </p:txBody>
      </p:sp>
      <p:sp>
        <p:nvSpPr>
          <p:cNvPr id="39" name="Text 36"/>
          <p:cNvSpPr txBox="1"/>
          <p:nvPr/>
        </p:nvSpPr>
        <p:spPr>
          <a:xfrm>
            <a:off x="9810049" y="3566160"/>
            <a:ext cx="1768998" cy="914400"/>
          </a:xfrm>
          <a:prstGeom prst="rect">
            <a:avLst/>
          </a:prstGeom>
          <a:noFill/>
          <a:ln/>
        </p:spPr>
        <p:txBody>
          <a:bodyPr wrap="square" lIns="0" tIns="0" rIns="0" bIns="0" rtlCol="0" anchor="t"/>
          <a:lstStyle/>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Written down. Scheduler</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and kubelet start</a:t>
            </a:r>
            <a:endParaRPr lang="en-US" sz="1000" dirty="0"/>
          </a:p>
          <a:p>
            <a:pPr marL="0" indent="0" algn="ctr">
              <a:lnSpc>
                <a:spcPct val="110000"/>
              </a:lnSpc>
              <a:buNone/>
            </a:pPr>
            <a:r>
              <a:rPr lang="en-US" sz="1000" dirty="0">
                <a:solidFill>
                  <a:srgbClr val="1F2937"/>
                </a:solidFill>
                <a:latin typeface="Calibri" pitchFamily="34" charset="0"/>
                <a:ea typeface="Calibri" pitchFamily="34" charset="-122"/>
                <a:cs typeface="Calibri" pitchFamily="34" charset="-120"/>
              </a:rPr>
              <a:t>acting on it.</a:t>
            </a:r>
            <a:endParaRPr lang="en-US" sz="1000" dirty="0"/>
          </a:p>
        </p:txBody>
      </p:sp>
      <p:sp>
        <p:nvSpPr>
          <p:cNvPr id="40" name="keynote"/>
          <p:cNvSpPr/>
          <p:nvPr/>
        </p:nvSpPr>
        <p:spPr>
          <a:xfrm>
            <a:off x="502920" y="4892040"/>
            <a:ext cx="11185855" cy="713232"/>
          </a:xfrm>
          <a:prstGeom prst="roundRect">
            <a:avLst>
              <a:gd name="adj" fmla="val 12821"/>
            </a:avLst>
          </a:prstGeom>
          <a:solidFill>
            <a:srgbClr val="FBEAEC"/>
          </a:solidFill>
          <a:ln w="12700">
            <a:solidFill>
              <a:srgbClr val="E8B9C0"/>
            </a:solidFill>
            <a:prstDash val="solid"/>
          </a:ln>
        </p:spPr>
        <p:txBody>
          <a:bodyPr/>
          <a:lstStyle/>
          <a:p>
            <a:endParaRPr lang="en-US"/>
          </a:p>
        </p:txBody>
      </p:sp>
      <p:sp>
        <p:nvSpPr>
          <p:cNvPr id="41" name="Text 38"/>
          <p:cNvSpPr txBox="1"/>
          <p:nvPr/>
        </p:nvSpPr>
        <p:spPr>
          <a:xfrm>
            <a:off x="731520" y="4892040"/>
            <a:ext cx="10728655" cy="713232"/>
          </a:xfrm>
          <a:prstGeom prst="rect">
            <a:avLst/>
          </a:prstGeom>
          <a:noFill/>
          <a:ln/>
        </p:spPr>
        <p:txBody>
          <a:bodyPr wrap="square" lIns="0" tIns="0" rIns="0" bIns="0" rtlCol="0" anchor="ctr"/>
          <a:lstStyle/>
          <a:p>
            <a:pPr marL="0" indent="0">
              <a:buNone/>
            </a:pPr>
            <a:r>
              <a:rPr lang="en-US" sz="1250" b="1" dirty="0">
                <a:solidFill>
                  <a:srgbClr val="B3263B"/>
                </a:solidFill>
                <a:latin typeface="Calibri" pitchFamily="34" charset="0"/>
                <a:ea typeface="Calibri" pitchFamily="34" charset="-122"/>
                <a:cs typeface="Calibri" pitchFamily="34" charset="-120"/>
              </a:rPr>
              <a:t>RBAC answers WHO may act.  Admission answers WHAT may exist.  </a:t>
            </a:r>
            <a:r>
              <a:rPr lang="en-US" sz="1250" dirty="0">
                <a:solidFill>
                  <a:srgbClr val="1F2937"/>
                </a:solidFill>
                <a:latin typeface="Calibri" pitchFamily="34" charset="0"/>
                <a:ea typeface="Calibri" pitchFamily="34" charset="-122"/>
                <a:cs typeface="Calibri" pitchFamily="34" charset="-120"/>
              </a:rPr>
              <a:t>A developer with an entirely legitimate “create pods in my namespace” grant can still create a pod that owns the node. RBAC never looks inside the pod spec.</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ATTACK · STEP 6</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Ask for a privileged pod. Nobody says no</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You have permission to create pods in your own namespace. That is all this takes on a default cluster.</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798068"/>
          </a:xfrm>
          <a:prstGeom prst="roundRect">
            <a:avLst>
              <a:gd name="adj" fmla="val 8020"/>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523748"/>
          </a:xfrm>
          <a:prstGeom prst="rect">
            <a:avLst/>
          </a:prstGeom>
          <a:noFill/>
          <a:ln/>
        </p:spPr>
        <p:txBody>
          <a:bodyPr wrap="square" lIns="0" tIns="0" rIns="0" bIns="0" rtlCol="0" anchor="t"/>
          <a:lstStyle/>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apply -f policies/01-escape-pod.yaml</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get pod -n team-alpha</a:t>
            </a:r>
            <a:endParaRPr lang="en-US" sz="1300" dirty="0"/>
          </a:p>
        </p:txBody>
      </p:sp>
      <p:sp>
        <p:nvSpPr>
          <p:cNvPr id="9" name="pill-bg"/>
          <p:cNvSpPr/>
          <p:nvPr/>
        </p:nvSpPr>
        <p:spPr>
          <a:xfrm>
            <a:off x="502920" y="3120644"/>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120644"/>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3541268"/>
            <a:ext cx="6903720" cy="1122680"/>
          </a:xfrm>
          <a:prstGeom prst="roundRect">
            <a:avLst>
              <a:gd name="adj" fmla="val 5701"/>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3678428"/>
            <a:ext cx="6574536" cy="848360"/>
          </a:xfrm>
          <a:prstGeom prst="rect">
            <a:avLst/>
          </a:prstGeom>
          <a:noFill/>
          <a:ln/>
        </p:spPr>
        <p:txBody>
          <a:bodyPr wrap="square" lIns="0" tIns="0" rIns="0" bIns="0" rtlCol="0" anchor="t"/>
          <a:lstStyle/>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pod/escape created</a:t>
            </a:r>
            <a:endParaRPr lang="en-US" sz="1100" dirty="0"/>
          </a:p>
          <a:p>
            <a:pPr marL="0" indent="0">
              <a:lnSpc>
                <a:spcPct val="112000"/>
              </a:lnSpc>
              <a:buNone/>
            </a:pP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NAME     READY   STATUS    RESTARTS   AGE</a:t>
            </a:r>
            <a:endParaRPr lang="en-US" sz="1100" dirty="0"/>
          </a:p>
          <a:p>
            <a:pPr marL="0" indent="0">
              <a:lnSpc>
                <a:spcPct val="112000"/>
              </a:lnSpc>
              <a:buNone/>
            </a:pPr>
            <a:r>
              <a:rPr lang="en-US" sz="1100" dirty="0">
                <a:solidFill>
                  <a:srgbClr val="E9EDF5"/>
                </a:solidFill>
                <a:latin typeface="Roboto Mono" pitchFamily="34" charset="0"/>
                <a:ea typeface="Roboto Mono" pitchFamily="34" charset="-122"/>
                <a:cs typeface="Roboto Mono" pitchFamily="34" charset="-120"/>
              </a:rPr>
              <a:t>escape   1/1     Running   0          8s</a:t>
            </a:r>
            <a:endParaRPr lang="en-US" sz="1100" dirty="0"/>
          </a:p>
        </p:txBody>
      </p:sp>
      <p:sp>
        <p:nvSpPr>
          <p:cNvPr id="13" name="pill-bg"/>
          <p:cNvSpPr/>
          <p:nvPr/>
        </p:nvSpPr>
        <p:spPr>
          <a:xfrm>
            <a:off x="7680960" y="1664208"/>
            <a:ext cx="2353666"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4" name="pill-text"/>
          <p:cNvSpPr txBox="1"/>
          <p:nvPr/>
        </p:nvSpPr>
        <p:spPr>
          <a:xfrm>
            <a:off x="7680960" y="1664208"/>
            <a:ext cx="2353666"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policies/01-escape-pod.yaml</a:t>
            </a:r>
            <a:endParaRPr lang="en-US" sz="1150" dirty="0"/>
          </a:p>
        </p:txBody>
      </p:sp>
      <p:sp>
        <p:nvSpPr>
          <p:cNvPr id="15" name="code-bg"/>
          <p:cNvSpPr/>
          <p:nvPr/>
        </p:nvSpPr>
        <p:spPr>
          <a:xfrm>
            <a:off x="7680960" y="2084832"/>
            <a:ext cx="4007815" cy="3794760"/>
          </a:xfrm>
          <a:prstGeom prst="roundRect">
            <a:avLst>
              <a:gd name="adj" fmla="val 1687"/>
            </a:avLst>
          </a:prstGeom>
          <a:solidFill>
            <a:srgbClr val="241E4E"/>
          </a:solidFill>
          <a:ln w="12700">
            <a:solidFill>
              <a:srgbClr val="241E4E"/>
            </a:solidFill>
            <a:prstDash val="solid"/>
          </a:ln>
        </p:spPr>
        <p:txBody>
          <a:bodyPr/>
          <a:lstStyle/>
          <a:p>
            <a:endParaRPr lang="en-US"/>
          </a:p>
        </p:txBody>
      </p:sp>
      <p:sp>
        <p:nvSpPr>
          <p:cNvPr id="16" name="code-text"/>
          <p:cNvSpPr txBox="1"/>
          <p:nvPr/>
        </p:nvSpPr>
        <p:spPr>
          <a:xfrm>
            <a:off x="7845552" y="2221992"/>
            <a:ext cx="3678631" cy="3520440"/>
          </a:xfrm>
          <a:prstGeom prst="rect">
            <a:avLst/>
          </a:prstGeom>
          <a:noFill/>
          <a:ln/>
        </p:spPr>
        <p:txBody>
          <a:bodyPr wrap="square" lIns="0" tIns="0" rIns="0" bIns="0" rtlCol="0" anchor="t"/>
          <a:lstStyle/>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apiVersion: v1</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kind: Pod</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metadata:</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name: escape</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namespace: team-alpha</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spec:</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hostPID: true          # see host processes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containers: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 name: shell</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image: alpine:3.20</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command: ["sleep", "infinity"]</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securityContext:</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privileged: true   # all capabilities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volumeMounts: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 name: host</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mountPath: /host</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volumes: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 name: host</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hostPath:</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path: /            # the node's root disk</a:t>
            </a:r>
            <a:endParaRPr lang="en-US" sz="950" dirty="0"/>
          </a:p>
        </p:txBody>
      </p:sp>
      <p:sp>
        <p:nvSpPr>
          <p:cNvPr id="17"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18"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The pod is Running. Nothing warned you. Read the three commented lines in the YAML before you move 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ATTACK · STEP 7</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Walk out of the container onto the node</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chroot into the mounted host filesystem and you are no longer in a container. You are root on the machine.</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686242"/>
          </a:xfrm>
          <a:prstGeom prst="roundRect">
            <a:avLst>
              <a:gd name="adj" fmla="val 379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411923"/>
          </a:xfrm>
          <a:prstGeom prst="rect">
            <a:avLst/>
          </a:prstGeom>
          <a:noFill/>
          <a:ln/>
        </p:spPr>
        <p:txBody>
          <a:bodyPr wrap="square" lIns="0" tIns="0" rIns="0" bIns="0" rtlCol="0" anchor="t"/>
          <a:lstStyle/>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kubectl exec -it -n team-alpha escape -- chroot /host sh</a:t>
            </a:r>
            <a:endParaRPr lang="en-US" sz="1075" dirty="0"/>
          </a:p>
          <a:p>
            <a:pPr marL="0" indent="0">
              <a:lnSpc>
                <a:spcPct val="112000"/>
              </a:lnSpc>
              <a:buNone/>
            </a:pP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 you are now a root shell ON THE NODE</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id</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cat /etc/hostname</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ls /var/lib/kubelet/pods | head -5</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exit</a:t>
            </a:r>
            <a:endParaRPr lang="en-US" sz="1075" dirty="0"/>
          </a:p>
        </p:txBody>
      </p:sp>
      <p:sp>
        <p:nvSpPr>
          <p:cNvPr id="9" name="pill-bg"/>
          <p:cNvSpPr/>
          <p:nvPr/>
        </p:nvSpPr>
        <p:spPr>
          <a:xfrm>
            <a:off x="502920" y="4008818"/>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4008818"/>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429442"/>
            <a:ext cx="6903720" cy="1330071"/>
          </a:xfrm>
          <a:prstGeom prst="roundRect">
            <a:avLst>
              <a:gd name="adj" fmla="val 4812"/>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566602"/>
            <a:ext cx="6574536" cy="1055751"/>
          </a:xfrm>
          <a:prstGeom prst="rect">
            <a:avLst/>
          </a:prstGeom>
          <a:noFill/>
          <a:ln/>
        </p:spPr>
        <p:txBody>
          <a:bodyPr wrap="square" lIns="0" tIns="0" rIns="0" bIns="0" rtlCol="0" anchor="t"/>
          <a:lstStyle/>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uid=0(root) gid=0(root) groups=0(root)</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k8s-security</a:t>
            </a:r>
            <a:endParaRPr lang="en-US" sz="925" dirty="0"/>
          </a:p>
          <a:p>
            <a:pPr marL="0" indent="0">
              <a:lnSpc>
                <a:spcPct val="112000"/>
              </a:lnSpc>
              <a:buNone/>
            </a:pP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0a4f...  2b91...  7c3e...  9d02...  e55a...</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every pod on this node, including team-bravo's,</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and every secret their kubelet mounted for them</a:t>
            </a:r>
            <a:endParaRPr lang="en-US" sz="925"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828800" cy="310896"/>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5" name="pill-text"/>
          <p:cNvSpPr txBox="1"/>
          <p:nvPr/>
        </p:nvSpPr>
        <p:spPr>
          <a:xfrm>
            <a:off x="7863840" y="1847088"/>
            <a:ext cx="182880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now control</a:t>
            </a:r>
            <a:endParaRPr lang="en-US" sz="1150" dirty="0"/>
          </a:p>
        </p:txBody>
      </p:sp>
      <p:sp>
        <p:nvSpPr>
          <p:cNvPr id="16" name="sdot-0"/>
          <p:cNvSpPr/>
          <p:nvPr/>
        </p:nvSpPr>
        <p:spPr>
          <a:xfrm>
            <a:off x="7882128" y="2414016"/>
            <a:ext cx="128016" cy="128016"/>
          </a:xfrm>
          <a:prstGeom prst="ellipse">
            <a:avLst/>
          </a:prstGeom>
          <a:solidFill>
            <a:srgbClr val="B3263B"/>
          </a:solidFill>
          <a:ln w="12700">
            <a:solidFill>
              <a:srgbClr val="B3263B"/>
            </a:solidFill>
            <a:prstDash val="solid"/>
          </a:ln>
        </p:spPr>
        <p:txBody>
          <a:bodyPr/>
          <a:lstStyle/>
          <a:p>
            <a:endParaRPr lang="en-US"/>
          </a:p>
        </p:txBody>
      </p:sp>
      <p:sp>
        <p:nvSpPr>
          <p:cNvPr id="17" name="sitem-0"/>
          <p:cNvSpPr txBox="1"/>
          <p:nvPr/>
        </p:nvSpPr>
        <p:spPr>
          <a:xfrm>
            <a:off x="8101584" y="2340864"/>
            <a:ext cx="3386023" cy="623621"/>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The node's filesystem.  </a:t>
            </a:r>
            <a:r>
              <a:rPr lang="en-US" sz="1000" dirty="0">
                <a:solidFill>
                  <a:srgbClr val="1F2937"/>
                </a:solidFill>
                <a:latin typeface="Calibri" pitchFamily="34" charset="0"/>
                <a:ea typeface="Calibri" pitchFamily="34" charset="-122"/>
                <a:cs typeface="Calibri" pitchFamily="34" charset="-120"/>
              </a:rPr>
              <a:t>Every file, as root. /etc/shadow, SSH keys, everything.</a:t>
            </a:r>
            <a:endParaRPr lang="en-US" sz="1000" dirty="0"/>
          </a:p>
        </p:txBody>
      </p:sp>
      <p:sp>
        <p:nvSpPr>
          <p:cNvPr id="18" name="sdot-1"/>
          <p:cNvSpPr/>
          <p:nvPr/>
        </p:nvSpPr>
        <p:spPr>
          <a:xfrm>
            <a:off x="7882128" y="3092501"/>
            <a:ext cx="128016" cy="128016"/>
          </a:xfrm>
          <a:prstGeom prst="ellipse">
            <a:avLst/>
          </a:prstGeom>
          <a:solidFill>
            <a:srgbClr val="B3263B"/>
          </a:solidFill>
          <a:ln w="12700">
            <a:solidFill>
              <a:srgbClr val="B3263B"/>
            </a:solidFill>
            <a:prstDash val="solid"/>
          </a:ln>
        </p:spPr>
        <p:txBody>
          <a:bodyPr/>
          <a:lstStyle/>
          <a:p>
            <a:endParaRPr lang="en-US"/>
          </a:p>
        </p:txBody>
      </p:sp>
      <p:sp>
        <p:nvSpPr>
          <p:cNvPr id="19" name="sitem-1"/>
          <p:cNvSpPr txBox="1"/>
          <p:nvPr/>
        </p:nvSpPr>
        <p:spPr>
          <a:xfrm>
            <a:off x="8101584" y="3019349"/>
            <a:ext cx="3386023" cy="623621"/>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Every other tenant's pods.  </a:t>
            </a:r>
            <a:r>
              <a:rPr lang="en-US" sz="1000" dirty="0">
                <a:solidFill>
                  <a:srgbClr val="1F2937"/>
                </a:solidFill>
                <a:latin typeface="Calibri" pitchFamily="34" charset="0"/>
                <a:ea typeface="Calibri" pitchFamily="34" charset="-122"/>
                <a:cs typeface="Calibri" pitchFamily="34" charset="-120"/>
              </a:rPr>
              <a:t>Their mounted secrets sit in /var/lib/kubelet/pods in plaintext. Namespaces are irrelevant from here.</a:t>
            </a:r>
            <a:endParaRPr lang="en-US" sz="1000" dirty="0"/>
          </a:p>
        </p:txBody>
      </p:sp>
      <p:sp>
        <p:nvSpPr>
          <p:cNvPr id="20" name="sdot-2"/>
          <p:cNvSpPr/>
          <p:nvPr/>
        </p:nvSpPr>
        <p:spPr>
          <a:xfrm>
            <a:off x="7882128" y="3770986"/>
            <a:ext cx="128016" cy="128016"/>
          </a:xfrm>
          <a:prstGeom prst="ellipse">
            <a:avLst/>
          </a:prstGeom>
          <a:solidFill>
            <a:srgbClr val="B3263B"/>
          </a:solidFill>
          <a:ln w="12700">
            <a:solidFill>
              <a:srgbClr val="B3263B"/>
            </a:solidFill>
            <a:prstDash val="solid"/>
          </a:ln>
        </p:spPr>
        <p:txBody>
          <a:bodyPr/>
          <a:lstStyle/>
          <a:p>
            <a:endParaRPr lang="en-US"/>
          </a:p>
        </p:txBody>
      </p:sp>
      <p:sp>
        <p:nvSpPr>
          <p:cNvPr id="21" name="sitem-2"/>
          <p:cNvSpPr txBox="1"/>
          <p:nvPr/>
        </p:nvSpPr>
        <p:spPr>
          <a:xfrm>
            <a:off x="8101584" y="3697834"/>
            <a:ext cx="3386023" cy="623621"/>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The kubelet's credentials.  </a:t>
            </a:r>
            <a:r>
              <a:rPr lang="en-US" sz="1000" dirty="0">
                <a:solidFill>
                  <a:srgbClr val="1F2937"/>
                </a:solidFill>
                <a:latin typeface="Calibri" pitchFamily="34" charset="0"/>
                <a:ea typeface="Calibri" pitchFamily="34" charset="-122"/>
                <a:cs typeface="Calibri" pitchFamily="34" charset="-120"/>
              </a:rPr>
              <a:t>Which can often be used to talk to the API server as the node itself.</a:t>
            </a:r>
            <a:endParaRPr lang="en-US" sz="1000" dirty="0"/>
          </a:p>
        </p:txBody>
      </p:sp>
      <p:sp>
        <p:nvSpPr>
          <p:cNvPr id="22" name="sdot-3"/>
          <p:cNvSpPr/>
          <p:nvPr/>
        </p:nvSpPr>
        <p:spPr>
          <a:xfrm>
            <a:off x="7882128" y="4449470"/>
            <a:ext cx="128016" cy="128016"/>
          </a:xfrm>
          <a:prstGeom prst="ellipse">
            <a:avLst/>
          </a:prstGeom>
          <a:solidFill>
            <a:srgbClr val="B3263B"/>
          </a:solidFill>
          <a:ln w="12700">
            <a:solidFill>
              <a:srgbClr val="B3263B"/>
            </a:solidFill>
            <a:prstDash val="solid"/>
          </a:ln>
        </p:spPr>
        <p:txBody>
          <a:bodyPr/>
          <a:lstStyle/>
          <a:p>
            <a:endParaRPr lang="en-US"/>
          </a:p>
        </p:txBody>
      </p:sp>
      <p:sp>
        <p:nvSpPr>
          <p:cNvPr id="23" name="sitem-3"/>
          <p:cNvSpPr txBox="1"/>
          <p:nvPr/>
        </p:nvSpPr>
        <p:spPr>
          <a:xfrm>
            <a:off x="8101584" y="4376318"/>
            <a:ext cx="3386023" cy="623621"/>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The container runtime.  </a:t>
            </a:r>
            <a:r>
              <a:rPr lang="en-US" sz="1000" dirty="0">
                <a:solidFill>
                  <a:srgbClr val="1F2937"/>
                </a:solidFill>
                <a:latin typeface="Calibri" pitchFamily="34" charset="0"/>
                <a:ea typeface="Calibri" pitchFamily="34" charset="-122"/>
                <a:cs typeface="Calibri" pitchFamily="34" charset="-120"/>
              </a:rPr>
              <a:t>Start, stop or replace any container on the machine.</a:t>
            </a:r>
            <a:endParaRPr lang="en-US" sz="1000" dirty="0"/>
          </a:p>
        </p:txBody>
      </p:sp>
      <p:sp>
        <p:nvSpPr>
          <p:cNvPr id="24" name="sdot-4"/>
          <p:cNvSpPr/>
          <p:nvPr/>
        </p:nvSpPr>
        <p:spPr>
          <a:xfrm>
            <a:off x="7882128" y="5127955"/>
            <a:ext cx="128016" cy="128016"/>
          </a:xfrm>
          <a:prstGeom prst="ellipse">
            <a:avLst/>
          </a:prstGeom>
          <a:solidFill>
            <a:srgbClr val="9A5B0C"/>
          </a:solidFill>
          <a:ln w="12700">
            <a:solidFill>
              <a:srgbClr val="9A5B0C"/>
            </a:solidFill>
            <a:prstDash val="solid"/>
          </a:ln>
        </p:spPr>
        <p:txBody>
          <a:bodyPr/>
          <a:lstStyle/>
          <a:p>
            <a:endParaRPr lang="en-US"/>
          </a:p>
        </p:txBody>
      </p:sp>
      <p:sp>
        <p:nvSpPr>
          <p:cNvPr id="25" name="sitem-4"/>
          <p:cNvSpPr txBox="1"/>
          <p:nvPr/>
        </p:nvSpPr>
        <p:spPr>
          <a:xfrm>
            <a:off x="8101584" y="5054803"/>
            <a:ext cx="3386023" cy="623621"/>
          </a:xfrm>
          <a:prstGeom prst="rect">
            <a:avLst/>
          </a:prstGeom>
          <a:noFill/>
          <a:ln/>
        </p:spPr>
        <p:txBody>
          <a:bodyPr wrap="square" lIns="0" tIns="0" rIns="0" bIns="0" rtlCol="0" anchor="t"/>
          <a:lstStyle/>
          <a:p>
            <a:pPr marL="0" indent="0">
              <a:lnSpc>
                <a:spcPct val="112000"/>
              </a:lnSpc>
              <a:buNone/>
            </a:pPr>
            <a:r>
              <a:rPr lang="en-US" sz="1000" b="1" dirty="0">
                <a:solidFill>
                  <a:srgbClr val="9A5B0C"/>
                </a:solidFill>
                <a:latin typeface="Calibri" pitchFamily="34" charset="0"/>
                <a:ea typeface="Calibri" pitchFamily="34" charset="-122"/>
                <a:cs typeface="Calibri" pitchFamily="34" charset="-120"/>
              </a:rPr>
              <a:t>Nothing stopped you.  </a:t>
            </a:r>
            <a:r>
              <a:rPr lang="en-US" sz="1000" dirty="0">
                <a:solidFill>
                  <a:srgbClr val="1F2937"/>
                </a:solidFill>
                <a:latin typeface="Calibri" pitchFamily="34" charset="0"/>
                <a:ea typeface="Calibri" pitchFamily="34" charset="-122"/>
                <a:cs typeface="Calibri" pitchFamily="34" charset="-120"/>
              </a:rPr>
              <a:t>No alert fired. The only trace is the audit log — which we will go read in section 07.</a:t>
            </a:r>
            <a:endParaRPr lang="en-US" sz="1000" dirty="0"/>
          </a:p>
        </p:txBody>
      </p:sp>
      <p:sp>
        <p:nvSpPr>
          <p:cNvPr id="26"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7"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id prints uid=0(root) and the hostname is the node, not the pod. You have escaped the container.</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POST-MORTEM</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You walked through three doors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Each one is a separate field in the pod spec. Each one is independently dangerous. Each one has a legitimate use, which is why none of them are off by default.</a:t>
            </a:r>
            <a:endParaRPr lang="en-US" sz="1300" dirty="0"/>
          </a:p>
        </p:txBody>
      </p:sp>
      <p:sp>
        <p:nvSpPr>
          <p:cNvPr id="6" name="grid-card-0"/>
          <p:cNvSpPr/>
          <p:nvPr/>
        </p:nvSpPr>
        <p:spPr>
          <a:xfrm>
            <a:off x="502920" y="1664208"/>
            <a:ext cx="3594506" cy="2743200"/>
          </a:xfrm>
          <a:prstGeom prst="roundRect">
            <a:avLst>
              <a:gd name="adj" fmla="val 3333"/>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8" name="gh-0"/>
          <p:cNvSpPr txBox="1"/>
          <p:nvPr/>
        </p:nvSpPr>
        <p:spPr>
          <a:xfrm>
            <a:off x="932688" y="1810512"/>
            <a:ext cx="2981858" cy="310896"/>
          </a:xfrm>
          <a:prstGeom prst="rect">
            <a:avLst/>
          </a:prstGeom>
          <a:noFill/>
          <a:ln/>
        </p:spPr>
        <p:txBody>
          <a:bodyPr wrap="square" lIns="0" tIns="0" rIns="0" bIns="0" rtlCol="0" anchor="t"/>
          <a:lstStyle/>
          <a:p>
            <a:pPr marL="0" indent="0">
              <a:buNone/>
            </a:pPr>
            <a:r>
              <a:rPr lang="en-US" sz="1400" b="1" dirty="0">
                <a:solidFill>
                  <a:srgbClr val="B3263B"/>
                </a:solidFill>
                <a:latin typeface="Calibri" pitchFamily="34" charset="0"/>
                <a:ea typeface="Calibri" pitchFamily="34" charset="-122"/>
                <a:cs typeface="Calibri" pitchFamily="34" charset="-120"/>
              </a:rPr>
              <a:t>privileged: true</a:t>
            </a:r>
            <a:endParaRPr lang="en-US" sz="1400" dirty="0"/>
          </a:p>
        </p:txBody>
      </p:sp>
      <p:sp>
        <p:nvSpPr>
          <p:cNvPr id="9" name="gb-0"/>
          <p:cNvSpPr txBox="1"/>
          <p:nvPr/>
        </p:nvSpPr>
        <p:spPr>
          <a:xfrm>
            <a:off x="685800" y="2176272"/>
            <a:ext cx="3228746" cy="2084832"/>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Hands the container every Linux capability and access to all host devices, and effectively disables seccomp and AppArmor.</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Legitimate use: some storage and CNI agents genuinely need it. That is why it cannot simply be removed from Kubernetes.</a:t>
            </a:r>
            <a:endParaRPr lang="en-US" sz="1100" dirty="0"/>
          </a:p>
        </p:txBody>
      </p:sp>
      <p:sp>
        <p:nvSpPr>
          <p:cNvPr id="10" name="grid-card-1"/>
          <p:cNvSpPr/>
          <p:nvPr/>
        </p:nvSpPr>
        <p:spPr>
          <a:xfrm>
            <a:off x="4298594" y="1664208"/>
            <a:ext cx="3594506" cy="2743200"/>
          </a:xfrm>
          <a:prstGeom prst="roundRect">
            <a:avLst>
              <a:gd name="adj" fmla="val 3333"/>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12" name="gh-1"/>
          <p:cNvSpPr txBox="1"/>
          <p:nvPr/>
        </p:nvSpPr>
        <p:spPr>
          <a:xfrm>
            <a:off x="4728362" y="1810512"/>
            <a:ext cx="2981858" cy="310896"/>
          </a:xfrm>
          <a:prstGeom prst="rect">
            <a:avLst/>
          </a:prstGeom>
          <a:noFill/>
          <a:ln/>
        </p:spPr>
        <p:txBody>
          <a:bodyPr wrap="square" lIns="0" tIns="0" rIns="0" bIns="0" rtlCol="0" anchor="t"/>
          <a:lstStyle/>
          <a:p>
            <a:pPr marL="0" indent="0">
              <a:buNone/>
            </a:pPr>
            <a:r>
              <a:rPr lang="en-US" sz="1400" b="1" dirty="0">
                <a:solidFill>
                  <a:srgbClr val="B3263B"/>
                </a:solidFill>
                <a:latin typeface="Calibri" pitchFamily="34" charset="0"/>
                <a:ea typeface="Calibri" pitchFamily="34" charset="-122"/>
                <a:cs typeface="Calibri" pitchFamily="34" charset="-120"/>
              </a:rPr>
              <a:t>hostPath: /</a:t>
            </a:r>
            <a:endParaRPr lang="en-US" sz="1400" dirty="0"/>
          </a:p>
        </p:txBody>
      </p:sp>
      <p:sp>
        <p:nvSpPr>
          <p:cNvPr id="13" name="gb-1"/>
          <p:cNvSpPr txBox="1"/>
          <p:nvPr/>
        </p:nvSpPr>
        <p:spPr>
          <a:xfrm>
            <a:off x="4481474" y="2176272"/>
            <a:ext cx="3228746" cy="2084832"/>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Mounts a directory from the node into the pod. We mounted the root of the disk, so chroot was all that was left.</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Legitimate use: log collectors reading /var/log. Mounting / — or /var/run/docker.sock — never is.</a:t>
            </a:r>
            <a:endParaRPr lang="en-US" sz="1100" dirty="0"/>
          </a:p>
        </p:txBody>
      </p:sp>
      <p:sp>
        <p:nvSpPr>
          <p:cNvPr id="14" name="grid-card-2"/>
          <p:cNvSpPr/>
          <p:nvPr/>
        </p:nvSpPr>
        <p:spPr>
          <a:xfrm>
            <a:off x="8094269" y="1664208"/>
            <a:ext cx="3594506" cy="2743200"/>
          </a:xfrm>
          <a:prstGeom prst="roundRect">
            <a:avLst>
              <a:gd name="adj" fmla="val 3333"/>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16" name="gh-2"/>
          <p:cNvSpPr txBox="1"/>
          <p:nvPr/>
        </p:nvSpPr>
        <p:spPr>
          <a:xfrm>
            <a:off x="8524037" y="1810512"/>
            <a:ext cx="2981858" cy="310896"/>
          </a:xfrm>
          <a:prstGeom prst="rect">
            <a:avLst/>
          </a:prstGeom>
          <a:noFill/>
          <a:ln/>
        </p:spPr>
        <p:txBody>
          <a:bodyPr wrap="square" lIns="0" tIns="0" rIns="0" bIns="0" rtlCol="0" anchor="t"/>
          <a:lstStyle/>
          <a:p>
            <a:pPr marL="0" indent="0">
              <a:buNone/>
            </a:pPr>
            <a:r>
              <a:rPr lang="en-US" sz="1400" b="1" dirty="0">
                <a:solidFill>
                  <a:srgbClr val="B3263B"/>
                </a:solidFill>
                <a:latin typeface="Calibri" pitchFamily="34" charset="0"/>
                <a:ea typeface="Calibri" pitchFamily="34" charset="-122"/>
                <a:cs typeface="Calibri" pitchFamily="34" charset="-120"/>
              </a:rPr>
              <a:t>hostPID / hostNetwork / hostIPC</a:t>
            </a:r>
            <a:endParaRPr lang="en-US" sz="1400" dirty="0"/>
          </a:p>
        </p:txBody>
      </p:sp>
      <p:sp>
        <p:nvSpPr>
          <p:cNvPr id="17" name="gb-2"/>
          <p:cNvSpPr txBox="1"/>
          <p:nvPr/>
        </p:nvSpPr>
        <p:spPr>
          <a:xfrm>
            <a:off x="8277149" y="2176272"/>
            <a:ext cx="3228746" cy="2084832"/>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Joins the node's namespaces instead of getting isolated ones. See every process, bind the node's interfaces, bypass network policy entirely.</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Legitimate use: node-level monitoring agents, and very little else.</a:t>
            </a:r>
            <a:endParaRPr lang="en-US" sz="1100" dirty="0"/>
          </a:p>
        </p:txBody>
      </p:sp>
      <p:sp>
        <p:nvSpPr>
          <p:cNvPr id="18" name="why-note"/>
          <p:cNvSpPr/>
          <p:nvPr/>
        </p:nvSpPr>
        <p:spPr>
          <a:xfrm>
            <a:off x="502920" y="4663440"/>
            <a:ext cx="11185855" cy="914400"/>
          </a:xfrm>
          <a:prstGeom prst="roundRect">
            <a:avLst>
              <a:gd name="adj" fmla="val 10000"/>
            </a:avLst>
          </a:prstGeom>
          <a:solidFill>
            <a:srgbClr val="FDF2E2"/>
          </a:solidFill>
          <a:ln w="12700">
            <a:solidFill>
              <a:srgbClr val="E6C68E"/>
            </a:solidFill>
            <a:prstDash val="solid"/>
          </a:ln>
        </p:spPr>
        <p:txBody>
          <a:bodyPr/>
          <a:lstStyle/>
          <a:p>
            <a:endParaRPr lang="en-US"/>
          </a:p>
        </p:txBody>
      </p:sp>
      <p:sp>
        <p:nvSpPr>
          <p:cNvPr id="19" name="Text 16"/>
          <p:cNvSpPr txBox="1"/>
          <p:nvPr/>
        </p:nvSpPr>
        <p:spPr>
          <a:xfrm>
            <a:off x="731520" y="4663440"/>
            <a:ext cx="10728655" cy="914400"/>
          </a:xfrm>
          <a:prstGeom prst="rect">
            <a:avLst/>
          </a:prstGeom>
          <a:noFill/>
          <a:ln/>
        </p:spPr>
        <p:txBody>
          <a:bodyPr wrap="square" lIns="0" tIns="0" rIns="0" bIns="0" rtlCol="0" anchor="ctr"/>
          <a:lstStyle/>
          <a:p>
            <a:pPr marL="0" indent="0">
              <a:lnSpc>
                <a:spcPct val="115000"/>
              </a:lnSpc>
              <a:buNone/>
            </a:pPr>
            <a:r>
              <a:rPr lang="en-US" sz="1200" b="1" dirty="0">
                <a:solidFill>
                  <a:srgbClr val="9A5B0C"/>
                </a:solidFill>
                <a:latin typeface="Calibri" pitchFamily="34" charset="0"/>
                <a:ea typeface="Calibri" pitchFamily="34" charset="-122"/>
                <a:cs typeface="Calibri" pitchFamily="34" charset="-120"/>
              </a:rPr>
              <a:t>So why not just tell people not to do it?
</a:t>
            </a:r>
            <a:r>
              <a:rPr lang="en-US" sz="1200" dirty="0">
                <a:solidFill>
                  <a:srgbClr val="1F2937"/>
                </a:solidFill>
                <a:latin typeface="Calibri" pitchFamily="34" charset="0"/>
                <a:ea typeface="Calibri" pitchFamily="34" charset="-122"/>
                <a:cs typeface="Calibri" pitchFamily="34" charset="-120"/>
              </a:rPr>
              <a:t>Because at twenty engineers someone will, and at two hundred someone will every week — pasted from Stack Overflow, inherited in a Helm chart, or added at 2am to make a deploy work. A rule that depends on everyone remembering is not a control. The only thing that scales is a cluster that refuses.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THE FIX</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Kubewarden: policies as Wasm modules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 CNCF policy engine that runs as a validating webhook. Policies ship as OCI artifacts — versioned and pulled from a registry, exactly like container images.</a:t>
            </a:r>
            <a:endParaRPr lang="en-US" sz="1300" dirty="0"/>
          </a:p>
        </p:txBody>
      </p:sp>
      <p:sp>
        <p:nvSpPr>
          <p:cNvPr id="6" name="grid-card-0"/>
          <p:cNvSpPr/>
          <p:nvPr/>
        </p:nvSpPr>
        <p:spPr>
          <a:xfrm>
            <a:off x="502920"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4C3FA3"/>
          </a:solidFill>
          <a:ln w="12700">
            <a:solidFill>
              <a:srgbClr val="4C3FA3"/>
            </a:solidFill>
            <a:prstDash val="solid"/>
          </a:ln>
        </p:spPr>
        <p:txBody>
          <a:bodyPr/>
          <a:lstStyle/>
          <a:p>
            <a:endParaRPr lang="en-US"/>
          </a:p>
        </p:txBody>
      </p:sp>
      <p:sp>
        <p:nvSpPr>
          <p:cNvPr id="8" name="gh-0"/>
          <p:cNvSpPr txBox="1"/>
          <p:nvPr/>
        </p:nvSpPr>
        <p:spPr>
          <a:xfrm>
            <a:off x="932688" y="1810512"/>
            <a:ext cx="2981858" cy="310896"/>
          </a:xfrm>
          <a:prstGeom prst="rect">
            <a:avLst/>
          </a:prstGeom>
          <a:noFill/>
          <a:ln/>
        </p:spPr>
        <p:txBody>
          <a:bodyPr wrap="square" lIns="0" tIns="0" rIns="0" bIns="0" rtlCol="0" anchor="t"/>
          <a:lstStyle/>
          <a:p>
            <a:pPr marL="0" indent="0">
              <a:buNone/>
            </a:pPr>
            <a:r>
              <a:rPr lang="en-US" sz="1300" b="1" dirty="0">
                <a:solidFill>
                  <a:srgbClr val="4C3FA3"/>
                </a:solidFill>
                <a:latin typeface="Calibri" pitchFamily="34" charset="0"/>
                <a:ea typeface="Calibri" pitchFamily="34" charset="-122"/>
                <a:cs typeface="Calibri" pitchFamily="34" charset="-120"/>
              </a:rPr>
              <a:t>Policies are Wasm modules</a:t>
            </a:r>
            <a:endParaRPr lang="en-US" sz="1300" dirty="0"/>
          </a:p>
        </p:txBody>
      </p:sp>
      <p:sp>
        <p:nvSpPr>
          <p:cNvPr id="9" name="gb-0"/>
          <p:cNvSpPr txBox="1"/>
          <p:nvPr/>
        </p:nvSpPr>
        <p:spPr>
          <a:xfrm>
            <a:off x="685800"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Write them in Rust, Go or AssemblyScript — or use the dozens of pre-built ones. They run in a sandbox, so a broken policy cannot take the cluster with it.</a:t>
            </a:r>
            <a:endParaRPr lang="en-US" sz="1100" dirty="0"/>
          </a:p>
        </p:txBody>
      </p:sp>
      <p:sp>
        <p:nvSpPr>
          <p:cNvPr id="10" name="grid-card-1"/>
          <p:cNvSpPr/>
          <p:nvPr/>
        </p:nvSpPr>
        <p:spPr>
          <a:xfrm>
            <a:off x="4298594"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83664"/>
            <a:ext cx="155448" cy="155448"/>
          </a:xfrm>
          <a:prstGeom prst="ellipse">
            <a:avLst/>
          </a:prstGeom>
          <a:solidFill>
            <a:srgbClr val="4C3FA3"/>
          </a:solidFill>
          <a:ln w="12700">
            <a:solidFill>
              <a:srgbClr val="4C3FA3"/>
            </a:solidFill>
            <a:prstDash val="solid"/>
          </a:ln>
        </p:spPr>
        <p:txBody>
          <a:bodyPr/>
          <a:lstStyle/>
          <a:p>
            <a:endParaRPr lang="en-US"/>
          </a:p>
        </p:txBody>
      </p:sp>
      <p:sp>
        <p:nvSpPr>
          <p:cNvPr id="12" name="gh-1"/>
          <p:cNvSpPr txBox="1"/>
          <p:nvPr/>
        </p:nvSpPr>
        <p:spPr>
          <a:xfrm>
            <a:off x="4728362" y="1810512"/>
            <a:ext cx="2981858" cy="310896"/>
          </a:xfrm>
          <a:prstGeom prst="rect">
            <a:avLst/>
          </a:prstGeom>
          <a:noFill/>
          <a:ln/>
        </p:spPr>
        <p:txBody>
          <a:bodyPr wrap="square" lIns="0" tIns="0" rIns="0" bIns="0" rtlCol="0" anchor="t"/>
          <a:lstStyle/>
          <a:p>
            <a:pPr marL="0" indent="0">
              <a:buNone/>
            </a:pPr>
            <a:r>
              <a:rPr lang="en-US" sz="1300" b="1" dirty="0">
                <a:solidFill>
                  <a:srgbClr val="4C3FA3"/>
                </a:solidFill>
                <a:latin typeface="Calibri" pitchFamily="34" charset="0"/>
                <a:ea typeface="Calibri" pitchFamily="34" charset="-122"/>
                <a:cs typeface="Calibri" pitchFamily="34" charset="-120"/>
              </a:rPr>
              <a:t>Distributed like container images</a:t>
            </a:r>
            <a:endParaRPr lang="en-US" sz="1300" dirty="0"/>
          </a:p>
        </p:txBody>
      </p:sp>
      <p:sp>
        <p:nvSpPr>
          <p:cNvPr id="13" name="gb-1"/>
          <p:cNvSpPr txBox="1"/>
          <p:nvPr/>
        </p:nvSpPr>
        <p:spPr>
          <a:xfrm>
            <a:off x="4481474"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registry://ghcr.io/kubewarden/policies/pod-privileged:v1</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Tags, digests, signatures. You already know this workflow.</a:t>
            </a:r>
            <a:endParaRPr lang="en-US" sz="1100" dirty="0"/>
          </a:p>
        </p:txBody>
      </p:sp>
      <p:sp>
        <p:nvSpPr>
          <p:cNvPr id="14" name="grid-card-2"/>
          <p:cNvSpPr/>
          <p:nvPr/>
        </p:nvSpPr>
        <p:spPr>
          <a:xfrm>
            <a:off x="8094269"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83664"/>
            <a:ext cx="155448" cy="155448"/>
          </a:xfrm>
          <a:prstGeom prst="ellipse">
            <a:avLst/>
          </a:prstGeom>
          <a:solidFill>
            <a:srgbClr val="0F7B45"/>
          </a:solidFill>
          <a:ln w="12700">
            <a:solidFill>
              <a:srgbClr val="0F7B45"/>
            </a:solidFill>
            <a:prstDash val="solid"/>
          </a:ln>
        </p:spPr>
        <p:txBody>
          <a:bodyPr/>
          <a:lstStyle/>
          <a:p>
            <a:endParaRPr lang="en-US"/>
          </a:p>
        </p:txBody>
      </p:sp>
      <p:sp>
        <p:nvSpPr>
          <p:cNvPr id="16" name="gh-2"/>
          <p:cNvSpPr txBox="1"/>
          <p:nvPr/>
        </p:nvSpPr>
        <p:spPr>
          <a:xfrm>
            <a:off x="8524037" y="1810512"/>
            <a:ext cx="2981858" cy="310896"/>
          </a:xfrm>
          <a:prstGeom prst="rect">
            <a:avLst/>
          </a:prstGeom>
          <a:noFill/>
          <a:ln/>
        </p:spPr>
        <p:txBody>
          <a:bodyPr wrap="square" lIns="0" tIns="0" rIns="0" bIns="0" rtlCol="0" anchor="t"/>
          <a:lstStyle/>
          <a:p>
            <a:pPr marL="0" indent="0">
              <a:buNone/>
            </a:pPr>
            <a:r>
              <a:rPr lang="en-US" sz="1300" b="1" dirty="0">
                <a:solidFill>
                  <a:srgbClr val="0F7B45"/>
                </a:solidFill>
                <a:latin typeface="Calibri" pitchFamily="34" charset="0"/>
                <a:ea typeface="Calibri" pitchFamily="34" charset="-122"/>
                <a:cs typeface="Calibri" pitchFamily="34" charset="-120"/>
              </a:rPr>
              <a:t>Monitor before you enforce</a:t>
            </a:r>
            <a:endParaRPr lang="en-US" sz="1300" dirty="0"/>
          </a:p>
        </p:txBody>
      </p:sp>
      <p:sp>
        <p:nvSpPr>
          <p:cNvPr id="17" name="gb-2"/>
          <p:cNvSpPr txBox="1"/>
          <p:nvPr/>
        </p:nvSpPr>
        <p:spPr>
          <a:xfrm>
            <a:off x="8277149"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Every policy has a mode. Run it in monitor first to see what it would have blocked, then switch to protect. This is how you roll out policy without an outage.</a:t>
            </a:r>
            <a:endParaRPr lang="en-US" sz="1100" dirty="0"/>
          </a:p>
        </p:txBody>
      </p:sp>
      <p:sp>
        <p:nvSpPr>
          <p:cNvPr id="18" name="grid-card-3"/>
          <p:cNvSpPr/>
          <p:nvPr/>
        </p:nvSpPr>
        <p:spPr>
          <a:xfrm>
            <a:off x="502920"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4352544"/>
            <a:ext cx="155448" cy="155448"/>
          </a:xfrm>
          <a:prstGeom prst="ellipse">
            <a:avLst/>
          </a:prstGeom>
          <a:solidFill>
            <a:srgbClr val="0B4F5C"/>
          </a:solidFill>
          <a:ln w="12700">
            <a:solidFill>
              <a:srgbClr val="0B4F5C"/>
            </a:solidFill>
            <a:prstDash val="solid"/>
          </a:ln>
        </p:spPr>
        <p:txBody>
          <a:bodyPr/>
          <a:lstStyle/>
          <a:p>
            <a:endParaRPr lang="en-US"/>
          </a:p>
        </p:txBody>
      </p:sp>
      <p:sp>
        <p:nvSpPr>
          <p:cNvPr id="20" name="gh-3"/>
          <p:cNvSpPr txBox="1"/>
          <p:nvPr/>
        </p:nvSpPr>
        <p:spPr>
          <a:xfrm>
            <a:off x="932688" y="427939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kubewarden-controller</a:t>
            </a:r>
            <a:endParaRPr lang="en-US" sz="1300" dirty="0"/>
          </a:p>
        </p:txBody>
      </p:sp>
      <p:sp>
        <p:nvSpPr>
          <p:cNvPr id="21" name="gb-3"/>
          <p:cNvSpPr txBox="1"/>
          <p:nvPr/>
        </p:nvSpPr>
        <p:spPr>
          <a:xfrm>
            <a:off x="685800"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Watches your ClusterAdmissionPolicy objects and configures the webhook registrations with the API server for you.</a:t>
            </a:r>
            <a:endParaRPr lang="en-US" sz="1100" dirty="0"/>
          </a:p>
        </p:txBody>
      </p:sp>
      <p:sp>
        <p:nvSpPr>
          <p:cNvPr id="22" name="grid-card-4"/>
          <p:cNvSpPr/>
          <p:nvPr/>
        </p:nvSpPr>
        <p:spPr>
          <a:xfrm>
            <a:off x="4298594"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4352544"/>
            <a:ext cx="155448" cy="155448"/>
          </a:xfrm>
          <a:prstGeom prst="ellipse">
            <a:avLst/>
          </a:prstGeom>
          <a:solidFill>
            <a:srgbClr val="0B4F5C"/>
          </a:solidFill>
          <a:ln w="12700">
            <a:solidFill>
              <a:srgbClr val="0B4F5C"/>
            </a:solidFill>
            <a:prstDash val="solid"/>
          </a:ln>
        </p:spPr>
        <p:txBody>
          <a:bodyPr/>
          <a:lstStyle/>
          <a:p>
            <a:endParaRPr lang="en-US"/>
          </a:p>
        </p:txBody>
      </p:sp>
      <p:sp>
        <p:nvSpPr>
          <p:cNvPr id="24" name="gh-4"/>
          <p:cNvSpPr txBox="1"/>
          <p:nvPr/>
        </p:nvSpPr>
        <p:spPr>
          <a:xfrm>
            <a:off x="4728362" y="427939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policy-server</a:t>
            </a:r>
            <a:endParaRPr lang="en-US" sz="1300" dirty="0"/>
          </a:p>
        </p:txBody>
      </p:sp>
      <p:sp>
        <p:nvSpPr>
          <p:cNvPr id="25" name="gb-4"/>
          <p:cNvSpPr txBox="1"/>
          <p:nvPr/>
        </p:nvSpPr>
        <p:spPr>
          <a:xfrm>
            <a:off x="4481474"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The pod that actually loads the Wasm modules and answers the API server's admission requests. Your policies run in here.</a:t>
            </a:r>
            <a:endParaRPr lang="en-US" sz="1100" dirty="0"/>
          </a:p>
        </p:txBody>
      </p:sp>
      <p:sp>
        <p:nvSpPr>
          <p:cNvPr id="26" name="grid-card-5"/>
          <p:cNvSpPr/>
          <p:nvPr/>
        </p:nvSpPr>
        <p:spPr>
          <a:xfrm>
            <a:off x="8094269"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4352544"/>
            <a:ext cx="155448" cy="155448"/>
          </a:xfrm>
          <a:prstGeom prst="ellipse">
            <a:avLst/>
          </a:prstGeom>
          <a:solidFill>
            <a:srgbClr val="9A5B0C"/>
          </a:solidFill>
          <a:ln w="12700">
            <a:solidFill>
              <a:srgbClr val="9A5B0C"/>
            </a:solidFill>
            <a:prstDash val="solid"/>
          </a:ln>
        </p:spPr>
        <p:txBody>
          <a:bodyPr/>
          <a:lstStyle/>
          <a:p>
            <a:endParaRPr lang="en-US"/>
          </a:p>
        </p:txBody>
      </p:sp>
      <p:sp>
        <p:nvSpPr>
          <p:cNvPr id="28" name="gh-5"/>
          <p:cNvSpPr txBox="1"/>
          <p:nvPr/>
        </p:nvSpPr>
        <p:spPr>
          <a:xfrm>
            <a:off x="8524037" y="4279392"/>
            <a:ext cx="2981858"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cert-manager (prerequisite)</a:t>
            </a:r>
            <a:endParaRPr lang="en-US" sz="1300" dirty="0"/>
          </a:p>
        </p:txBody>
      </p:sp>
      <p:sp>
        <p:nvSpPr>
          <p:cNvPr id="29" name="gb-5"/>
          <p:cNvSpPr txBox="1"/>
          <p:nvPr/>
        </p:nvSpPr>
        <p:spPr>
          <a:xfrm>
            <a:off x="8277149"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Admission webhooks must be served over TLS, and the API server has to trust the certificate. cert-manager issues and rotates it. That is its whole job here.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defense · STEP 8</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Install cert-manager</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Kubewarden's webhook needs a TLS certificate the API server trusts. cert-manager issues it.</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492377"/>
          </a:xfrm>
          <a:prstGeom prst="roundRect">
            <a:avLst>
              <a:gd name="adj" fmla="val 4289"/>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218057"/>
          </a:xfrm>
          <a:prstGeom prst="rect">
            <a:avLst/>
          </a:prstGeom>
          <a:noFill/>
          <a:ln/>
        </p:spPr>
        <p:txBody>
          <a:bodyPr wrap="square" lIns="0" tIns="0" rIns="0" bIns="0" rtlCol="0" anchor="t"/>
          <a:lstStyle/>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helm repo add jetstack https://charts.jetstack.io</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helm repo update</a:t>
            </a:r>
            <a:endParaRPr lang="en-US" sz="1075" dirty="0"/>
          </a:p>
          <a:p>
            <a:pPr marL="0" indent="0">
              <a:lnSpc>
                <a:spcPct val="112000"/>
              </a:lnSpc>
              <a:buNone/>
            </a:pP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helm install cert-manager jetstack/cert-manager \</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  --namespace cert-manager --create-namespace \</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  --set crds.enabled=true --wait</a:t>
            </a:r>
            <a:endParaRPr lang="en-US" sz="1075" dirty="0"/>
          </a:p>
        </p:txBody>
      </p:sp>
      <p:sp>
        <p:nvSpPr>
          <p:cNvPr id="9" name="pill-bg"/>
          <p:cNvSpPr/>
          <p:nvPr/>
        </p:nvSpPr>
        <p:spPr>
          <a:xfrm>
            <a:off x="502920" y="3814953"/>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814953"/>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235577"/>
            <a:ext cx="6903720" cy="1496886"/>
          </a:xfrm>
          <a:prstGeom prst="roundRect">
            <a:avLst>
              <a:gd name="adj" fmla="val 4276"/>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372737"/>
            <a:ext cx="6574536" cy="1222566"/>
          </a:xfrm>
          <a:prstGeom prst="rect">
            <a:avLst/>
          </a:prstGeom>
          <a:noFill/>
          <a:ln/>
        </p:spPr>
        <p:txBody>
          <a:bodyPr wrap="square" lIns="0" tIns="0" rIns="0" bIns="0" rtlCol="0" anchor="t"/>
          <a:lstStyle/>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NAME: cert-manager</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STATUS: deployed</a:t>
            </a:r>
            <a:endParaRPr lang="en-US" sz="925" dirty="0"/>
          </a:p>
          <a:p>
            <a:pPr marL="0" indent="0">
              <a:lnSpc>
                <a:spcPct val="112000"/>
              </a:lnSpc>
              <a:buNone/>
            </a:pP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kubectl get pods -n cert-manager</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cert-manager-xxxxxxxxx-xxxxx              1/1   Running</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cert-manager-cainjector-xxxxxxxxx-xxxxx   1/1   Running</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cert-manager-webhook-xxxxxxxxx-xxxxx      1/1   Running</a:t>
            </a:r>
            <a:endParaRPr lang="en-US" sz="925"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188720"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5" name="pill-text"/>
          <p:cNvSpPr txBox="1"/>
          <p:nvPr/>
        </p:nvSpPr>
        <p:spPr>
          <a:xfrm>
            <a:off x="7863840" y="184708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Notes</a:t>
            </a:r>
            <a:endParaRPr lang="en-US" sz="1150" dirty="0"/>
          </a:p>
        </p:txBody>
      </p:sp>
      <p:sp>
        <p:nvSpPr>
          <p:cNvPr id="16" name="sdot-0"/>
          <p:cNvSpPr/>
          <p:nvPr/>
        </p:nvSpPr>
        <p:spPr>
          <a:xfrm>
            <a:off x="7882128" y="2414016"/>
            <a:ext cx="128016" cy="128016"/>
          </a:xfrm>
          <a:prstGeom prst="ellipse">
            <a:avLst/>
          </a:prstGeom>
          <a:solidFill>
            <a:srgbClr val="0B4F5C"/>
          </a:solidFill>
          <a:ln w="12700">
            <a:solidFill>
              <a:srgbClr val="0B4F5C"/>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--wait  </a:t>
            </a:r>
            <a:r>
              <a:rPr lang="en-US" sz="1050" dirty="0">
                <a:solidFill>
                  <a:srgbClr val="1F2937"/>
                </a:solidFill>
                <a:latin typeface="Calibri" pitchFamily="34" charset="0"/>
                <a:ea typeface="Calibri" pitchFamily="34" charset="-122"/>
                <a:cs typeface="Calibri" pitchFamily="34" charset="-120"/>
              </a:rPr>
              <a:t>makes helm block until the pods are actually ready, instead of returning immediately. Saves a lot of 'why is it not working'.</a:t>
            </a:r>
            <a:endParaRPr lang="en-US" sz="1050" dirty="0"/>
          </a:p>
        </p:txBody>
      </p:sp>
      <p:sp>
        <p:nvSpPr>
          <p:cNvPr id="18" name="sdot-1"/>
          <p:cNvSpPr/>
          <p:nvPr/>
        </p:nvSpPr>
        <p:spPr>
          <a:xfrm>
            <a:off x="7882128" y="3262122"/>
            <a:ext cx="128016" cy="128016"/>
          </a:xfrm>
          <a:prstGeom prst="ellipse">
            <a:avLst/>
          </a:prstGeom>
          <a:solidFill>
            <a:srgbClr val="0B4F5C"/>
          </a:solidFill>
          <a:ln w="12700">
            <a:solidFill>
              <a:srgbClr val="0B4F5C"/>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Three pods.  </a:t>
            </a:r>
            <a:r>
              <a:rPr lang="en-US" sz="1050" dirty="0">
                <a:solidFill>
                  <a:srgbClr val="1F2937"/>
                </a:solidFill>
                <a:latin typeface="Calibri" pitchFamily="34" charset="0"/>
                <a:ea typeface="Calibri" pitchFamily="34" charset="-122"/>
                <a:cs typeface="Calibri" pitchFamily="34" charset="-120"/>
              </a:rPr>
              <a:t>controller, cainjector and webhook. All three must be Running before the next step.</a:t>
            </a:r>
            <a:endParaRPr lang="en-US" sz="1050" dirty="0"/>
          </a:p>
        </p:txBody>
      </p:sp>
      <p:sp>
        <p:nvSpPr>
          <p:cNvPr id="20" name="sdot-2"/>
          <p:cNvSpPr/>
          <p:nvPr/>
        </p:nvSpPr>
        <p:spPr>
          <a:xfrm>
            <a:off x="7882128" y="4110228"/>
            <a:ext cx="128016" cy="128016"/>
          </a:xfrm>
          <a:prstGeom prst="ellipse">
            <a:avLst/>
          </a:prstGeom>
          <a:solidFill>
            <a:srgbClr val="9A5B0C"/>
          </a:solidFill>
          <a:ln w="12700">
            <a:solidFill>
              <a:srgbClr val="9A5B0C"/>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9A5B0C"/>
                </a:solidFill>
                <a:latin typeface="Calibri" pitchFamily="34" charset="0"/>
                <a:ea typeface="Calibri" pitchFamily="34" charset="-122"/>
                <a:cs typeface="Calibri" pitchFamily="34" charset="-120"/>
              </a:rPr>
              <a:t>Takes 1-2 minutes  </a:t>
            </a:r>
            <a:r>
              <a:rPr lang="en-US" sz="1050" dirty="0">
                <a:solidFill>
                  <a:srgbClr val="1F2937"/>
                </a:solidFill>
                <a:latin typeface="Calibri" pitchFamily="34" charset="0"/>
                <a:ea typeface="Calibri" pitchFamily="34" charset="-122"/>
                <a:cs typeface="Calibri" pitchFamily="34" charset="-120"/>
              </a:rPr>
              <a:t>on a warm cache, longer on first pull.</a:t>
            </a:r>
            <a:endParaRPr lang="en-US" sz="1050" dirty="0"/>
          </a:p>
        </p:txBody>
      </p:sp>
      <p:sp>
        <p:nvSpPr>
          <p:cNvPr id="22" name="sdot-3"/>
          <p:cNvSpPr/>
          <p:nvPr/>
        </p:nvSpPr>
        <p:spPr>
          <a:xfrm>
            <a:off x="7882128" y="4958334"/>
            <a:ext cx="128016" cy="128016"/>
          </a:xfrm>
          <a:prstGeom prst="ellipse">
            <a:avLst/>
          </a:prstGeom>
          <a:solidFill>
            <a:srgbClr val="B3263B"/>
          </a:solidFill>
          <a:ln w="12700">
            <a:solidFill>
              <a:srgbClr val="B3263B"/>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B3263B"/>
                </a:solidFill>
                <a:latin typeface="Calibri" pitchFamily="34" charset="0"/>
                <a:ea typeface="Calibri" pitchFamily="34" charset="-122"/>
                <a:cs typeface="Calibri" pitchFamily="34" charset="-120"/>
              </a:rPr>
              <a:t>If --set crds.enabled=true errors,  </a:t>
            </a:r>
            <a:r>
              <a:rPr lang="en-US" sz="1050" dirty="0">
                <a:solidFill>
                  <a:srgbClr val="1F2937"/>
                </a:solidFill>
                <a:latin typeface="Calibri" pitchFamily="34" charset="0"/>
                <a:ea typeface="Calibri" pitchFamily="34" charset="-122"/>
                <a:cs typeface="Calibri" pitchFamily="34" charset="-120"/>
              </a:rPr>
              <a:t>your chart version wants the older flag name: --set installCRDs=true</a:t>
            </a:r>
            <a:endParaRPr lang="en-US" sz="10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All three cert-manager pods show 1/1 Running.</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defense · STEP 9</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Install Kubewarden</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Three charts, in this order: the CRDs, the controller that watches them, then a default policy server to run your policies.</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2213737"/>
          </a:xfrm>
          <a:prstGeom prst="roundRect">
            <a:avLst>
              <a:gd name="adj" fmla="val 2891"/>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939417"/>
          </a:xfrm>
          <a:prstGeom prst="rect">
            <a:avLst/>
          </a:prstGeom>
          <a:noFill/>
          <a:ln/>
        </p:spPr>
        <p:txBody>
          <a:bodyPr wrap="square" lIns="0" tIns="0" rIns="0" bIns="0" rtlCol="0" anchor="t"/>
          <a:lstStyle/>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helm repo add kubewarden https://charts.kubewarden.io</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helm repo update</a:t>
            </a:r>
            <a:endParaRPr lang="en-US" sz="950" dirty="0"/>
          </a:p>
          <a:p>
            <a:pPr marL="0" indent="0">
              <a:lnSpc>
                <a:spcPct val="112000"/>
              </a:lnSpc>
              <a:buNone/>
            </a:pP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helm install --wait -n kubewarden --create-namespace \</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kubewarden-crds kubewarden/kubewarden-crds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helm install --wait -n kubewarden \</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kubewarden-controller kubewarden/kubewarden-controller</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helm install --wait -n kubewarden \</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kubewarden-defaults kubewarden/kubewarden-defaults</a:t>
            </a:r>
            <a:endParaRPr lang="en-US" sz="950" dirty="0"/>
          </a:p>
          <a:p>
            <a:pPr marL="0" indent="0">
              <a:lnSpc>
                <a:spcPct val="112000"/>
              </a:lnSpc>
              <a:buNone/>
            </a:pP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kubectl get pods -n kubewarden</a:t>
            </a:r>
            <a:endParaRPr lang="en-US" sz="950" dirty="0"/>
          </a:p>
        </p:txBody>
      </p:sp>
      <p:sp>
        <p:nvSpPr>
          <p:cNvPr id="9" name="pill-bg"/>
          <p:cNvSpPr/>
          <p:nvPr/>
        </p:nvSpPr>
        <p:spPr>
          <a:xfrm>
            <a:off x="502920" y="4536313"/>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4536313"/>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956937"/>
            <a:ext cx="6903720" cy="789051"/>
          </a:xfrm>
          <a:prstGeom prst="roundRect">
            <a:avLst>
              <a:gd name="adj" fmla="val 8112"/>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5094097"/>
            <a:ext cx="6574536" cy="514731"/>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NAME                                     READY   STATUS</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kubewarden-controller-xxxxxxxxx-xxxxx    1/1     Running</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policy-server-default-xxxxxxxxx-xxxxx    1/1     Running</a:t>
            </a:r>
            <a:endParaRPr lang="en-US" sz="85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303934"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5" name="pill-text"/>
          <p:cNvSpPr txBox="1"/>
          <p:nvPr/>
        </p:nvSpPr>
        <p:spPr>
          <a:xfrm>
            <a:off x="7863840" y="1847088"/>
            <a:ext cx="1303934"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Order matters</a:t>
            </a:r>
            <a:endParaRPr lang="en-US" sz="1150" dirty="0"/>
          </a:p>
        </p:txBody>
      </p:sp>
      <p:sp>
        <p:nvSpPr>
          <p:cNvPr id="16" name="sdot-0"/>
          <p:cNvSpPr/>
          <p:nvPr/>
        </p:nvSpPr>
        <p:spPr>
          <a:xfrm>
            <a:off x="7882128" y="2414016"/>
            <a:ext cx="128016" cy="128016"/>
          </a:xfrm>
          <a:prstGeom prst="ellipse">
            <a:avLst/>
          </a:prstGeom>
          <a:solidFill>
            <a:srgbClr val="4C3FA3"/>
          </a:solidFill>
          <a:ln w="12700">
            <a:solidFill>
              <a:srgbClr val="4C3FA3"/>
            </a:solidFill>
            <a:prstDash val="solid"/>
          </a:ln>
        </p:spPr>
        <p:txBody>
          <a:bodyPr/>
          <a:lstStyle/>
          <a:p>
            <a:endParaRPr lang="en-US"/>
          </a:p>
        </p:txBody>
      </p:sp>
      <p:sp>
        <p:nvSpPr>
          <p:cNvPr id="17" name="sitem-0"/>
          <p:cNvSpPr txBox="1"/>
          <p:nvPr/>
        </p:nvSpPr>
        <p:spPr>
          <a:xfrm>
            <a:off x="8101584" y="2340864"/>
            <a:ext cx="3386023" cy="623621"/>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crds first.  </a:t>
            </a:r>
            <a:r>
              <a:rPr lang="en-US" sz="1050" dirty="0">
                <a:solidFill>
                  <a:srgbClr val="1F2937"/>
                </a:solidFill>
                <a:latin typeface="Calibri" pitchFamily="34" charset="0"/>
                <a:ea typeface="Calibri" pitchFamily="34" charset="-122"/>
                <a:cs typeface="Calibri" pitchFamily="34" charset="-120"/>
              </a:rPr>
              <a:t>The controller crashes on startup if the custom resource types it watches do not exist yet.</a:t>
            </a:r>
            <a:endParaRPr lang="en-US" sz="1050" dirty="0"/>
          </a:p>
        </p:txBody>
      </p:sp>
      <p:sp>
        <p:nvSpPr>
          <p:cNvPr id="18" name="sdot-1"/>
          <p:cNvSpPr/>
          <p:nvPr/>
        </p:nvSpPr>
        <p:spPr>
          <a:xfrm>
            <a:off x="7882128" y="3092501"/>
            <a:ext cx="128016" cy="128016"/>
          </a:xfrm>
          <a:prstGeom prst="ellipse">
            <a:avLst/>
          </a:prstGeom>
          <a:solidFill>
            <a:srgbClr val="4C3FA3"/>
          </a:solidFill>
          <a:ln w="12700">
            <a:solidFill>
              <a:srgbClr val="4C3FA3"/>
            </a:solidFill>
            <a:prstDash val="solid"/>
          </a:ln>
        </p:spPr>
        <p:txBody>
          <a:bodyPr/>
          <a:lstStyle/>
          <a:p>
            <a:endParaRPr lang="en-US"/>
          </a:p>
        </p:txBody>
      </p:sp>
      <p:sp>
        <p:nvSpPr>
          <p:cNvPr id="19" name="sitem-1"/>
          <p:cNvSpPr txBox="1"/>
          <p:nvPr/>
        </p:nvSpPr>
        <p:spPr>
          <a:xfrm>
            <a:off x="8101584" y="3019349"/>
            <a:ext cx="3386023" cy="623621"/>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controller second.  </a:t>
            </a:r>
            <a:r>
              <a:rPr lang="en-US" sz="1050" dirty="0">
                <a:solidFill>
                  <a:srgbClr val="1F2937"/>
                </a:solidFill>
                <a:latin typeface="Calibri" pitchFamily="34" charset="0"/>
                <a:ea typeface="Calibri" pitchFamily="34" charset="-122"/>
                <a:cs typeface="Calibri" pitchFamily="34" charset="-120"/>
              </a:rPr>
              <a:t>Watches ClusterAdmissionPolicy objects and registers webhooks with the API server.</a:t>
            </a:r>
            <a:endParaRPr lang="en-US" sz="1050" dirty="0"/>
          </a:p>
        </p:txBody>
      </p:sp>
      <p:sp>
        <p:nvSpPr>
          <p:cNvPr id="20" name="sdot-2"/>
          <p:cNvSpPr/>
          <p:nvPr/>
        </p:nvSpPr>
        <p:spPr>
          <a:xfrm>
            <a:off x="7882128" y="3770986"/>
            <a:ext cx="128016" cy="128016"/>
          </a:xfrm>
          <a:prstGeom prst="ellipse">
            <a:avLst/>
          </a:prstGeom>
          <a:solidFill>
            <a:srgbClr val="4C3FA3"/>
          </a:solidFill>
          <a:ln w="12700">
            <a:solidFill>
              <a:srgbClr val="4C3FA3"/>
            </a:solidFill>
            <a:prstDash val="solid"/>
          </a:ln>
        </p:spPr>
        <p:txBody>
          <a:bodyPr/>
          <a:lstStyle/>
          <a:p>
            <a:endParaRPr lang="en-US"/>
          </a:p>
        </p:txBody>
      </p:sp>
      <p:sp>
        <p:nvSpPr>
          <p:cNvPr id="21" name="sitem-2"/>
          <p:cNvSpPr txBox="1"/>
          <p:nvPr/>
        </p:nvSpPr>
        <p:spPr>
          <a:xfrm>
            <a:off x="8101584" y="3697834"/>
            <a:ext cx="3386023" cy="623621"/>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defaults last.  </a:t>
            </a:r>
            <a:r>
              <a:rPr lang="en-US" sz="1050" dirty="0">
                <a:solidFill>
                  <a:srgbClr val="1F2937"/>
                </a:solidFill>
                <a:latin typeface="Calibri" pitchFamily="34" charset="0"/>
                <a:ea typeface="Calibri" pitchFamily="34" charset="-122"/>
                <a:cs typeface="Calibri" pitchFamily="34" charset="-120"/>
              </a:rPr>
              <a:t>Creates the 'default' PolicyServer — the pod your policies will actually run inside.</a:t>
            </a:r>
            <a:endParaRPr lang="en-US" sz="1050" dirty="0"/>
          </a:p>
        </p:txBody>
      </p:sp>
      <p:sp>
        <p:nvSpPr>
          <p:cNvPr id="22" name="sdot-3"/>
          <p:cNvSpPr/>
          <p:nvPr/>
        </p:nvSpPr>
        <p:spPr>
          <a:xfrm>
            <a:off x="7882128" y="4449470"/>
            <a:ext cx="128016" cy="128016"/>
          </a:xfrm>
          <a:prstGeom prst="ellipse">
            <a:avLst/>
          </a:prstGeom>
          <a:solidFill>
            <a:srgbClr val="9A5B0C"/>
          </a:solidFill>
          <a:ln w="12700">
            <a:solidFill>
              <a:srgbClr val="9A5B0C"/>
            </a:solidFill>
            <a:prstDash val="solid"/>
          </a:ln>
        </p:spPr>
        <p:txBody>
          <a:bodyPr/>
          <a:lstStyle/>
          <a:p>
            <a:endParaRPr lang="en-US"/>
          </a:p>
        </p:txBody>
      </p:sp>
      <p:sp>
        <p:nvSpPr>
          <p:cNvPr id="23" name="sitem-3"/>
          <p:cNvSpPr txBox="1"/>
          <p:nvPr/>
        </p:nvSpPr>
        <p:spPr>
          <a:xfrm>
            <a:off x="8101584" y="4376318"/>
            <a:ext cx="3386023" cy="623621"/>
          </a:xfrm>
          <a:prstGeom prst="rect">
            <a:avLst/>
          </a:prstGeom>
          <a:noFill/>
          <a:ln/>
        </p:spPr>
        <p:txBody>
          <a:bodyPr wrap="square" lIns="0" tIns="0" rIns="0" bIns="0" rtlCol="0" anchor="t"/>
          <a:lstStyle/>
          <a:p>
            <a:pPr marL="0" indent="0">
              <a:lnSpc>
                <a:spcPct val="112000"/>
              </a:lnSpc>
              <a:buNone/>
            </a:pPr>
            <a:r>
              <a:rPr lang="en-US" sz="1050" b="1" dirty="0">
                <a:solidFill>
                  <a:srgbClr val="9A5B0C"/>
                </a:solidFill>
                <a:latin typeface="Calibri" pitchFamily="34" charset="0"/>
                <a:ea typeface="Calibri" pitchFamily="34" charset="-122"/>
                <a:cs typeface="Calibri" pitchFamily="34" charset="-120"/>
              </a:rPr>
              <a:t>policy-server-default  </a:t>
            </a:r>
            <a:r>
              <a:rPr lang="en-US" sz="1050" dirty="0">
                <a:solidFill>
                  <a:srgbClr val="1F2937"/>
                </a:solidFill>
                <a:latin typeface="Calibri" pitchFamily="34" charset="0"/>
                <a:ea typeface="Calibri" pitchFamily="34" charset="-122"/>
                <a:cs typeface="Calibri" pitchFamily="34" charset="-120"/>
              </a:rPr>
              <a:t>must be Running before any policy can go active. Give it a minute.</a:t>
            </a:r>
            <a:endParaRPr lang="en-US" sz="1050" dirty="0"/>
          </a:p>
        </p:txBody>
      </p:sp>
      <p:sp>
        <p:nvSpPr>
          <p:cNvPr id="24" name="sdot-4"/>
          <p:cNvSpPr/>
          <p:nvPr/>
        </p:nvSpPr>
        <p:spPr>
          <a:xfrm>
            <a:off x="7882128" y="5127955"/>
            <a:ext cx="128016" cy="128016"/>
          </a:xfrm>
          <a:prstGeom prst="ellipse">
            <a:avLst/>
          </a:prstGeom>
          <a:solidFill>
            <a:srgbClr val="0B4F5C"/>
          </a:solidFill>
          <a:ln w="12700">
            <a:solidFill>
              <a:srgbClr val="0B4F5C"/>
            </a:solidFill>
            <a:prstDash val="solid"/>
          </a:ln>
        </p:spPr>
        <p:txBody>
          <a:bodyPr/>
          <a:lstStyle/>
          <a:p>
            <a:endParaRPr lang="en-US"/>
          </a:p>
        </p:txBody>
      </p:sp>
      <p:sp>
        <p:nvSpPr>
          <p:cNvPr id="25" name="sitem-4"/>
          <p:cNvSpPr txBox="1"/>
          <p:nvPr/>
        </p:nvSpPr>
        <p:spPr>
          <a:xfrm>
            <a:off x="8101584" y="5054803"/>
            <a:ext cx="3386023" cy="623621"/>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Tight on RAM?  </a:t>
            </a:r>
            <a:r>
              <a:rPr lang="en-US" sz="1050" dirty="0">
                <a:solidFill>
                  <a:srgbClr val="1F2937"/>
                </a:solidFill>
                <a:latin typeface="Calibri" pitchFamily="34" charset="0"/>
                <a:ea typeface="Calibri" pitchFamily="34" charset="-122"/>
                <a:cs typeface="Calibri" pitchFamily="34" charset="-120"/>
              </a:rPr>
              <a:t>Add --set policyServer.replicaCount=1 to the defaults chart.</a:t>
            </a:r>
            <a:endParaRPr lang="en-US" sz="1050" dirty="0"/>
          </a:p>
        </p:txBody>
      </p:sp>
      <p:sp>
        <p:nvSpPr>
          <p:cNvPr id="26"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7"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kubewarden-controller and policy-server-default are both 1/1 Running.</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defense · STEP 10</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Write your first policy — in monitor mode</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Monitor mode records what the policy would have done, without blocking anything. This is how you roll policy out to a live cluster without causing an outage.</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798068"/>
          </a:xfrm>
          <a:prstGeom prst="roundRect">
            <a:avLst>
              <a:gd name="adj" fmla="val 8020"/>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523748"/>
          </a:xfrm>
          <a:prstGeom prst="rect">
            <a:avLst/>
          </a:prstGeom>
          <a:noFill/>
          <a:ln/>
        </p:spPr>
        <p:txBody>
          <a:bodyPr wrap="square" lIns="0" tIns="0" rIns="0" bIns="0" rtlCol="0" anchor="t"/>
          <a:lstStyle/>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apply -f policies/02-no-privileged.yaml</a:t>
            </a: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get clusteradmissionpolicies</a:t>
            </a:r>
            <a:endParaRPr lang="en-US" sz="1300" dirty="0"/>
          </a:p>
        </p:txBody>
      </p:sp>
      <p:sp>
        <p:nvSpPr>
          <p:cNvPr id="9" name="pill-bg"/>
          <p:cNvSpPr/>
          <p:nvPr/>
        </p:nvSpPr>
        <p:spPr>
          <a:xfrm>
            <a:off x="502920" y="3120644"/>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120644"/>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3541268"/>
            <a:ext cx="6903720" cy="1275969"/>
          </a:xfrm>
          <a:prstGeom prst="roundRect">
            <a:avLst>
              <a:gd name="adj" fmla="val 5016"/>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3678428"/>
            <a:ext cx="6574536" cy="1001649"/>
          </a:xfrm>
          <a:prstGeom prst="rect">
            <a:avLst/>
          </a:prstGeom>
          <a:noFill/>
          <a:ln/>
        </p:spPr>
        <p:txBody>
          <a:bodyPr wrap="square" lIns="0" tIns="0" rIns="0" bIns="0" rtlCol="0" anchor="t"/>
          <a:lstStyle/>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clusteradmissionpolicy.policies.kubewarden.io/</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  no-privileged-pods created</a:t>
            </a:r>
            <a:endParaRPr lang="en-US" sz="1050" dirty="0"/>
          </a:p>
          <a:p>
            <a:pPr marL="0" indent="0">
              <a:lnSpc>
                <a:spcPct val="112000"/>
              </a:lnSpc>
              <a:buNone/>
            </a:pP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NAME                 MODE      OBSERVED MODE   STATUS</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no-privileged-pods   monitor   monitor         active</a:t>
            </a:r>
            <a:endParaRPr lang="en-US" sz="1050" dirty="0"/>
          </a:p>
        </p:txBody>
      </p:sp>
      <p:sp>
        <p:nvSpPr>
          <p:cNvPr id="13" name="pill-bg"/>
          <p:cNvSpPr/>
          <p:nvPr/>
        </p:nvSpPr>
        <p:spPr>
          <a:xfrm>
            <a:off x="7680960" y="1664208"/>
            <a:ext cx="2578608"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4" name="pill-text"/>
          <p:cNvSpPr txBox="1"/>
          <p:nvPr/>
        </p:nvSpPr>
        <p:spPr>
          <a:xfrm>
            <a:off x="7680960" y="1664208"/>
            <a:ext cx="2578608"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policies/02-no-privileged.yaml</a:t>
            </a:r>
            <a:endParaRPr lang="en-US" sz="1150" dirty="0"/>
          </a:p>
        </p:txBody>
      </p:sp>
      <p:sp>
        <p:nvSpPr>
          <p:cNvPr id="15" name="code-bg"/>
          <p:cNvSpPr/>
          <p:nvPr/>
        </p:nvSpPr>
        <p:spPr>
          <a:xfrm>
            <a:off x="7680960" y="2084832"/>
            <a:ext cx="4007815" cy="3794760"/>
          </a:xfrm>
          <a:prstGeom prst="roundRect">
            <a:avLst>
              <a:gd name="adj" fmla="val 1687"/>
            </a:avLst>
          </a:prstGeom>
          <a:solidFill>
            <a:srgbClr val="241E4E"/>
          </a:solidFill>
          <a:ln w="12700">
            <a:solidFill>
              <a:srgbClr val="241E4E"/>
            </a:solidFill>
            <a:prstDash val="solid"/>
          </a:ln>
        </p:spPr>
        <p:txBody>
          <a:bodyPr/>
          <a:lstStyle/>
          <a:p>
            <a:endParaRPr lang="en-US"/>
          </a:p>
        </p:txBody>
      </p:sp>
      <p:sp>
        <p:nvSpPr>
          <p:cNvPr id="16" name="code-text"/>
          <p:cNvSpPr txBox="1"/>
          <p:nvPr/>
        </p:nvSpPr>
        <p:spPr>
          <a:xfrm>
            <a:off x="7845552" y="2221992"/>
            <a:ext cx="3678631" cy="3520440"/>
          </a:xfrm>
          <a:prstGeom prst="rect">
            <a:avLst/>
          </a:prstGeom>
          <a:noFill/>
          <a:ln/>
        </p:spPr>
        <p:txBody>
          <a:bodyPr wrap="square" lIns="0" tIns="0" rIns="0" bIns="0" rtlCol="0" anchor="t"/>
          <a:lstStyle/>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apiVersion: policies.kubewarden.io/v1</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kind: ClusterAdmissionPolicy</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metadata:</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name: no-privileged-pods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spec:</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module: registry://ghcr.io/kubewarden/\</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policies/pod-privileged:latest</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mode: monitor</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mutating: false</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rules: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 apiGroups: [""]</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apiVersions: ["v1"]</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resources: ["pods"]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operations: ["CREATE", "UPDATE"]</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namespaceSelector:</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matchExpressions:</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 key: tenant</a:t>
            </a:r>
            <a:endParaRPr lang="en-US" sz="950" dirty="0"/>
          </a:p>
          <a:p>
            <a:pPr marL="0" indent="0">
              <a:lnSpc>
                <a:spcPct val="112000"/>
              </a:lnSpc>
              <a:buNone/>
            </a:pPr>
            <a:r>
              <a:rPr lang="en-US" sz="950" dirty="0">
                <a:solidFill>
                  <a:srgbClr val="E9EDF5"/>
                </a:solidFill>
                <a:latin typeface="Roboto Mono" pitchFamily="34" charset="0"/>
                <a:ea typeface="Roboto Mono" pitchFamily="34" charset="-122"/>
                <a:cs typeface="Roboto Mono" pitchFamily="34" charset="-120"/>
              </a:rPr>
              <a:t>        operator: Exists</a:t>
            </a:r>
            <a:endParaRPr lang="en-US" sz="950" dirty="0"/>
          </a:p>
        </p:txBody>
      </p:sp>
      <p:sp>
        <p:nvSpPr>
          <p:cNvPr id="17"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18"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STATUS says active. Wait for it — a policy takes a few seconds to be pulled and loaded.</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defense · STEP 11</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Monitor mode watches. It does not block</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Recreate exactly the same attack pod. It still works — but this time the policy server writes down that it would have refused.</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388682"/>
          </a:xfrm>
          <a:prstGeom prst="roundRect">
            <a:avLst>
              <a:gd name="adj" fmla="val 4609"/>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114362"/>
          </a:xfrm>
          <a:prstGeom prst="rect">
            <a:avLst/>
          </a:prstGeom>
          <a:noFill/>
          <a:ln/>
        </p:spPr>
        <p:txBody>
          <a:bodyPr wrap="square" lIns="0" tIns="0" rIns="0" bIns="0" rtlCol="0" anchor="t"/>
          <a:lstStyle/>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kubectl delete -f policies/01-escape-pod.yaml</a:t>
            </a:r>
            <a:endParaRPr lang="en-US" sz="1175" dirty="0"/>
          </a:p>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kubectl apply  -f policies/01-escape-pod.yaml</a:t>
            </a:r>
            <a:endParaRPr lang="en-US" sz="1175" dirty="0"/>
          </a:p>
          <a:p>
            <a:pPr marL="0" indent="0">
              <a:lnSpc>
                <a:spcPct val="112000"/>
              </a:lnSpc>
              <a:buNone/>
            </a:pPr>
            <a:endParaRPr lang="en-US" sz="1175" dirty="0"/>
          </a:p>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kubectl logs -n kubewarden \</a:t>
            </a:r>
            <a:endParaRPr lang="en-US" sz="1175" dirty="0"/>
          </a:p>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  -l app=kubewarden-policy-server-default --tail=20</a:t>
            </a:r>
            <a:endParaRPr lang="en-US" sz="1175" dirty="0"/>
          </a:p>
        </p:txBody>
      </p:sp>
      <p:sp>
        <p:nvSpPr>
          <p:cNvPr id="9" name="pill-bg"/>
          <p:cNvSpPr/>
          <p:nvPr/>
        </p:nvSpPr>
        <p:spPr>
          <a:xfrm>
            <a:off x="502920" y="3711258"/>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711258"/>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131882"/>
            <a:ext cx="6903720" cy="1623123"/>
          </a:xfrm>
          <a:prstGeom prst="roundRect">
            <a:avLst>
              <a:gd name="adj" fmla="val 3944"/>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269042"/>
            <a:ext cx="6574536" cy="1348804"/>
          </a:xfrm>
          <a:prstGeom prst="rect">
            <a:avLst/>
          </a:prstGeom>
          <a:noFill/>
          <a:ln/>
        </p:spPr>
        <p:txBody>
          <a:bodyPr wrap="square" lIns="0" tIns="0" rIns="0" bIns="0" rtlCol="0" anchor="t"/>
          <a:lstStyle/>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pod/escape created          &lt;-- still allowed!</a:t>
            </a:r>
            <a:endParaRPr lang="en-US" sz="1025" dirty="0"/>
          </a:p>
          <a:p>
            <a:pPr marL="0" indent="0">
              <a:lnSpc>
                <a:spcPct val="112000"/>
              </a:lnSpc>
              <a:buNone/>
            </a:pPr>
            <a:endParaRPr lang="en-US" sz="1025" dirty="0"/>
          </a:p>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{"policy_id":"no-privileged-pods",</a:t>
            </a:r>
            <a:endParaRPr lang="en-US" sz="1025" dirty="0"/>
          </a:p>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 "allowed":false,</a:t>
            </a:r>
            <a:endParaRPr lang="en-US" sz="1025" dirty="0"/>
          </a:p>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 "mode":"monitor",</a:t>
            </a:r>
            <a:endParaRPr lang="en-US" sz="1025" dirty="0"/>
          </a:p>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 "name":"escape","namespace":"team-alpha",</a:t>
            </a:r>
            <a:endParaRPr lang="en-US" sz="1025" dirty="0"/>
          </a:p>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 "msg":"Privileged container is not allowed"}</a:t>
            </a:r>
            <a:endParaRPr lang="en-US" sz="1025"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828800" cy="310896"/>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15" name="pill-text"/>
          <p:cNvSpPr txBox="1"/>
          <p:nvPr/>
        </p:nvSpPr>
        <p:spPr>
          <a:xfrm>
            <a:off x="7863840" y="1847088"/>
            <a:ext cx="182880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Why ship it this way</a:t>
            </a:r>
            <a:endParaRPr lang="en-US" sz="1150" dirty="0"/>
          </a:p>
        </p:txBody>
      </p:sp>
      <p:sp>
        <p:nvSpPr>
          <p:cNvPr id="16" name="sdot-0"/>
          <p:cNvSpPr/>
          <p:nvPr/>
        </p:nvSpPr>
        <p:spPr>
          <a:xfrm>
            <a:off x="7882128" y="2414016"/>
            <a:ext cx="128016" cy="128016"/>
          </a:xfrm>
          <a:prstGeom prst="ellipse">
            <a:avLst/>
          </a:prstGeom>
          <a:solidFill>
            <a:srgbClr val="0F7B45"/>
          </a:solidFill>
          <a:ln w="12700">
            <a:solidFill>
              <a:srgbClr val="0F7B45"/>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F7B45"/>
                </a:solidFill>
                <a:latin typeface="Calibri" pitchFamily="34" charset="0"/>
                <a:ea typeface="Calibri" pitchFamily="34" charset="-122"/>
                <a:cs typeface="Calibri" pitchFamily="34" charset="-120"/>
              </a:rPr>
              <a:t>You do not know what you will break.  </a:t>
            </a:r>
            <a:r>
              <a:rPr lang="en-US" sz="1000" dirty="0">
                <a:solidFill>
                  <a:srgbClr val="1F2937"/>
                </a:solidFill>
                <a:latin typeface="Calibri" pitchFamily="34" charset="0"/>
                <a:ea typeface="Calibri" pitchFamily="34" charset="-122"/>
                <a:cs typeface="Calibri" pitchFamily="34" charset="-120"/>
              </a:rPr>
              <a:t>On a real cluster, some of those privileged pods are load-bearing. Monitor tells you which, before you cause an outage.</a:t>
            </a:r>
            <a:endParaRPr lang="en-US" sz="1000" dirty="0"/>
          </a:p>
        </p:txBody>
      </p:sp>
      <p:sp>
        <p:nvSpPr>
          <p:cNvPr id="18" name="sdot-1"/>
          <p:cNvSpPr/>
          <p:nvPr/>
        </p:nvSpPr>
        <p:spPr>
          <a:xfrm>
            <a:off x="7882128" y="3262122"/>
            <a:ext cx="128016" cy="128016"/>
          </a:xfrm>
          <a:prstGeom prst="ellipse">
            <a:avLst/>
          </a:prstGeom>
          <a:solidFill>
            <a:srgbClr val="0F7B45"/>
          </a:solidFill>
          <a:ln w="12700">
            <a:solidFill>
              <a:srgbClr val="0F7B45"/>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F7B45"/>
                </a:solidFill>
                <a:latin typeface="Calibri" pitchFamily="34" charset="0"/>
                <a:ea typeface="Calibri" pitchFamily="34" charset="-122"/>
                <a:cs typeface="Calibri" pitchFamily="34" charset="-120"/>
              </a:rPr>
              <a:t>It gives you an inventory.  </a:t>
            </a:r>
            <a:r>
              <a:rPr lang="en-US" sz="1000" dirty="0">
                <a:solidFill>
                  <a:srgbClr val="1F2937"/>
                </a:solidFill>
                <a:latin typeface="Calibri" pitchFamily="34" charset="0"/>
                <a:ea typeface="Calibri" pitchFamily="34" charset="-122"/>
                <a:cs typeface="Calibri" pitchFamily="34" charset="-120"/>
              </a:rPr>
              <a:t>Run monitor for a week, collect the violations, go talk to the teams that own them.</a:t>
            </a:r>
            <a:endParaRPr lang="en-US" sz="1000" dirty="0"/>
          </a:p>
        </p:txBody>
      </p:sp>
      <p:sp>
        <p:nvSpPr>
          <p:cNvPr id="20" name="sdot-2"/>
          <p:cNvSpPr/>
          <p:nvPr/>
        </p:nvSpPr>
        <p:spPr>
          <a:xfrm>
            <a:off x="7882128" y="4110228"/>
            <a:ext cx="128016" cy="128016"/>
          </a:xfrm>
          <a:prstGeom prst="ellipse">
            <a:avLst/>
          </a:prstGeom>
          <a:solidFill>
            <a:srgbClr val="0F7B45"/>
          </a:solidFill>
          <a:ln w="12700">
            <a:solidFill>
              <a:srgbClr val="0F7B45"/>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F7B45"/>
                </a:solidFill>
                <a:latin typeface="Calibri" pitchFamily="34" charset="0"/>
                <a:ea typeface="Calibri" pitchFamily="34" charset="-122"/>
                <a:cs typeface="Calibri" pitchFamily="34" charset="-120"/>
              </a:rPr>
              <a:t>It makes the rollout political, not technical.  </a:t>
            </a:r>
            <a:r>
              <a:rPr lang="en-US" sz="1000" dirty="0">
                <a:solidFill>
                  <a:srgbClr val="1F2937"/>
                </a:solidFill>
                <a:latin typeface="Calibri" pitchFamily="34" charset="0"/>
                <a:ea typeface="Calibri" pitchFamily="34" charset="-122"/>
                <a:cs typeface="Calibri" pitchFamily="34" charset="-120"/>
              </a:rPr>
              <a:t>'Here is the list of what will break on the 1st' is a much easier conversation than an unexplained outage.</a:t>
            </a:r>
            <a:endParaRPr lang="en-US" sz="1000" dirty="0"/>
          </a:p>
        </p:txBody>
      </p:sp>
      <p:sp>
        <p:nvSpPr>
          <p:cNvPr id="22" name="sdot-3"/>
          <p:cNvSpPr/>
          <p:nvPr/>
        </p:nvSpPr>
        <p:spPr>
          <a:xfrm>
            <a:off x="7882128" y="4958334"/>
            <a:ext cx="128016" cy="128016"/>
          </a:xfrm>
          <a:prstGeom prst="ellipse">
            <a:avLst/>
          </a:prstGeom>
          <a:solidFill>
            <a:srgbClr val="0B4F5C"/>
          </a:solidFill>
          <a:ln w="12700">
            <a:solidFill>
              <a:srgbClr val="0B4F5C"/>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B4F5C"/>
                </a:solidFill>
                <a:latin typeface="Calibri" pitchFamily="34" charset="0"/>
                <a:ea typeface="Calibri" pitchFamily="34" charset="-122"/>
                <a:cs typeface="Calibri" pitchFamily="34" charset="-120"/>
              </a:rPr>
              <a:t>Same pattern everywhere.  </a:t>
            </a:r>
            <a:r>
              <a:rPr lang="en-US" sz="1000" dirty="0">
                <a:solidFill>
                  <a:srgbClr val="1F2937"/>
                </a:solidFill>
                <a:latin typeface="Calibri" pitchFamily="34" charset="0"/>
                <a:ea typeface="Calibri" pitchFamily="34" charset="-122"/>
                <a:cs typeface="Calibri" pitchFamily="34" charset="-120"/>
              </a:rPr>
              <a:t>Kyverno calls it Audit, Gatekeeper calls it dryrun, Pod Security Admission calls it warn. Learn it once.</a:t>
            </a:r>
            <a:endParaRPr lang="en-US" sz="100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The pod is created anyway, and the policy server log shows allowed:false with mode monitor.</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defense · STEP 12</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Flip the switch to protect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Same policy, same pod, different answer. This time the API server refuses to write the object at all.</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516698"/>
          </a:xfrm>
          <a:prstGeom prst="roundRect">
            <a:avLst>
              <a:gd name="adj" fmla="val 4609"/>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114362"/>
          </a:xfrm>
          <a:prstGeom prst="rect">
            <a:avLst/>
          </a:prstGeom>
          <a:noFill/>
          <a:ln/>
        </p:spPr>
        <p:txBody>
          <a:bodyPr wrap="square" lIns="0" tIns="0" rIns="0" bIns="0" rtlCol="0" anchor="t"/>
          <a:lstStyle/>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kubectl patch clusteradmissionpolicy no-privileged-pods \</a:t>
            </a:r>
            <a:endParaRPr lang="en-US" sz="1175" dirty="0"/>
          </a:p>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  --type=merge -p '{"spec":{"</a:t>
            </a:r>
            <a:r>
              <a:rPr lang="en-US" sz="1175" dirty="0" err="1">
                <a:solidFill>
                  <a:srgbClr val="E9EDF5"/>
                </a:solidFill>
                <a:latin typeface="Roboto Mono" pitchFamily="34" charset="0"/>
                <a:ea typeface="Roboto Mono" pitchFamily="34" charset="-122"/>
                <a:cs typeface="Roboto Mono" pitchFamily="34" charset="-120"/>
              </a:rPr>
              <a:t>mode":"protect</a:t>
            </a:r>
            <a:r>
              <a:rPr lang="en-US" sz="1175" dirty="0">
                <a:solidFill>
                  <a:srgbClr val="E9EDF5"/>
                </a:solidFill>
                <a:latin typeface="Roboto Mono" pitchFamily="34" charset="0"/>
                <a:ea typeface="Roboto Mono" pitchFamily="34" charset="-122"/>
                <a:cs typeface="Roboto Mono" pitchFamily="34" charset="-120"/>
              </a:rPr>
              <a:t>"}}’</a:t>
            </a:r>
            <a:endParaRPr lang="en-US" sz="1175" dirty="0"/>
          </a:p>
          <a:p>
            <a:pPr marL="0" indent="0">
              <a:lnSpc>
                <a:spcPct val="112000"/>
              </a:lnSpc>
              <a:buNone/>
            </a:pPr>
            <a:endParaRPr lang="en-US" sz="1175" dirty="0"/>
          </a:p>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 WAIT A BIT FOR THE POLICY ENGINE TO RESTART</a:t>
            </a:r>
          </a:p>
          <a:p>
            <a:pPr marL="0" indent="0">
              <a:lnSpc>
                <a:spcPct val="112000"/>
              </a:lnSpc>
              <a:buNone/>
            </a:pPr>
            <a:r>
              <a:rPr lang="en-US" sz="1175" dirty="0" err="1">
                <a:solidFill>
                  <a:srgbClr val="E9EDF5"/>
                </a:solidFill>
                <a:latin typeface="Roboto Mono" pitchFamily="34" charset="0"/>
                <a:ea typeface="Roboto Mono" pitchFamily="34" charset="-122"/>
                <a:cs typeface="Roboto Mono" pitchFamily="34" charset="-120"/>
              </a:rPr>
              <a:t>kubectl</a:t>
            </a:r>
            <a:r>
              <a:rPr lang="en-US" sz="1175" dirty="0">
                <a:solidFill>
                  <a:srgbClr val="E9EDF5"/>
                </a:solidFill>
                <a:latin typeface="Roboto Mono" pitchFamily="34" charset="0"/>
                <a:ea typeface="Roboto Mono" pitchFamily="34" charset="-122"/>
                <a:cs typeface="Roboto Mono" pitchFamily="34" charset="-120"/>
              </a:rPr>
              <a:t> delete -f policies/01-escape-pod.yaml</a:t>
            </a:r>
            <a:endParaRPr lang="en-US" sz="1175" dirty="0"/>
          </a:p>
          <a:p>
            <a:pPr marL="0" indent="0">
              <a:lnSpc>
                <a:spcPct val="112000"/>
              </a:lnSpc>
              <a:buNone/>
            </a:pPr>
            <a:r>
              <a:rPr lang="en-US" sz="1175" dirty="0">
                <a:solidFill>
                  <a:srgbClr val="E9EDF5"/>
                </a:solidFill>
                <a:latin typeface="Roboto Mono" pitchFamily="34" charset="0"/>
                <a:ea typeface="Roboto Mono" pitchFamily="34" charset="-122"/>
                <a:cs typeface="Roboto Mono" pitchFamily="34" charset="-120"/>
              </a:rPr>
              <a:t>kubectl apply  -f policies/01-escape-pod.yaml</a:t>
            </a:r>
            <a:endParaRPr lang="en-US" sz="1175" dirty="0"/>
          </a:p>
        </p:txBody>
      </p:sp>
      <p:sp>
        <p:nvSpPr>
          <p:cNvPr id="9" name="pill-bg"/>
          <p:cNvSpPr/>
          <p:nvPr/>
        </p:nvSpPr>
        <p:spPr>
          <a:xfrm>
            <a:off x="502920" y="3711258"/>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711258"/>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131882"/>
            <a:ext cx="6903720" cy="1623123"/>
          </a:xfrm>
          <a:prstGeom prst="roundRect">
            <a:avLst>
              <a:gd name="adj" fmla="val 3944"/>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269042"/>
            <a:ext cx="6574536" cy="1348804"/>
          </a:xfrm>
          <a:prstGeom prst="rect">
            <a:avLst/>
          </a:prstGeom>
          <a:noFill/>
          <a:ln/>
        </p:spPr>
        <p:txBody>
          <a:bodyPr wrap="square" lIns="0" tIns="0" rIns="0" bIns="0" rtlCol="0" anchor="t"/>
          <a:lstStyle/>
          <a:p>
            <a:pPr marL="0" indent="0">
              <a:lnSpc>
                <a:spcPct val="112000"/>
              </a:lnSpc>
              <a:buNone/>
            </a:pPr>
            <a:r>
              <a:rPr lang="en-US" sz="1025" dirty="0">
                <a:solidFill>
                  <a:srgbClr val="FF9BA6"/>
                </a:solidFill>
                <a:latin typeface="Roboto Mono" pitchFamily="34" charset="0"/>
                <a:ea typeface="Roboto Mono" pitchFamily="34" charset="-122"/>
                <a:cs typeface="Roboto Mono" pitchFamily="34" charset="-120"/>
              </a:rPr>
              <a:t>Error from server: error when creating</a:t>
            </a:r>
            <a:endParaRPr lang="en-US" sz="1025" dirty="0"/>
          </a:p>
          <a:p>
            <a:pPr marL="0" indent="0">
              <a:lnSpc>
                <a:spcPct val="112000"/>
              </a:lnSpc>
              <a:buNone/>
            </a:pPr>
            <a:r>
              <a:rPr lang="en-US" sz="1025" dirty="0">
                <a:solidFill>
                  <a:srgbClr val="FF9BA6"/>
                </a:solidFill>
                <a:latin typeface="Roboto Mono" pitchFamily="34" charset="0"/>
                <a:ea typeface="Roboto Mono" pitchFamily="34" charset="-122"/>
                <a:cs typeface="Roboto Mono" pitchFamily="34" charset="-120"/>
              </a:rPr>
              <a:t>"policies/01-escape-pod.yaml": admission webhook</a:t>
            </a:r>
            <a:endParaRPr lang="en-US" sz="1025" dirty="0"/>
          </a:p>
          <a:p>
            <a:pPr marL="0" indent="0">
              <a:lnSpc>
                <a:spcPct val="112000"/>
              </a:lnSpc>
              <a:buNone/>
            </a:pPr>
            <a:r>
              <a:rPr lang="en-US" sz="1025" dirty="0">
                <a:solidFill>
                  <a:srgbClr val="FF9BA6"/>
                </a:solidFill>
                <a:latin typeface="Roboto Mono" pitchFamily="34" charset="0"/>
                <a:ea typeface="Roboto Mono" pitchFamily="34" charset="-122"/>
                <a:cs typeface="Roboto Mono" pitchFamily="34" charset="-120"/>
              </a:rPr>
              <a:t>"clusterwide-no-privileged-pods.kubewarden.admission"</a:t>
            </a:r>
            <a:endParaRPr lang="en-US" sz="1025" dirty="0"/>
          </a:p>
          <a:p>
            <a:pPr marL="0" indent="0">
              <a:lnSpc>
                <a:spcPct val="112000"/>
              </a:lnSpc>
              <a:buNone/>
            </a:pPr>
            <a:r>
              <a:rPr lang="en-US" sz="1025" dirty="0">
                <a:solidFill>
                  <a:srgbClr val="FF9BA6"/>
                </a:solidFill>
                <a:latin typeface="Roboto Mono" pitchFamily="34" charset="0"/>
                <a:ea typeface="Roboto Mono" pitchFamily="34" charset="-122"/>
                <a:cs typeface="Roboto Mono" pitchFamily="34" charset="-120"/>
              </a:rPr>
              <a:t>denied the request: Privileged container is not allowed</a:t>
            </a:r>
            <a:endParaRPr lang="en-US" sz="1025" dirty="0"/>
          </a:p>
          <a:p>
            <a:pPr marL="0" indent="0">
              <a:lnSpc>
                <a:spcPct val="112000"/>
              </a:lnSpc>
              <a:buNone/>
            </a:pPr>
            <a:endParaRPr lang="en-US" sz="1025" dirty="0"/>
          </a:p>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 kubectl get pod -n team-alpha</a:t>
            </a:r>
            <a:endParaRPr lang="en-US" sz="1025" dirty="0"/>
          </a:p>
          <a:p>
            <a:pPr marL="0" indent="0">
              <a:lnSpc>
                <a:spcPct val="112000"/>
              </a:lnSpc>
              <a:buNone/>
            </a:pPr>
            <a:r>
              <a:rPr lang="en-US" sz="1025" dirty="0">
                <a:solidFill>
                  <a:srgbClr val="E9EDF5"/>
                </a:solidFill>
                <a:latin typeface="Roboto Mono" pitchFamily="34" charset="0"/>
                <a:ea typeface="Roboto Mono" pitchFamily="34" charset="-122"/>
                <a:cs typeface="Roboto Mono" pitchFamily="34" charset="-120"/>
              </a:rPr>
              <a:t>No resources found in team-alpha namespace.</a:t>
            </a:r>
            <a:endParaRPr lang="en-US" sz="1025"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228954" cy="310896"/>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5" name="pill-text"/>
          <p:cNvSpPr txBox="1"/>
          <p:nvPr/>
        </p:nvSpPr>
        <p:spPr>
          <a:xfrm>
            <a:off x="7863840" y="1847088"/>
            <a:ext cx="1228954"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changed</a:t>
            </a:r>
            <a:endParaRPr lang="en-US" sz="1150" dirty="0"/>
          </a:p>
        </p:txBody>
      </p:sp>
      <p:sp>
        <p:nvSpPr>
          <p:cNvPr id="16" name="sdot-0"/>
          <p:cNvSpPr/>
          <p:nvPr/>
        </p:nvSpPr>
        <p:spPr>
          <a:xfrm>
            <a:off x="7882128" y="2414016"/>
            <a:ext cx="128016" cy="128016"/>
          </a:xfrm>
          <a:prstGeom prst="ellipse">
            <a:avLst/>
          </a:prstGeom>
          <a:solidFill>
            <a:srgbClr val="B3263B"/>
          </a:solidFill>
          <a:ln w="12700">
            <a:solidFill>
              <a:srgbClr val="B3263B"/>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B3263B"/>
                </a:solidFill>
                <a:latin typeface="Calibri" pitchFamily="34" charset="0"/>
                <a:ea typeface="Calibri" pitchFamily="34" charset="-122"/>
                <a:cs typeface="Calibri" pitchFamily="34" charset="-120"/>
              </a:rPr>
              <a:t>The pod was never created.  </a:t>
            </a:r>
            <a:r>
              <a:rPr lang="en-US" sz="1050" dirty="0">
                <a:solidFill>
                  <a:srgbClr val="1F2937"/>
                </a:solidFill>
                <a:latin typeface="Calibri" pitchFamily="34" charset="0"/>
                <a:ea typeface="Calibri" pitchFamily="34" charset="-122"/>
                <a:cs typeface="Calibri" pitchFamily="34" charset="-120"/>
              </a:rPr>
              <a:t>Not created-then-deleted. It never reached etcd. There is nothing to clean up.</a:t>
            </a:r>
            <a:endParaRPr lang="en-US" sz="1050" dirty="0"/>
          </a:p>
        </p:txBody>
      </p:sp>
      <p:sp>
        <p:nvSpPr>
          <p:cNvPr id="18" name="sdot-1"/>
          <p:cNvSpPr/>
          <p:nvPr/>
        </p:nvSpPr>
        <p:spPr>
          <a:xfrm>
            <a:off x="7882128" y="3262122"/>
            <a:ext cx="128016" cy="128016"/>
          </a:xfrm>
          <a:prstGeom prst="ellipse">
            <a:avLst/>
          </a:prstGeom>
          <a:solidFill>
            <a:srgbClr val="0B4F5C"/>
          </a:solidFill>
          <a:ln w="12700">
            <a:solidFill>
              <a:srgbClr val="0B4F5C"/>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The error names the webhook  </a:t>
            </a:r>
            <a:r>
              <a:rPr lang="en-US" sz="1050" dirty="0">
                <a:solidFill>
                  <a:srgbClr val="1F2937"/>
                </a:solidFill>
                <a:latin typeface="Calibri" pitchFamily="34" charset="0"/>
                <a:ea typeface="Calibri" pitchFamily="34" charset="-122"/>
                <a:cs typeface="Calibri" pitchFamily="34" charset="-120"/>
              </a:rPr>
              <a:t>and gives the policy's own rejection message. Good policies explain themselves — yours should too.</a:t>
            </a:r>
            <a:endParaRPr lang="en-US" sz="1050" dirty="0"/>
          </a:p>
        </p:txBody>
      </p:sp>
      <p:sp>
        <p:nvSpPr>
          <p:cNvPr id="20" name="sdot-2"/>
          <p:cNvSpPr/>
          <p:nvPr/>
        </p:nvSpPr>
        <p:spPr>
          <a:xfrm>
            <a:off x="7882128" y="4110228"/>
            <a:ext cx="128016" cy="128016"/>
          </a:xfrm>
          <a:prstGeom prst="ellipse">
            <a:avLst/>
          </a:prstGeom>
          <a:solidFill>
            <a:srgbClr val="9A5B0C"/>
          </a:solidFill>
          <a:ln w="12700">
            <a:solidFill>
              <a:srgbClr val="9A5B0C"/>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9A5B0C"/>
                </a:solidFill>
                <a:latin typeface="Calibri" pitchFamily="34" charset="0"/>
                <a:ea typeface="Calibri" pitchFamily="34" charset="-122"/>
                <a:cs typeface="Calibri" pitchFamily="34" charset="-120"/>
              </a:rPr>
              <a:t>monitor → protect is one-way.  </a:t>
            </a:r>
            <a:r>
              <a:rPr lang="en-US" sz="1050" dirty="0">
                <a:solidFill>
                  <a:srgbClr val="1F2937"/>
                </a:solidFill>
                <a:latin typeface="Calibri" pitchFamily="34" charset="0"/>
                <a:ea typeface="Calibri" pitchFamily="34" charset="-122"/>
                <a:cs typeface="Calibri" pitchFamily="34" charset="-120"/>
              </a:rPr>
              <a:t>Kubewarden will not let you relax a policy back to monitor. Delete and recreate it if you really need to.</a:t>
            </a:r>
            <a:endParaRPr lang="en-US" sz="1050" dirty="0"/>
          </a:p>
        </p:txBody>
      </p:sp>
      <p:sp>
        <p:nvSpPr>
          <p:cNvPr id="22" name="sdot-3"/>
          <p:cNvSpPr/>
          <p:nvPr/>
        </p:nvSpPr>
        <p:spPr>
          <a:xfrm>
            <a:off x="7882128" y="4958334"/>
            <a:ext cx="128016" cy="128016"/>
          </a:xfrm>
          <a:prstGeom prst="ellipse">
            <a:avLst/>
          </a:prstGeom>
          <a:solidFill>
            <a:srgbClr val="4C3FA3"/>
          </a:solidFill>
          <a:ln w="12700">
            <a:solidFill>
              <a:srgbClr val="4C3FA3"/>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Try the escape now.  </a:t>
            </a:r>
            <a:r>
              <a:rPr lang="en-US" sz="1050" dirty="0">
                <a:solidFill>
                  <a:srgbClr val="1F2937"/>
                </a:solidFill>
                <a:latin typeface="Calibri" pitchFamily="34" charset="0"/>
                <a:ea typeface="Calibri" pitchFamily="34" charset="-122"/>
                <a:cs typeface="Calibri" pitchFamily="34" charset="-120"/>
              </a:rPr>
              <a:t>kubectl exec into it fails too — there is no pod to exec into.</a:t>
            </a:r>
            <a:endParaRPr lang="en-US" sz="10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kubectl apply fails with "denied the request", and kubectl get pod -n team-alpha finds nothing.</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defense · STEP 13</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Close the other three doors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Blocking privileged alone is not enough. hostPath / and hostPID are each sufficient on their own. Four more policies, applied together.</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230884"/>
          </a:xfrm>
          <a:prstGeom prst="roundRect">
            <a:avLst>
              <a:gd name="adj" fmla="val 5200"/>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956564"/>
          </a:xfrm>
          <a:prstGeom prst="rect">
            <a:avLst/>
          </a:prstGeom>
          <a:noFill/>
          <a:ln/>
        </p:spPr>
        <p:txBody>
          <a:bodyPr wrap="square" lIns="0" tIns="0" rIns="0" bIns="0" rtlCol="0" anchor="t"/>
          <a:lstStyle/>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kubectl apply -f policies/03-harden-tenants.yaml</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kubectl get clusteradmissionpolicies</a:t>
            </a:r>
            <a:endParaRPr lang="en-US" sz="1000" dirty="0"/>
          </a:p>
          <a:p>
            <a:pPr marL="0" indent="0">
              <a:lnSpc>
                <a:spcPct val="112000"/>
              </a:lnSpc>
              <a:buNone/>
            </a:pP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now try all four attacks at once</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kubectl apply -f policies/04-escape-attempts.yaml</a:t>
            </a:r>
            <a:endParaRPr lang="en-US" sz="1000" dirty="0"/>
          </a:p>
        </p:txBody>
      </p:sp>
      <p:sp>
        <p:nvSpPr>
          <p:cNvPr id="9" name="pill-bg"/>
          <p:cNvSpPr/>
          <p:nvPr/>
        </p:nvSpPr>
        <p:spPr>
          <a:xfrm>
            <a:off x="502920" y="3553460"/>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553460"/>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3974084"/>
            <a:ext cx="6903720" cy="1771904"/>
          </a:xfrm>
          <a:prstGeom prst="roundRect">
            <a:avLst>
              <a:gd name="adj" fmla="val 3612"/>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111244"/>
            <a:ext cx="6574536" cy="1497584"/>
          </a:xfrm>
          <a:prstGeom prst="rect">
            <a:avLst/>
          </a:prstGeom>
          <a:noFill/>
          <a:ln/>
        </p:spPr>
        <p:txBody>
          <a:bodyPr wrap="square" lIns="0" tIns="0" rIns="0" bIns="0" rtlCol="0" anchor="t"/>
          <a:lstStyle/>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NAME                        MODE      STATUS</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no-privileged-pods          protect   active</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no-host-namespaces          protect   active</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no-hostpath-mounts          protect   active</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no-privilege-escalation     protect   active</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drop-all-capabilities       protect   active</a:t>
            </a:r>
            <a:endParaRPr lang="en-US" sz="800" dirty="0"/>
          </a:p>
          <a:p>
            <a:pPr marL="0" indent="0">
              <a:lnSpc>
                <a:spcPct val="112000"/>
              </a:lnSpc>
              <a:buNone/>
            </a:pP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Error ... denied: host PID namespace is not allowed</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Error ... denied: hostPath volumes are not allowed</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Error ... denied: privilege escalation is not allowed</a:t>
            </a:r>
            <a:endParaRPr lang="en-US" sz="8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603858" cy="310896"/>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5" name="pill-text"/>
          <p:cNvSpPr txBox="1"/>
          <p:nvPr/>
        </p:nvSpPr>
        <p:spPr>
          <a:xfrm>
            <a:off x="7863840" y="1847088"/>
            <a:ext cx="1603858"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The four policies</a:t>
            </a:r>
            <a:endParaRPr lang="en-US" sz="1150" dirty="0"/>
          </a:p>
        </p:txBody>
      </p:sp>
      <p:sp>
        <p:nvSpPr>
          <p:cNvPr id="16" name="sdot-0"/>
          <p:cNvSpPr/>
          <p:nvPr/>
        </p:nvSpPr>
        <p:spPr>
          <a:xfrm>
            <a:off x="7882128" y="2414016"/>
            <a:ext cx="128016" cy="128016"/>
          </a:xfrm>
          <a:prstGeom prst="ellipse">
            <a:avLst/>
          </a:prstGeom>
          <a:solidFill>
            <a:srgbClr val="B3263B"/>
          </a:solidFill>
          <a:ln w="12700">
            <a:solidFill>
              <a:srgbClr val="B3263B"/>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host-namespaces-psp  </a:t>
            </a:r>
            <a:r>
              <a:rPr lang="en-US" sz="1000" dirty="0">
                <a:solidFill>
                  <a:srgbClr val="1F2937"/>
                </a:solidFill>
                <a:latin typeface="Calibri" pitchFamily="34" charset="0"/>
                <a:ea typeface="Calibri" pitchFamily="34" charset="-122"/>
                <a:cs typeface="Calibri" pitchFamily="34" charset="-120"/>
              </a:rPr>
              <a:t>blocks hostPID, hostNetwork and hostIPC. hostNetwork also bypasses network policy, so this one does double duty.</a:t>
            </a:r>
            <a:endParaRPr lang="en-US" sz="1000" dirty="0"/>
          </a:p>
        </p:txBody>
      </p:sp>
      <p:sp>
        <p:nvSpPr>
          <p:cNvPr id="18" name="sdot-1"/>
          <p:cNvSpPr/>
          <p:nvPr/>
        </p:nvSpPr>
        <p:spPr>
          <a:xfrm>
            <a:off x="7882128" y="3262122"/>
            <a:ext cx="128016" cy="128016"/>
          </a:xfrm>
          <a:prstGeom prst="ellipse">
            <a:avLst/>
          </a:prstGeom>
          <a:solidFill>
            <a:srgbClr val="B3263B"/>
          </a:solidFill>
          <a:ln w="12700">
            <a:solidFill>
              <a:srgbClr val="B3263B"/>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hostpaths-psp  </a:t>
            </a:r>
            <a:r>
              <a:rPr lang="en-US" sz="1000" dirty="0">
                <a:solidFill>
                  <a:srgbClr val="1F2937"/>
                </a:solidFill>
                <a:latin typeface="Calibri" pitchFamily="34" charset="0"/>
                <a:ea typeface="Calibri" pitchFamily="34" charset="-122"/>
                <a:cs typeface="Calibri" pitchFamily="34" charset="-120"/>
              </a:rPr>
              <a:t>restricts which host directories can be mounted. We allow none for tenants.</a:t>
            </a:r>
            <a:endParaRPr lang="en-US" sz="1000" dirty="0"/>
          </a:p>
        </p:txBody>
      </p:sp>
      <p:sp>
        <p:nvSpPr>
          <p:cNvPr id="20" name="sdot-2"/>
          <p:cNvSpPr/>
          <p:nvPr/>
        </p:nvSpPr>
        <p:spPr>
          <a:xfrm>
            <a:off x="7882128" y="4110228"/>
            <a:ext cx="128016" cy="128016"/>
          </a:xfrm>
          <a:prstGeom prst="ellipse">
            <a:avLst/>
          </a:prstGeom>
          <a:solidFill>
            <a:srgbClr val="B3263B"/>
          </a:solidFill>
          <a:ln w="12700">
            <a:solidFill>
              <a:srgbClr val="B3263B"/>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allow-privilege-escalation-psp  </a:t>
            </a:r>
            <a:r>
              <a:rPr lang="en-US" sz="1000" dirty="0">
                <a:solidFill>
                  <a:srgbClr val="1F2937"/>
                </a:solidFill>
                <a:latin typeface="Calibri" pitchFamily="34" charset="0"/>
                <a:ea typeface="Calibri" pitchFamily="34" charset="-122"/>
                <a:cs typeface="Calibri" pitchFamily="34" charset="-120"/>
              </a:rPr>
              <a:t>stops a process gaining more privileges than its parent via setuid binaries.</a:t>
            </a:r>
            <a:endParaRPr lang="en-US" sz="1000" dirty="0"/>
          </a:p>
        </p:txBody>
      </p:sp>
      <p:sp>
        <p:nvSpPr>
          <p:cNvPr id="22" name="sdot-3"/>
          <p:cNvSpPr/>
          <p:nvPr/>
        </p:nvSpPr>
        <p:spPr>
          <a:xfrm>
            <a:off x="7882128" y="4958334"/>
            <a:ext cx="128016" cy="128016"/>
          </a:xfrm>
          <a:prstGeom prst="ellipse">
            <a:avLst/>
          </a:prstGeom>
          <a:solidFill>
            <a:srgbClr val="B3263B"/>
          </a:solidFill>
          <a:ln w="12700">
            <a:solidFill>
              <a:srgbClr val="B3263B"/>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capabilities-psp  </a:t>
            </a:r>
            <a:r>
              <a:rPr lang="en-US" sz="1000" dirty="0">
                <a:solidFill>
                  <a:srgbClr val="1F2937"/>
                </a:solidFill>
                <a:latin typeface="Calibri" pitchFamily="34" charset="0"/>
                <a:ea typeface="Calibri" pitchFamily="34" charset="-122"/>
                <a:cs typeface="Calibri" pitchFamily="34" charset="-120"/>
              </a:rPr>
              <a:t>drops all Linux capabilities and allows none back. CAP_SYS_ADMIN alone is close to privileged.</a:t>
            </a:r>
            <a:endParaRPr lang="en-US" sz="100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Five policies, all protect, all active — and every pod in 04-escape-attempts.yaml is refused.</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defense · STEP 14</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And the free one you should always turn on</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Pod Security Admission is built into the API server. No install, no webhook, no pod to keep alive. Two labels and most of what we just did is enforced again.</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411224"/>
          </a:xfrm>
          <a:prstGeom prst="roundRect">
            <a:avLst>
              <a:gd name="adj" fmla="val 453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136904"/>
          </a:xfrm>
          <a:prstGeom prst="rect">
            <a:avLst/>
          </a:prstGeom>
          <a:noFill/>
          <a:ln/>
        </p:spPr>
        <p:txBody>
          <a:bodyPr wrap="square" lIns="0" tIns="0" rIns="0" bIns="0" rtlCol="0" anchor="t"/>
          <a:lstStyle/>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kubectl label ns team-alpha \</a:t>
            </a: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  pod-security.kubernetes.io/enforce=restricted \</a:t>
            </a: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  pod-security.kubernetes.io/warn=restricted --overwrite</a:t>
            </a:r>
            <a:endParaRPr lang="en-US" sz="1200" dirty="0"/>
          </a:p>
          <a:p>
            <a:pPr marL="0" indent="0">
              <a:lnSpc>
                <a:spcPct val="112000"/>
              </a:lnSpc>
              <a:buNone/>
            </a:pPr>
            <a:endParaRPr lang="en-US" sz="1200" dirty="0"/>
          </a:p>
          <a:p>
            <a:pPr marL="0" indent="0">
              <a:lnSpc>
                <a:spcPct val="112000"/>
              </a:lnSpc>
              <a:buNone/>
            </a:pPr>
            <a:r>
              <a:rPr lang="en-US" sz="1200" dirty="0">
                <a:solidFill>
                  <a:srgbClr val="E9EDF5"/>
                </a:solidFill>
                <a:latin typeface="Roboto Mono" pitchFamily="34" charset="0"/>
                <a:ea typeface="Roboto Mono" pitchFamily="34" charset="-122"/>
                <a:cs typeface="Roboto Mono" pitchFamily="34" charset="-120"/>
              </a:rPr>
              <a:t>kubectl apply -f policies/01-escape-pod.yaml</a:t>
            </a:r>
            <a:endParaRPr lang="en-US" sz="1200" dirty="0"/>
          </a:p>
        </p:txBody>
      </p:sp>
      <p:sp>
        <p:nvSpPr>
          <p:cNvPr id="9" name="pill-bg"/>
          <p:cNvSpPr/>
          <p:nvPr/>
        </p:nvSpPr>
        <p:spPr>
          <a:xfrm>
            <a:off x="502920" y="3733800"/>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733800"/>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154424"/>
            <a:ext cx="6903720" cy="1411224"/>
          </a:xfrm>
          <a:prstGeom prst="roundRect">
            <a:avLst>
              <a:gd name="adj" fmla="val 4536"/>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291584"/>
            <a:ext cx="6574536" cy="1136904"/>
          </a:xfrm>
          <a:prstGeom prst="rect">
            <a:avLst/>
          </a:prstGeom>
          <a:noFill/>
          <a:ln/>
        </p:spPr>
        <p:txBody>
          <a:bodyPr wrap="square" lIns="0" tIns="0" rIns="0" bIns="0" rtlCol="0" anchor="t"/>
          <a:lstStyle/>
          <a:p>
            <a:pPr marL="0" indent="0">
              <a:lnSpc>
                <a:spcPct val="112000"/>
              </a:lnSpc>
              <a:buNone/>
            </a:pPr>
            <a:r>
              <a:rPr lang="en-US" sz="1000" dirty="0">
                <a:solidFill>
                  <a:srgbClr val="FF9BA6"/>
                </a:solidFill>
                <a:latin typeface="Roboto Mono" pitchFamily="34" charset="0"/>
                <a:ea typeface="Roboto Mono" pitchFamily="34" charset="-122"/>
                <a:cs typeface="Roboto Mono" pitchFamily="34" charset="-120"/>
              </a:rPr>
              <a:t>Error from server (Forbidden): pods "escape" is</a:t>
            </a:r>
            <a:endParaRPr lang="en-US" sz="1000" dirty="0"/>
          </a:p>
          <a:p>
            <a:pPr marL="0" indent="0">
              <a:lnSpc>
                <a:spcPct val="112000"/>
              </a:lnSpc>
              <a:buNone/>
            </a:pPr>
            <a:r>
              <a:rPr lang="en-US" sz="1000" dirty="0">
                <a:solidFill>
                  <a:srgbClr val="FF9BA6"/>
                </a:solidFill>
                <a:latin typeface="Roboto Mono" pitchFamily="34" charset="0"/>
                <a:ea typeface="Roboto Mono" pitchFamily="34" charset="-122"/>
                <a:cs typeface="Roboto Mono" pitchFamily="34" charset="-120"/>
              </a:rPr>
              <a:t>forbidden: violates PodSecurity "restricted:latest":</a:t>
            </a:r>
            <a:endParaRPr lang="en-US" sz="1000" dirty="0"/>
          </a:p>
          <a:p>
            <a:pPr marL="0" indent="0">
              <a:lnSpc>
                <a:spcPct val="112000"/>
              </a:lnSpc>
              <a:buNone/>
            </a:pPr>
            <a:r>
              <a:rPr lang="en-US" sz="1000" dirty="0">
                <a:solidFill>
                  <a:srgbClr val="FF9BA6"/>
                </a:solidFill>
                <a:latin typeface="Roboto Mono" pitchFamily="34" charset="0"/>
                <a:ea typeface="Roboto Mono" pitchFamily="34" charset="-122"/>
                <a:cs typeface="Roboto Mono" pitchFamily="34" charset="-120"/>
              </a:rPr>
              <a:t>privileged (container "shell" must not set</a:t>
            </a:r>
            <a:endParaRPr lang="en-US" sz="1000" dirty="0"/>
          </a:p>
          <a:p>
            <a:pPr marL="0" indent="0">
              <a:lnSpc>
                <a:spcPct val="112000"/>
              </a:lnSpc>
              <a:buNone/>
            </a:pPr>
            <a:r>
              <a:rPr lang="en-US" sz="1000" dirty="0">
                <a:solidFill>
                  <a:srgbClr val="FF9BA6"/>
                </a:solidFill>
                <a:latin typeface="Roboto Mono" pitchFamily="34" charset="0"/>
                <a:ea typeface="Roboto Mono" pitchFamily="34" charset="-122"/>
                <a:cs typeface="Roboto Mono" pitchFamily="34" charset="-120"/>
              </a:rPr>
              <a:t>securityContext.privileged=true), hostPID,</a:t>
            </a:r>
            <a:endParaRPr lang="en-US" sz="1000" dirty="0"/>
          </a:p>
          <a:p>
            <a:pPr marL="0" indent="0">
              <a:lnSpc>
                <a:spcPct val="112000"/>
              </a:lnSpc>
              <a:buNone/>
            </a:pPr>
            <a:r>
              <a:rPr lang="en-US" sz="1000" dirty="0">
                <a:solidFill>
                  <a:srgbClr val="FF9BA6"/>
                </a:solidFill>
                <a:latin typeface="Roboto Mono" pitchFamily="34" charset="0"/>
                <a:ea typeface="Roboto Mono" pitchFamily="34" charset="-122"/>
                <a:cs typeface="Roboto Mono" pitchFamily="34" charset="-120"/>
              </a:rPr>
              <a:t>hostPath volumes, allowPrivilegeEscalation != false,</a:t>
            </a:r>
            <a:endParaRPr lang="en-US" sz="1000" dirty="0"/>
          </a:p>
          <a:p>
            <a:pPr marL="0" indent="0">
              <a:lnSpc>
                <a:spcPct val="112000"/>
              </a:lnSpc>
              <a:buNone/>
            </a:pPr>
            <a:r>
              <a:rPr lang="en-US" sz="1000" dirty="0">
                <a:solidFill>
                  <a:srgbClr val="FF9BA6"/>
                </a:solidFill>
                <a:latin typeface="Roboto Mono" pitchFamily="34" charset="0"/>
                <a:ea typeface="Roboto Mono" pitchFamily="34" charset="-122"/>
                <a:cs typeface="Roboto Mono" pitchFamily="34" charset="-120"/>
              </a:rPr>
              <a:t>unrestricted capabilities, runAsNonRoot != true</a:t>
            </a:r>
            <a:endParaRPr lang="en-US" sz="10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378915" cy="310896"/>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15" name="pill-text"/>
          <p:cNvSpPr txBox="1"/>
          <p:nvPr/>
        </p:nvSpPr>
        <p:spPr>
          <a:xfrm>
            <a:off x="7863840" y="1847088"/>
            <a:ext cx="1378915"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Three profiles</a:t>
            </a:r>
            <a:endParaRPr lang="en-US" sz="1150" dirty="0"/>
          </a:p>
        </p:txBody>
      </p:sp>
      <p:sp>
        <p:nvSpPr>
          <p:cNvPr id="16" name="sdot-0"/>
          <p:cNvSpPr/>
          <p:nvPr/>
        </p:nvSpPr>
        <p:spPr>
          <a:xfrm>
            <a:off x="7882128" y="2414016"/>
            <a:ext cx="128016" cy="128016"/>
          </a:xfrm>
          <a:prstGeom prst="ellipse">
            <a:avLst/>
          </a:prstGeom>
          <a:solidFill>
            <a:srgbClr val="4A5568"/>
          </a:solidFill>
          <a:ln w="12700">
            <a:solidFill>
              <a:srgbClr val="4A5568"/>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4A5568"/>
                </a:solidFill>
                <a:latin typeface="Calibri" pitchFamily="34" charset="0"/>
                <a:ea typeface="Calibri" pitchFamily="34" charset="-122"/>
                <a:cs typeface="Calibri" pitchFamily="34" charset="-120"/>
              </a:rPr>
              <a:t>privileged  </a:t>
            </a:r>
            <a:r>
              <a:rPr lang="en-US" sz="1050" dirty="0">
                <a:solidFill>
                  <a:srgbClr val="1F2937"/>
                </a:solidFill>
                <a:latin typeface="Calibri" pitchFamily="34" charset="0"/>
                <a:ea typeface="Calibri" pitchFamily="34" charset="-122"/>
                <a:cs typeface="Calibri" pitchFamily="34" charset="-120"/>
              </a:rPr>
              <a:t>no restrictions at all. The default for every namespace you have ever created.</a:t>
            </a:r>
            <a:endParaRPr lang="en-US" sz="1050" dirty="0"/>
          </a:p>
        </p:txBody>
      </p:sp>
      <p:sp>
        <p:nvSpPr>
          <p:cNvPr id="18" name="sdot-1"/>
          <p:cNvSpPr/>
          <p:nvPr/>
        </p:nvSpPr>
        <p:spPr>
          <a:xfrm>
            <a:off x="7882128" y="3262122"/>
            <a:ext cx="128016" cy="128016"/>
          </a:xfrm>
          <a:prstGeom prst="ellipse">
            <a:avLst/>
          </a:prstGeom>
          <a:solidFill>
            <a:srgbClr val="9A5B0C"/>
          </a:solidFill>
          <a:ln w="12700">
            <a:solidFill>
              <a:srgbClr val="9A5B0C"/>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9A5B0C"/>
                </a:solidFill>
                <a:latin typeface="Calibri" pitchFamily="34" charset="0"/>
                <a:ea typeface="Calibri" pitchFamily="34" charset="-122"/>
                <a:cs typeface="Calibri" pitchFamily="34" charset="-120"/>
              </a:rPr>
              <a:t>baseline  </a:t>
            </a:r>
            <a:r>
              <a:rPr lang="en-US" sz="1050" dirty="0">
                <a:solidFill>
                  <a:srgbClr val="1F2937"/>
                </a:solidFill>
                <a:latin typeface="Calibri" pitchFamily="34" charset="0"/>
                <a:ea typeface="Calibri" pitchFamily="34" charset="-122"/>
                <a:cs typeface="Calibri" pitchFamily="34" charset="-120"/>
              </a:rPr>
              <a:t>blocks the known escapes — privileged, hostPath, host namespaces. A realistic floor for most teams.</a:t>
            </a:r>
            <a:endParaRPr lang="en-US" sz="1050" dirty="0"/>
          </a:p>
        </p:txBody>
      </p:sp>
      <p:sp>
        <p:nvSpPr>
          <p:cNvPr id="20" name="sdot-2"/>
          <p:cNvSpPr/>
          <p:nvPr/>
        </p:nvSpPr>
        <p:spPr>
          <a:xfrm>
            <a:off x="7882128" y="4110228"/>
            <a:ext cx="128016" cy="128016"/>
          </a:xfrm>
          <a:prstGeom prst="ellipse">
            <a:avLst/>
          </a:prstGeom>
          <a:solidFill>
            <a:srgbClr val="0F7B45"/>
          </a:solidFill>
          <a:ln w="12700">
            <a:solidFill>
              <a:srgbClr val="0F7B45"/>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F7B45"/>
                </a:solidFill>
                <a:latin typeface="Calibri" pitchFamily="34" charset="0"/>
                <a:ea typeface="Calibri" pitchFamily="34" charset="-122"/>
                <a:cs typeface="Calibri" pitchFamily="34" charset="-120"/>
              </a:rPr>
              <a:t>restricted  </a:t>
            </a:r>
            <a:r>
              <a:rPr lang="en-US" sz="1050" dirty="0">
                <a:solidFill>
                  <a:srgbClr val="1F2937"/>
                </a:solidFill>
                <a:latin typeface="Calibri" pitchFamily="34" charset="0"/>
                <a:ea typeface="Calibri" pitchFamily="34" charset="-122"/>
                <a:cs typeface="Calibri" pitchFamily="34" charset="-120"/>
              </a:rPr>
              <a:t>baseline plus must run as non-root, drop ALL capabilities, seccomp on. What we just applied.</a:t>
            </a:r>
            <a:endParaRPr lang="en-US" sz="1050" dirty="0"/>
          </a:p>
        </p:txBody>
      </p:sp>
      <p:sp>
        <p:nvSpPr>
          <p:cNvPr id="22" name="sdot-3"/>
          <p:cNvSpPr/>
          <p:nvPr/>
        </p:nvSpPr>
        <p:spPr>
          <a:xfrm>
            <a:off x="7882128" y="4958334"/>
            <a:ext cx="128016" cy="128016"/>
          </a:xfrm>
          <a:prstGeom prst="ellipse">
            <a:avLst/>
          </a:prstGeom>
          <a:solidFill>
            <a:srgbClr val="0B4F5C"/>
          </a:solidFill>
          <a:ln w="12700">
            <a:solidFill>
              <a:srgbClr val="0B4F5C"/>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Three modes per profile:  </a:t>
            </a:r>
            <a:r>
              <a:rPr lang="en-US" sz="1050" dirty="0">
                <a:solidFill>
                  <a:srgbClr val="1F2937"/>
                </a:solidFill>
                <a:latin typeface="Calibri" pitchFamily="34" charset="0"/>
                <a:ea typeface="Calibri" pitchFamily="34" charset="-122"/>
                <a:cs typeface="Calibri" pitchFamily="34" charset="-120"/>
              </a:rPr>
              <a:t>enforce rejects, warn returns a warning to the user, audit writes it to the audit log. Use warn first.</a:t>
            </a:r>
            <a:endParaRPr lang="en-US" sz="10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One kubectl apply, one long rejection listing every rule the pod broke at once.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SECTION 03 RECAP</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Picking an admission controller</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You will be asked this in an interview. There is no single right answer, but there are wrong reasons.</a:t>
            </a:r>
            <a:endParaRPr lang="en-US" sz="1300" dirty="0"/>
          </a:p>
        </p:txBody>
      </p:sp>
      <p:sp>
        <p:nvSpPr>
          <p:cNvPr id="6" name="tool-0"/>
          <p:cNvSpPr/>
          <p:nvPr/>
        </p:nvSpPr>
        <p:spPr>
          <a:xfrm>
            <a:off x="502920" y="1783080"/>
            <a:ext cx="11185855" cy="987552"/>
          </a:xfrm>
          <a:prstGeom prst="roundRect">
            <a:avLst>
              <a:gd name="adj" fmla="val 9259"/>
            </a:avLst>
          </a:prstGeom>
          <a:solidFill>
            <a:srgbClr val="FFFFFF"/>
          </a:solidFill>
          <a:ln w="12700">
            <a:solidFill>
              <a:srgbClr val="CFE3E2"/>
            </a:solidFill>
            <a:prstDash val="solid"/>
          </a:ln>
        </p:spPr>
        <p:txBody>
          <a:bodyPr/>
          <a:lstStyle/>
          <a:p>
            <a:endParaRPr lang="en-US"/>
          </a:p>
        </p:txBody>
      </p:sp>
      <p:sp>
        <p:nvSpPr>
          <p:cNvPr id="7" name="tb-0"/>
          <p:cNvSpPr/>
          <p:nvPr/>
        </p:nvSpPr>
        <p:spPr>
          <a:xfrm>
            <a:off x="502920" y="1783080"/>
            <a:ext cx="82296" cy="987552"/>
          </a:xfrm>
          <a:prstGeom prst="roundRect">
            <a:avLst>
              <a:gd name="adj" fmla="val 44444"/>
            </a:avLst>
          </a:prstGeom>
          <a:solidFill>
            <a:srgbClr val="0F7B45"/>
          </a:solidFill>
          <a:ln w="12700">
            <a:solidFill>
              <a:srgbClr val="0F7B45"/>
            </a:solidFill>
            <a:prstDash val="solid"/>
          </a:ln>
        </p:spPr>
        <p:txBody>
          <a:bodyPr/>
          <a:lstStyle/>
          <a:p>
            <a:endParaRPr lang="en-US"/>
          </a:p>
        </p:txBody>
      </p:sp>
      <p:sp>
        <p:nvSpPr>
          <p:cNvPr id="8" name="Text 5"/>
          <p:cNvSpPr txBox="1"/>
          <p:nvPr/>
        </p:nvSpPr>
        <p:spPr>
          <a:xfrm>
            <a:off x="758952" y="1911096"/>
            <a:ext cx="2606040" cy="347472"/>
          </a:xfrm>
          <a:prstGeom prst="rect">
            <a:avLst/>
          </a:prstGeom>
          <a:noFill/>
          <a:ln/>
        </p:spPr>
        <p:txBody>
          <a:bodyPr wrap="square" lIns="0" tIns="0" rIns="0" bIns="0" rtlCol="0" anchor="ctr"/>
          <a:lstStyle/>
          <a:p>
            <a:pPr marL="0" indent="0">
              <a:buNone/>
            </a:pPr>
            <a:r>
              <a:rPr lang="en-US" sz="1350" b="1" dirty="0">
                <a:solidFill>
                  <a:srgbClr val="0F7B45"/>
                </a:solidFill>
                <a:latin typeface="Calibri" pitchFamily="34" charset="0"/>
                <a:ea typeface="Calibri" pitchFamily="34" charset="-122"/>
                <a:cs typeface="Calibri" pitchFamily="34" charset="-120"/>
              </a:rPr>
              <a:t>Pod Security Admission</a:t>
            </a:r>
            <a:endParaRPr lang="en-US" sz="1350" dirty="0"/>
          </a:p>
        </p:txBody>
      </p:sp>
      <p:sp>
        <p:nvSpPr>
          <p:cNvPr id="9" name="Text 6"/>
          <p:cNvSpPr txBox="1"/>
          <p:nvPr/>
        </p:nvSpPr>
        <p:spPr>
          <a:xfrm>
            <a:off x="758952" y="2276856"/>
            <a:ext cx="2606040" cy="310896"/>
          </a:xfrm>
          <a:prstGeom prst="rect">
            <a:avLst/>
          </a:prstGeom>
          <a:noFill/>
          <a:ln/>
        </p:spPr>
        <p:txBody>
          <a:bodyPr wrap="square" lIns="0" tIns="0" rIns="0" bIns="0" rtlCol="0" anchor="t"/>
          <a:lstStyle/>
          <a:p>
            <a:pPr marL="0" indent="0">
              <a:buNone/>
            </a:pPr>
            <a:r>
              <a:rPr lang="en-US" sz="1050" i="1" dirty="0">
                <a:solidFill>
                  <a:srgbClr val="4A5568"/>
                </a:solidFill>
                <a:latin typeface="Calibri" pitchFamily="34" charset="0"/>
                <a:ea typeface="Calibri" pitchFamily="34" charset="-122"/>
                <a:cs typeface="Calibri" pitchFamily="34" charset="-120"/>
              </a:rPr>
              <a:t>Built into the API server</a:t>
            </a:r>
            <a:endParaRPr lang="en-US" sz="1050" dirty="0"/>
          </a:p>
        </p:txBody>
      </p:sp>
      <p:sp>
        <p:nvSpPr>
          <p:cNvPr id="10" name="Text 7"/>
          <p:cNvSpPr txBox="1"/>
          <p:nvPr/>
        </p:nvSpPr>
        <p:spPr>
          <a:xfrm>
            <a:off x="3520440" y="1783080"/>
            <a:ext cx="5257800" cy="987552"/>
          </a:xfrm>
          <a:prstGeom prst="rect">
            <a:avLst/>
          </a:prstGeom>
          <a:noFill/>
          <a:ln/>
        </p:spPr>
        <p:txBody>
          <a:bodyPr wrap="square" lIns="0" tIns="0" rIns="0" bIns="0" rtlCol="0" anchor="ctr"/>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Free. No pods, no webhooks, nothing to break. Three fixed profiles, pods only, cannot mutate.</a:t>
            </a:r>
            <a:endParaRPr lang="en-US" sz="1100" dirty="0"/>
          </a:p>
        </p:txBody>
      </p:sp>
      <p:sp>
        <p:nvSpPr>
          <p:cNvPr id="11" name="Text 8"/>
          <p:cNvSpPr txBox="1"/>
          <p:nvPr/>
        </p:nvSpPr>
        <p:spPr>
          <a:xfrm>
            <a:off x="8961120" y="1783080"/>
            <a:ext cx="2606040" cy="987552"/>
          </a:xfrm>
          <a:prstGeom prst="rect">
            <a:avLst/>
          </a:prstGeom>
          <a:noFill/>
          <a:ln/>
        </p:spPr>
        <p:txBody>
          <a:bodyPr wrap="square" lIns="0" tIns="0" rIns="0" bIns="0" rtlCol="0" anchor="ctr"/>
          <a:lstStyle/>
          <a:p>
            <a:pPr marL="0" indent="0">
              <a:lnSpc>
                <a:spcPct val="112000"/>
              </a:lnSpc>
              <a:buNone/>
            </a:pPr>
            <a:r>
              <a:rPr lang="en-US" sz="1050" b="1" dirty="0">
                <a:solidFill>
                  <a:srgbClr val="1B1537"/>
                </a:solidFill>
                <a:latin typeface="Calibri" pitchFamily="34" charset="0"/>
                <a:ea typeface="Calibri" pitchFamily="34" charset="-122"/>
                <a:cs typeface="Calibri" pitchFamily="34" charset="-120"/>
              </a:rPr>
              <a:t>Reach for it when:  </a:t>
            </a:r>
            <a:r>
              <a:rPr lang="en-US" sz="1050" dirty="0">
                <a:solidFill>
                  <a:srgbClr val="1F2937"/>
                </a:solidFill>
                <a:latin typeface="Calibri" pitchFamily="34" charset="0"/>
                <a:ea typeface="Calibri" pitchFamily="34" charset="-122"/>
                <a:cs typeface="Calibri" pitchFamily="34" charset="-120"/>
              </a:rPr>
              <a:t>Always. On every namespace, as the floor.</a:t>
            </a:r>
            <a:endParaRPr lang="en-US" sz="1050" dirty="0"/>
          </a:p>
        </p:txBody>
      </p:sp>
      <p:sp>
        <p:nvSpPr>
          <p:cNvPr id="12" name="tool-1"/>
          <p:cNvSpPr/>
          <p:nvPr/>
        </p:nvSpPr>
        <p:spPr>
          <a:xfrm>
            <a:off x="502920" y="2898648"/>
            <a:ext cx="11185855" cy="987552"/>
          </a:xfrm>
          <a:prstGeom prst="roundRect">
            <a:avLst>
              <a:gd name="adj" fmla="val 9259"/>
            </a:avLst>
          </a:prstGeom>
          <a:solidFill>
            <a:srgbClr val="FFFFFF"/>
          </a:solidFill>
          <a:ln w="12700">
            <a:solidFill>
              <a:srgbClr val="CFE3E2"/>
            </a:solidFill>
            <a:prstDash val="solid"/>
          </a:ln>
        </p:spPr>
        <p:txBody>
          <a:bodyPr/>
          <a:lstStyle/>
          <a:p>
            <a:endParaRPr lang="en-US"/>
          </a:p>
        </p:txBody>
      </p:sp>
      <p:sp>
        <p:nvSpPr>
          <p:cNvPr id="13" name="tb-1"/>
          <p:cNvSpPr/>
          <p:nvPr/>
        </p:nvSpPr>
        <p:spPr>
          <a:xfrm>
            <a:off x="502920" y="2898648"/>
            <a:ext cx="82296" cy="987552"/>
          </a:xfrm>
          <a:prstGeom prst="roundRect">
            <a:avLst>
              <a:gd name="adj" fmla="val 44444"/>
            </a:avLst>
          </a:prstGeom>
          <a:solidFill>
            <a:srgbClr val="0067C0"/>
          </a:solidFill>
          <a:ln w="12700">
            <a:solidFill>
              <a:srgbClr val="0067C0"/>
            </a:solidFill>
            <a:prstDash val="solid"/>
          </a:ln>
        </p:spPr>
        <p:txBody>
          <a:bodyPr/>
          <a:lstStyle/>
          <a:p>
            <a:endParaRPr lang="en-US"/>
          </a:p>
        </p:txBody>
      </p:sp>
      <p:sp>
        <p:nvSpPr>
          <p:cNvPr id="14" name="Text 11"/>
          <p:cNvSpPr txBox="1"/>
          <p:nvPr/>
        </p:nvSpPr>
        <p:spPr>
          <a:xfrm>
            <a:off x="758952" y="3026664"/>
            <a:ext cx="2606040" cy="347472"/>
          </a:xfrm>
          <a:prstGeom prst="rect">
            <a:avLst/>
          </a:prstGeom>
          <a:noFill/>
          <a:ln/>
        </p:spPr>
        <p:txBody>
          <a:bodyPr wrap="square" lIns="0" tIns="0" rIns="0" bIns="0" rtlCol="0" anchor="ctr"/>
          <a:lstStyle/>
          <a:p>
            <a:pPr marL="0" indent="0">
              <a:buNone/>
            </a:pPr>
            <a:r>
              <a:rPr lang="en-US" sz="1350" b="1" dirty="0">
                <a:solidFill>
                  <a:srgbClr val="0067C0"/>
                </a:solidFill>
                <a:latin typeface="Calibri" pitchFamily="34" charset="0"/>
                <a:ea typeface="Calibri" pitchFamily="34" charset="-122"/>
                <a:cs typeface="Calibri" pitchFamily="34" charset="-120"/>
              </a:rPr>
              <a:t>Kyverno</a:t>
            </a:r>
            <a:endParaRPr lang="en-US" sz="1350" dirty="0"/>
          </a:p>
        </p:txBody>
      </p:sp>
      <p:sp>
        <p:nvSpPr>
          <p:cNvPr id="15" name="Text 12"/>
          <p:cNvSpPr txBox="1"/>
          <p:nvPr/>
        </p:nvSpPr>
        <p:spPr>
          <a:xfrm>
            <a:off x="758952" y="3392424"/>
            <a:ext cx="2606040" cy="310896"/>
          </a:xfrm>
          <a:prstGeom prst="rect">
            <a:avLst/>
          </a:prstGeom>
          <a:noFill/>
          <a:ln/>
        </p:spPr>
        <p:txBody>
          <a:bodyPr wrap="square" lIns="0" tIns="0" rIns="0" bIns="0" rtlCol="0" anchor="t"/>
          <a:lstStyle/>
          <a:p>
            <a:pPr marL="0" indent="0">
              <a:buNone/>
            </a:pPr>
            <a:r>
              <a:rPr lang="en-US" sz="1050" i="1" dirty="0">
                <a:solidFill>
                  <a:srgbClr val="4A5568"/>
                </a:solidFill>
                <a:latin typeface="Calibri" pitchFamily="34" charset="0"/>
                <a:ea typeface="Calibri" pitchFamily="34" charset="-122"/>
                <a:cs typeface="Calibri" pitchFamily="34" charset="-120"/>
              </a:rPr>
              <a:t>Policies written in YAML</a:t>
            </a:r>
            <a:endParaRPr lang="en-US" sz="1050" dirty="0"/>
          </a:p>
        </p:txBody>
      </p:sp>
      <p:sp>
        <p:nvSpPr>
          <p:cNvPr id="16" name="Text 13"/>
          <p:cNvSpPr txBox="1"/>
          <p:nvPr/>
        </p:nvSpPr>
        <p:spPr>
          <a:xfrm>
            <a:off x="3520440" y="2898648"/>
            <a:ext cx="5257800" cy="987552"/>
          </a:xfrm>
          <a:prstGeom prst="rect">
            <a:avLst/>
          </a:prstGeom>
          <a:noFill/>
          <a:ln/>
        </p:spPr>
        <p:txBody>
          <a:bodyPr wrap="square" lIns="0" tIns="0" rIns="0" bIns="0" rtlCol="0" anchor="ctr"/>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Readable by the whole team. Validates, mutates and generates. Large policy library. The popular default.</a:t>
            </a:r>
            <a:endParaRPr lang="en-US" sz="1100" dirty="0"/>
          </a:p>
        </p:txBody>
      </p:sp>
      <p:sp>
        <p:nvSpPr>
          <p:cNvPr id="17" name="Text 14"/>
          <p:cNvSpPr txBox="1"/>
          <p:nvPr/>
        </p:nvSpPr>
        <p:spPr>
          <a:xfrm>
            <a:off x="8961120" y="2898648"/>
            <a:ext cx="2606040" cy="987552"/>
          </a:xfrm>
          <a:prstGeom prst="rect">
            <a:avLst/>
          </a:prstGeom>
          <a:noFill/>
          <a:ln/>
        </p:spPr>
        <p:txBody>
          <a:bodyPr wrap="square" lIns="0" tIns="0" rIns="0" bIns="0" rtlCol="0" anchor="ctr"/>
          <a:lstStyle/>
          <a:p>
            <a:pPr marL="0" indent="0">
              <a:lnSpc>
                <a:spcPct val="112000"/>
              </a:lnSpc>
              <a:buNone/>
            </a:pPr>
            <a:r>
              <a:rPr lang="en-US" sz="1050" b="1" dirty="0">
                <a:solidFill>
                  <a:srgbClr val="1B1537"/>
                </a:solidFill>
                <a:latin typeface="Calibri" pitchFamily="34" charset="0"/>
                <a:ea typeface="Calibri" pitchFamily="34" charset="-122"/>
                <a:cs typeface="Calibri" pitchFamily="34" charset="-120"/>
              </a:rPr>
              <a:t>Reach for it when:  </a:t>
            </a:r>
            <a:r>
              <a:rPr lang="en-US" sz="1050" dirty="0">
                <a:solidFill>
                  <a:srgbClr val="1F2937"/>
                </a:solidFill>
                <a:latin typeface="Calibri" pitchFamily="34" charset="0"/>
                <a:ea typeface="Calibri" pitchFamily="34" charset="-122"/>
                <a:cs typeface="Calibri" pitchFamily="34" charset="-120"/>
              </a:rPr>
              <a:t>Most teams, most of the time.</a:t>
            </a:r>
            <a:endParaRPr lang="en-US" sz="1050" dirty="0"/>
          </a:p>
        </p:txBody>
      </p:sp>
      <p:sp>
        <p:nvSpPr>
          <p:cNvPr id="18" name="tool-2"/>
          <p:cNvSpPr/>
          <p:nvPr/>
        </p:nvSpPr>
        <p:spPr>
          <a:xfrm>
            <a:off x="502920" y="4014216"/>
            <a:ext cx="11185855" cy="987552"/>
          </a:xfrm>
          <a:prstGeom prst="roundRect">
            <a:avLst>
              <a:gd name="adj" fmla="val 9259"/>
            </a:avLst>
          </a:prstGeom>
          <a:solidFill>
            <a:srgbClr val="FFFFFF"/>
          </a:solidFill>
          <a:ln w="12700">
            <a:solidFill>
              <a:srgbClr val="CFE3E2"/>
            </a:solidFill>
            <a:prstDash val="solid"/>
          </a:ln>
        </p:spPr>
        <p:txBody>
          <a:bodyPr/>
          <a:lstStyle/>
          <a:p>
            <a:endParaRPr lang="en-US"/>
          </a:p>
        </p:txBody>
      </p:sp>
      <p:sp>
        <p:nvSpPr>
          <p:cNvPr id="19" name="tb-2"/>
          <p:cNvSpPr/>
          <p:nvPr/>
        </p:nvSpPr>
        <p:spPr>
          <a:xfrm>
            <a:off x="502920" y="4014216"/>
            <a:ext cx="82296" cy="987552"/>
          </a:xfrm>
          <a:prstGeom prst="roundRect">
            <a:avLst>
              <a:gd name="adj" fmla="val 44444"/>
            </a:avLst>
          </a:prstGeom>
          <a:solidFill>
            <a:srgbClr val="4C3FA3"/>
          </a:solidFill>
          <a:ln w="12700">
            <a:solidFill>
              <a:srgbClr val="4C3FA3"/>
            </a:solidFill>
            <a:prstDash val="solid"/>
          </a:ln>
        </p:spPr>
        <p:txBody>
          <a:bodyPr/>
          <a:lstStyle/>
          <a:p>
            <a:endParaRPr lang="en-US"/>
          </a:p>
        </p:txBody>
      </p:sp>
      <p:sp>
        <p:nvSpPr>
          <p:cNvPr id="20" name="Text 17"/>
          <p:cNvSpPr txBox="1"/>
          <p:nvPr/>
        </p:nvSpPr>
        <p:spPr>
          <a:xfrm>
            <a:off x="758952" y="4142232"/>
            <a:ext cx="2606040" cy="347472"/>
          </a:xfrm>
          <a:prstGeom prst="rect">
            <a:avLst/>
          </a:prstGeom>
          <a:noFill/>
          <a:ln/>
        </p:spPr>
        <p:txBody>
          <a:bodyPr wrap="square" lIns="0" tIns="0" rIns="0" bIns="0" rtlCol="0" anchor="ctr"/>
          <a:lstStyle/>
          <a:p>
            <a:pPr marL="0" indent="0">
              <a:buNone/>
            </a:pPr>
            <a:r>
              <a:rPr lang="en-US" sz="1350" b="1" dirty="0">
                <a:solidFill>
                  <a:srgbClr val="4C3FA3"/>
                </a:solidFill>
                <a:latin typeface="Calibri" pitchFamily="34" charset="0"/>
                <a:ea typeface="Calibri" pitchFamily="34" charset="-122"/>
                <a:cs typeface="Calibri" pitchFamily="34" charset="-120"/>
              </a:rPr>
              <a:t>OPA Gatekeeper</a:t>
            </a:r>
            <a:endParaRPr lang="en-US" sz="1350" dirty="0"/>
          </a:p>
        </p:txBody>
      </p:sp>
      <p:sp>
        <p:nvSpPr>
          <p:cNvPr id="21" name="Text 18"/>
          <p:cNvSpPr txBox="1"/>
          <p:nvPr/>
        </p:nvSpPr>
        <p:spPr>
          <a:xfrm>
            <a:off x="758952" y="4507992"/>
            <a:ext cx="2606040" cy="310896"/>
          </a:xfrm>
          <a:prstGeom prst="rect">
            <a:avLst/>
          </a:prstGeom>
          <a:noFill/>
          <a:ln/>
        </p:spPr>
        <p:txBody>
          <a:bodyPr wrap="square" lIns="0" tIns="0" rIns="0" bIns="0" rtlCol="0" anchor="t"/>
          <a:lstStyle/>
          <a:p>
            <a:pPr marL="0" indent="0">
              <a:buNone/>
            </a:pPr>
            <a:r>
              <a:rPr lang="en-US" sz="1050" i="1" dirty="0">
                <a:solidFill>
                  <a:srgbClr val="4A5568"/>
                </a:solidFill>
                <a:latin typeface="Calibri" pitchFamily="34" charset="0"/>
                <a:ea typeface="Calibri" pitchFamily="34" charset="-122"/>
                <a:cs typeface="Calibri" pitchFamily="34" charset="-120"/>
              </a:rPr>
              <a:t>Policies written in Rego</a:t>
            </a:r>
            <a:endParaRPr lang="en-US" sz="1050" dirty="0"/>
          </a:p>
        </p:txBody>
      </p:sp>
      <p:sp>
        <p:nvSpPr>
          <p:cNvPr id="22" name="Text 19"/>
          <p:cNvSpPr txBox="1"/>
          <p:nvPr/>
        </p:nvSpPr>
        <p:spPr>
          <a:xfrm>
            <a:off x="3520440" y="4014216"/>
            <a:ext cx="5257800" cy="987552"/>
          </a:xfrm>
          <a:prstGeom prst="rect">
            <a:avLst/>
          </a:prstGeom>
          <a:noFill/>
          <a:ln/>
        </p:spPr>
        <p:txBody>
          <a:bodyPr wrap="square" lIns="0" tIns="0" rIns="0" bIns="0" rtlCol="0" anchor="ctr"/>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Very powerful, genuinely hard to learn. The incumbent in large enterprises already using OPA.</a:t>
            </a:r>
            <a:endParaRPr lang="en-US" sz="1100" dirty="0"/>
          </a:p>
        </p:txBody>
      </p:sp>
      <p:sp>
        <p:nvSpPr>
          <p:cNvPr id="23" name="Text 20"/>
          <p:cNvSpPr txBox="1"/>
          <p:nvPr/>
        </p:nvSpPr>
        <p:spPr>
          <a:xfrm>
            <a:off x="8961120" y="4014216"/>
            <a:ext cx="2606040" cy="987552"/>
          </a:xfrm>
          <a:prstGeom prst="rect">
            <a:avLst/>
          </a:prstGeom>
          <a:noFill/>
          <a:ln/>
        </p:spPr>
        <p:txBody>
          <a:bodyPr wrap="square" lIns="0" tIns="0" rIns="0" bIns="0" rtlCol="0" anchor="ctr"/>
          <a:lstStyle/>
          <a:p>
            <a:pPr marL="0" indent="0">
              <a:lnSpc>
                <a:spcPct val="112000"/>
              </a:lnSpc>
              <a:buNone/>
            </a:pPr>
            <a:r>
              <a:rPr lang="en-US" sz="1050" b="1" dirty="0">
                <a:solidFill>
                  <a:srgbClr val="1B1537"/>
                </a:solidFill>
                <a:latin typeface="Calibri" pitchFamily="34" charset="0"/>
                <a:ea typeface="Calibri" pitchFamily="34" charset="-122"/>
                <a:cs typeface="Calibri" pitchFamily="34" charset="-120"/>
              </a:rPr>
              <a:t>Reach for it when:  </a:t>
            </a:r>
            <a:r>
              <a:rPr lang="en-US" sz="1050" dirty="0">
                <a:solidFill>
                  <a:srgbClr val="1F2937"/>
                </a:solidFill>
                <a:latin typeface="Calibri" pitchFamily="34" charset="0"/>
                <a:ea typeface="Calibri" pitchFamily="34" charset="-122"/>
                <a:cs typeface="Calibri" pitchFamily="34" charset="-120"/>
              </a:rPr>
              <a:t>You already run OPA elsewhere.</a:t>
            </a:r>
            <a:endParaRPr lang="en-US" sz="1050" dirty="0"/>
          </a:p>
        </p:txBody>
      </p:sp>
      <p:sp>
        <p:nvSpPr>
          <p:cNvPr id="24" name="tool-3"/>
          <p:cNvSpPr/>
          <p:nvPr/>
        </p:nvSpPr>
        <p:spPr>
          <a:xfrm>
            <a:off x="502920" y="5129784"/>
            <a:ext cx="11185855" cy="987552"/>
          </a:xfrm>
          <a:prstGeom prst="roundRect">
            <a:avLst>
              <a:gd name="adj" fmla="val 9259"/>
            </a:avLst>
          </a:prstGeom>
          <a:solidFill>
            <a:srgbClr val="FFFFFF"/>
          </a:solidFill>
          <a:ln w="12700">
            <a:solidFill>
              <a:srgbClr val="CFE3E2"/>
            </a:solidFill>
            <a:prstDash val="solid"/>
          </a:ln>
        </p:spPr>
        <p:txBody>
          <a:bodyPr/>
          <a:lstStyle/>
          <a:p>
            <a:endParaRPr lang="en-US"/>
          </a:p>
        </p:txBody>
      </p:sp>
      <p:sp>
        <p:nvSpPr>
          <p:cNvPr id="25" name="tb-3"/>
          <p:cNvSpPr/>
          <p:nvPr/>
        </p:nvSpPr>
        <p:spPr>
          <a:xfrm>
            <a:off x="502920" y="5129784"/>
            <a:ext cx="82296" cy="987552"/>
          </a:xfrm>
          <a:prstGeom prst="roundRect">
            <a:avLst>
              <a:gd name="adj" fmla="val 44444"/>
            </a:avLst>
          </a:prstGeom>
          <a:solidFill>
            <a:srgbClr val="B3263B"/>
          </a:solidFill>
          <a:ln w="12700">
            <a:solidFill>
              <a:srgbClr val="B3263B"/>
            </a:solidFill>
            <a:prstDash val="solid"/>
          </a:ln>
        </p:spPr>
        <p:txBody>
          <a:bodyPr/>
          <a:lstStyle/>
          <a:p>
            <a:endParaRPr lang="en-US"/>
          </a:p>
        </p:txBody>
      </p:sp>
      <p:sp>
        <p:nvSpPr>
          <p:cNvPr id="26" name="Text 23"/>
          <p:cNvSpPr txBox="1"/>
          <p:nvPr/>
        </p:nvSpPr>
        <p:spPr>
          <a:xfrm>
            <a:off x="758952" y="5257800"/>
            <a:ext cx="2606040" cy="347472"/>
          </a:xfrm>
          <a:prstGeom prst="rect">
            <a:avLst/>
          </a:prstGeom>
          <a:noFill/>
          <a:ln/>
        </p:spPr>
        <p:txBody>
          <a:bodyPr wrap="square" lIns="0" tIns="0" rIns="0" bIns="0" rtlCol="0" anchor="ctr"/>
          <a:lstStyle/>
          <a:p>
            <a:pPr marL="0" indent="0">
              <a:buNone/>
            </a:pPr>
            <a:r>
              <a:rPr lang="en-US" sz="1350" b="1" dirty="0">
                <a:solidFill>
                  <a:srgbClr val="B3263B"/>
                </a:solidFill>
                <a:latin typeface="Calibri" pitchFamily="34" charset="0"/>
                <a:ea typeface="Calibri" pitchFamily="34" charset="-122"/>
                <a:cs typeface="Calibri" pitchFamily="34" charset="-120"/>
              </a:rPr>
              <a:t>Kubewarden</a:t>
            </a:r>
            <a:endParaRPr lang="en-US" sz="1350" dirty="0"/>
          </a:p>
        </p:txBody>
      </p:sp>
      <p:sp>
        <p:nvSpPr>
          <p:cNvPr id="27" name="Text 24"/>
          <p:cNvSpPr txBox="1"/>
          <p:nvPr/>
        </p:nvSpPr>
        <p:spPr>
          <a:xfrm>
            <a:off x="758952" y="5623560"/>
            <a:ext cx="2606040" cy="310896"/>
          </a:xfrm>
          <a:prstGeom prst="rect">
            <a:avLst/>
          </a:prstGeom>
          <a:noFill/>
          <a:ln/>
        </p:spPr>
        <p:txBody>
          <a:bodyPr wrap="square" lIns="0" tIns="0" rIns="0" bIns="0" rtlCol="0" anchor="t"/>
          <a:lstStyle/>
          <a:p>
            <a:pPr marL="0" indent="0">
              <a:buNone/>
            </a:pPr>
            <a:r>
              <a:rPr lang="en-US" sz="1050" i="1" dirty="0">
                <a:solidFill>
                  <a:srgbClr val="4A5568"/>
                </a:solidFill>
                <a:latin typeface="Calibri" pitchFamily="34" charset="0"/>
                <a:ea typeface="Calibri" pitchFamily="34" charset="-122"/>
                <a:cs typeface="Calibri" pitchFamily="34" charset="-120"/>
              </a:rPr>
              <a:t>Policies compiled to WebAssembly</a:t>
            </a:r>
            <a:endParaRPr lang="en-US" sz="1050" dirty="0"/>
          </a:p>
        </p:txBody>
      </p:sp>
      <p:sp>
        <p:nvSpPr>
          <p:cNvPr id="28" name="Text 25"/>
          <p:cNvSpPr txBox="1"/>
          <p:nvPr/>
        </p:nvSpPr>
        <p:spPr>
          <a:xfrm>
            <a:off x="3520440" y="5129784"/>
            <a:ext cx="5257800" cy="987552"/>
          </a:xfrm>
          <a:prstGeom prst="rect">
            <a:avLst/>
          </a:prstGeom>
          <a:noFill/>
          <a:ln/>
        </p:spPr>
        <p:txBody>
          <a:bodyPr wrap="square" lIns="0" tIns="0" rIns="0" bIns="0" rtlCol="0" anchor="ctr"/>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Write in Rust or Go, ship as OCI artifacts, sign with Sigstore. Sandboxed execution. What we used today.</a:t>
            </a:r>
            <a:endParaRPr lang="en-US" sz="1100" dirty="0"/>
          </a:p>
        </p:txBody>
      </p:sp>
      <p:sp>
        <p:nvSpPr>
          <p:cNvPr id="29" name="Text 26"/>
          <p:cNvSpPr txBox="1"/>
          <p:nvPr/>
        </p:nvSpPr>
        <p:spPr>
          <a:xfrm>
            <a:off x="8961120" y="5129784"/>
            <a:ext cx="2606040" cy="987552"/>
          </a:xfrm>
          <a:prstGeom prst="rect">
            <a:avLst/>
          </a:prstGeom>
          <a:noFill/>
          <a:ln/>
        </p:spPr>
        <p:txBody>
          <a:bodyPr wrap="square" lIns="0" tIns="0" rIns="0" bIns="0" rtlCol="0" anchor="ctr"/>
          <a:lstStyle/>
          <a:p>
            <a:pPr marL="0" indent="0">
              <a:lnSpc>
                <a:spcPct val="112000"/>
              </a:lnSpc>
              <a:buNone/>
            </a:pPr>
            <a:r>
              <a:rPr lang="en-US" sz="1050" b="1" dirty="0">
                <a:solidFill>
                  <a:srgbClr val="1B1537"/>
                </a:solidFill>
                <a:latin typeface="Calibri" pitchFamily="34" charset="0"/>
                <a:ea typeface="Calibri" pitchFamily="34" charset="-122"/>
                <a:cs typeface="Calibri" pitchFamily="34" charset="-120"/>
              </a:rPr>
              <a:t>Reach for it when:  </a:t>
            </a:r>
            <a:r>
              <a:rPr lang="en-US" sz="1050" dirty="0">
                <a:solidFill>
                  <a:srgbClr val="1F2937"/>
                </a:solidFill>
                <a:latin typeface="Calibri" pitchFamily="34" charset="0"/>
                <a:ea typeface="Calibri" pitchFamily="34" charset="-122"/>
                <a:cs typeface="Calibri" pitchFamily="34" charset="-120"/>
              </a:rPr>
              <a:t>You care about the supply chain.</a:t>
            </a:r>
            <a:endParaRPr lang="en-US" sz="1050" dirty="0"/>
          </a:p>
        </p:txBody>
      </p:sp>
      <p:sp>
        <p:nvSpPr>
          <p:cNvPr id="30" name="Text 27"/>
          <p:cNvSpPr txBox="1"/>
          <p:nvPr/>
        </p:nvSpPr>
        <p:spPr>
          <a:xfrm>
            <a:off x="502920" y="6199632"/>
            <a:ext cx="11185855" cy="310896"/>
          </a:xfrm>
          <a:prstGeom prst="rect">
            <a:avLst/>
          </a:prstGeom>
          <a:noFill/>
          <a:ln/>
        </p:spPr>
        <p:txBody>
          <a:bodyPr wrap="square" lIns="0" tIns="0" rIns="0" bIns="0" rtlCol="0" anchor="ctr"/>
          <a:lstStyle/>
          <a:p>
            <a:pPr marL="0" indent="0" algn="ctr">
              <a:buNone/>
            </a:pPr>
            <a:r>
              <a:rPr lang="en-US" sz="1250" i="1" dirty="0">
                <a:solidFill>
                  <a:srgbClr val="1B1537"/>
                </a:solidFill>
                <a:latin typeface="Calibri" pitchFamily="34" charset="0"/>
                <a:ea typeface="Calibri" pitchFamily="34" charset="-122"/>
                <a:cs typeface="Calibri" pitchFamily="34" charset="-120"/>
              </a:rPr>
              <a:t>Use Pod Security Admission as the floor and one policy engine on top. The engine you pick matters far less than actually having one.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04</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RBAC</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Who may ask the API for what — and the traps that quietly undo it</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THE MODEL</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Four objects, and one question</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Can this subject perform this verb on this resource in this namespace? Everything else is detail.</a:t>
            </a:r>
            <a:endParaRPr lang="en-US" sz="1300" dirty="0"/>
          </a:p>
        </p:txBody>
      </p:sp>
      <p:sp>
        <p:nvSpPr>
          <p:cNvPr id="6" name="rb-0"/>
          <p:cNvSpPr/>
          <p:nvPr/>
        </p:nvSpPr>
        <p:spPr>
          <a:xfrm>
            <a:off x="502920" y="1691640"/>
            <a:ext cx="2645588" cy="1783080"/>
          </a:xfrm>
          <a:prstGeom prst="roundRect">
            <a:avLst>
              <a:gd name="adj" fmla="val 5128"/>
            </a:avLst>
          </a:prstGeom>
          <a:solidFill>
            <a:srgbClr val="FFFFFF"/>
          </a:solidFill>
          <a:ln w="12700">
            <a:solidFill>
              <a:srgbClr val="CFE3E2"/>
            </a:solidFill>
            <a:prstDash val="solid"/>
          </a:ln>
        </p:spPr>
        <p:txBody>
          <a:bodyPr/>
          <a:lstStyle/>
          <a:p>
            <a:endParaRPr lang="en-US"/>
          </a:p>
        </p:txBody>
      </p:sp>
      <p:sp>
        <p:nvSpPr>
          <p:cNvPr id="7" name="Text 4"/>
          <p:cNvSpPr txBox="1"/>
          <p:nvPr/>
        </p:nvSpPr>
        <p:spPr>
          <a:xfrm>
            <a:off x="667512" y="1828800"/>
            <a:ext cx="2316404" cy="365760"/>
          </a:xfrm>
          <a:prstGeom prst="rect">
            <a:avLst/>
          </a:prstGeom>
          <a:noFill/>
          <a:ln/>
        </p:spPr>
        <p:txBody>
          <a:bodyPr wrap="square" lIns="0" tIns="0" rIns="0" bIns="0" rtlCol="0" anchor="ctr"/>
          <a:lstStyle/>
          <a:p>
            <a:pPr marL="0" indent="0">
              <a:buNone/>
            </a:pPr>
            <a:r>
              <a:rPr lang="en-US" sz="1500" b="1" dirty="0">
                <a:solidFill>
                  <a:srgbClr val="4C3FA3"/>
                </a:solidFill>
                <a:latin typeface="Arvo" pitchFamily="34" charset="0"/>
                <a:ea typeface="Arvo" pitchFamily="34" charset="-122"/>
                <a:cs typeface="Arvo" pitchFamily="34" charset="-120"/>
              </a:rPr>
              <a:t>Subject</a:t>
            </a:r>
            <a:endParaRPr lang="en-US" sz="1500" dirty="0"/>
          </a:p>
        </p:txBody>
      </p:sp>
      <p:sp>
        <p:nvSpPr>
          <p:cNvPr id="8" name="Text 5"/>
          <p:cNvSpPr txBox="1"/>
          <p:nvPr/>
        </p:nvSpPr>
        <p:spPr>
          <a:xfrm>
            <a:off x="667512" y="2212848"/>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Who is asking</a:t>
            </a:r>
            <a:endParaRPr lang="en-US" sz="1050" dirty="0"/>
          </a:p>
        </p:txBody>
      </p:sp>
      <p:sp>
        <p:nvSpPr>
          <p:cNvPr id="9" name="Text 6"/>
          <p:cNvSpPr txBox="1"/>
          <p:nvPr/>
        </p:nvSpPr>
        <p:spPr>
          <a:xfrm>
            <a:off x="667512" y="2505456"/>
            <a:ext cx="2316404" cy="868680"/>
          </a:xfrm>
          <a:prstGeom prst="rect">
            <a:avLst/>
          </a:prstGeom>
          <a:noFill/>
          <a:ln/>
        </p:spPr>
        <p:txBody>
          <a:bodyPr wrap="square" lIns="0" tIns="0" rIns="0" bIns="0" rtlCol="0" anchor="t"/>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ServiceAccount, User or Group. Pods run as a ServiceAccount — that is the identity that matters most here.</a:t>
            </a:r>
            <a:endParaRPr lang="en-US" sz="1100" dirty="0"/>
          </a:p>
        </p:txBody>
      </p:sp>
      <p:sp>
        <p:nvSpPr>
          <p:cNvPr id="10" name="rb-1"/>
          <p:cNvSpPr/>
          <p:nvPr/>
        </p:nvSpPr>
        <p:spPr>
          <a:xfrm>
            <a:off x="3349676" y="1691640"/>
            <a:ext cx="2645588" cy="1783080"/>
          </a:xfrm>
          <a:prstGeom prst="roundRect">
            <a:avLst>
              <a:gd name="adj" fmla="val 5128"/>
            </a:avLst>
          </a:prstGeom>
          <a:solidFill>
            <a:srgbClr val="FFFFFF"/>
          </a:solidFill>
          <a:ln w="12700">
            <a:solidFill>
              <a:srgbClr val="CFE3E2"/>
            </a:solidFill>
            <a:prstDash val="solid"/>
          </a:ln>
        </p:spPr>
        <p:txBody>
          <a:bodyPr/>
          <a:lstStyle/>
          <a:p>
            <a:endParaRPr lang="en-US"/>
          </a:p>
        </p:txBody>
      </p:sp>
      <p:sp>
        <p:nvSpPr>
          <p:cNvPr id="11" name="Text 8"/>
          <p:cNvSpPr txBox="1"/>
          <p:nvPr/>
        </p:nvSpPr>
        <p:spPr>
          <a:xfrm>
            <a:off x="3514268" y="1828800"/>
            <a:ext cx="2316404" cy="365760"/>
          </a:xfrm>
          <a:prstGeom prst="rect">
            <a:avLst/>
          </a:prstGeom>
          <a:noFill/>
          <a:ln/>
        </p:spPr>
        <p:txBody>
          <a:bodyPr wrap="square" lIns="0" tIns="0" rIns="0" bIns="0" rtlCol="0" anchor="ctr"/>
          <a:lstStyle/>
          <a:p>
            <a:pPr marL="0" indent="0">
              <a:buNone/>
            </a:pPr>
            <a:r>
              <a:rPr lang="en-US" sz="1500" b="1" dirty="0">
                <a:solidFill>
                  <a:srgbClr val="0B4F5C"/>
                </a:solidFill>
                <a:latin typeface="Arvo" pitchFamily="34" charset="0"/>
                <a:ea typeface="Arvo" pitchFamily="34" charset="-122"/>
                <a:cs typeface="Arvo" pitchFamily="34" charset="-120"/>
              </a:rPr>
              <a:t>Role / ClusterRole</a:t>
            </a:r>
            <a:endParaRPr lang="en-US" sz="1500" dirty="0"/>
          </a:p>
        </p:txBody>
      </p:sp>
      <p:sp>
        <p:nvSpPr>
          <p:cNvPr id="12" name="Text 9"/>
          <p:cNvSpPr txBox="1"/>
          <p:nvPr/>
        </p:nvSpPr>
        <p:spPr>
          <a:xfrm>
            <a:off x="3514268" y="2212848"/>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What may be done</a:t>
            </a:r>
            <a:endParaRPr lang="en-US" sz="1050" dirty="0"/>
          </a:p>
        </p:txBody>
      </p:sp>
      <p:sp>
        <p:nvSpPr>
          <p:cNvPr id="13" name="Text 10"/>
          <p:cNvSpPr txBox="1"/>
          <p:nvPr/>
        </p:nvSpPr>
        <p:spPr>
          <a:xfrm>
            <a:off x="3514268" y="2505456"/>
            <a:ext cx="2316404" cy="868680"/>
          </a:xfrm>
          <a:prstGeom prst="rect">
            <a:avLst/>
          </a:prstGeom>
          <a:noFill/>
          <a:ln/>
        </p:spPr>
        <p:txBody>
          <a:bodyPr wrap="square" lIns="0" tIns="0" rIns="0" bIns="0" rtlCol="0" anchor="t"/>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A list of rules: these verbs, on these resources, in this API group. Role is namespaced, ClusterRole is not.</a:t>
            </a:r>
            <a:endParaRPr lang="en-US" sz="1100" dirty="0"/>
          </a:p>
        </p:txBody>
      </p:sp>
      <p:sp>
        <p:nvSpPr>
          <p:cNvPr id="14" name="rb-2"/>
          <p:cNvSpPr/>
          <p:nvPr/>
        </p:nvSpPr>
        <p:spPr>
          <a:xfrm>
            <a:off x="6196432" y="1691640"/>
            <a:ext cx="2645588" cy="1783080"/>
          </a:xfrm>
          <a:prstGeom prst="roundRect">
            <a:avLst>
              <a:gd name="adj" fmla="val 5128"/>
            </a:avLst>
          </a:prstGeom>
          <a:solidFill>
            <a:srgbClr val="FFFFFF"/>
          </a:solidFill>
          <a:ln w="12700">
            <a:solidFill>
              <a:srgbClr val="CFE3E2"/>
            </a:solidFill>
            <a:prstDash val="solid"/>
          </a:ln>
        </p:spPr>
        <p:txBody>
          <a:bodyPr/>
          <a:lstStyle/>
          <a:p>
            <a:endParaRPr lang="en-US"/>
          </a:p>
        </p:txBody>
      </p:sp>
      <p:sp>
        <p:nvSpPr>
          <p:cNvPr id="15" name="Text 12"/>
          <p:cNvSpPr txBox="1"/>
          <p:nvPr/>
        </p:nvSpPr>
        <p:spPr>
          <a:xfrm>
            <a:off x="6361024" y="1828800"/>
            <a:ext cx="2316404" cy="365760"/>
          </a:xfrm>
          <a:prstGeom prst="rect">
            <a:avLst/>
          </a:prstGeom>
          <a:noFill/>
          <a:ln/>
        </p:spPr>
        <p:txBody>
          <a:bodyPr wrap="square" lIns="0" tIns="0" rIns="0" bIns="0" rtlCol="0" anchor="ctr"/>
          <a:lstStyle/>
          <a:p>
            <a:pPr marL="0" indent="0">
              <a:buNone/>
            </a:pPr>
            <a:r>
              <a:rPr lang="en-US" sz="1500" b="1" dirty="0">
                <a:solidFill>
                  <a:srgbClr val="0067C0"/>
                </a:solidFill>
                <a:latin typeface="Arvo" pitchFamily="34" charset="0"/>
                <a:ea typeface="Arvo" pitchFamily="34" charset="-122"/>
                <a:cs typeface="Arvo" pitchFamily="34" charset="-120"/>
              </a:rPr>
              <a:t>Binding</a:t>
            </a:r>
            <a:endParaRPr lang="en-US" sz="1500" dirty="0"/>
          </a:p>
        </p:txBody>
      </p:sp>
      <p:sp>
        <p:nvSpPr>
          <p:cNvPr id="16" name="Text 13"/>
          <p:cNvSpPr txBox="1"/>
          <p:nvPr/>
        </p:nvSpPr>
        <p:spPr>
          <a:xfrm>
            <a:off x="6361024" y="2212848"/>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Glue the two together</a:t>
            </a:r>
            <a:endParaRPr lang="en-US" sz="1050" dirty="0"/>
          </a:p>
        </p:txBody>
      </p:sp>
      <p:sp>
        <p:nvSpPr>
          <p:cNvPr id="17" name="Text 14"/>
          <p:cNvSpPr txBox="1"/>
          <p:nvPr/>
        </p:nvSpPr>
        <p:spPr>
          <a:xfrm>
            <a:off x="6361024" y="2505456"/>
            <a:ext cx="2316404" cy="868680"/>
          </a:xfrm>
          <a:prstGeom prst="rect">
            <a:avLst/>
          </a:prstGeom>
          <a:noFill/>
          <a:ln/>
        </p:spPr>
        <p:txBody>
          <a:bodyPr wrap="square" lIns="0" tIns="0" rIns="0" bIns="0" rtlCol="0" anchor="t"/>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RoleBinding grants inside one namespace. ClusterRoleBinding grants across the whole cluster.</a:t>
            </a:r>
            <a:endParaRPr lang="en-US" sz="1100" dirty="0"/>
          </a:p>
        </p:txBody>
      </p:sp>
      <p:sp>
        <p:nvSpPr>
          <p:cNvPr id="18" name="rb-3"/>
          <p:cNvSpPr/>
          <p:nvPr/>
        </p:nvSpPr>
        <p:spPr>
          <a:xfrm>
            <a:off x="9043187" y="1691640"/>
            <a:ext cx="2645588" cy="1783080"/>
          </a:xfrm>
          <a:prstGeom prst="roundRect">
            <a:avLst>
              <a:gd name="adj" fmla="val 5128"/>
            </a:avLst>
          </a:prstGeom>
          <a:solidFill>
            <a:srgbClr val="FFFFFF"/>
          </a:solidFill>
          <a:ln w="12700">
            <a:solidFill>
              <a:srgbClr val="CFE3E2"/>
            </a:solidFill>
            <a:prstDash val="solid"/>
          </a:ln>
        </p:spPr>
        <p:txBody>
          <a:bodyPr/>
          <a:lstStyle/>
          <a:p>
            <a:endParaRPr lang="en-US"/>
          </a:p>
        </p:txBody>
      </p:sp>
      <p:sp>
        <p:nvSpPr>
          <p:cNvPr id="19" name="Text 16"/>
          <p:cNvSpPr txBox="1"/>
          <p:nvPr/>
        </p:nvSpPr>
        <p:spPr>
          <a:xfrm>
            <a:off x="9207779" y="1828800"/>
            <a:ext cx="2316404" cy="365760"/>
          </a:xfrm>
          <a:prstGeom prst="rect">
            <a:avLst/>
          </a:prstGeom>
          <a:noFill/>
          <a:ln/>
        </p:spPr>
        <p:txBody>
          <a:bodyPr wrap="square" lIns="0" tIns="0" rIns="0" bIns="0" rtlCol="0" anchor="ctr"/>
          <a:lstStyle/>
          <a:p>
            <a:pPr marL="0" indent="0">
              <a:buNone/>
            </a:pPr>
            <a:r>
              <a:rPr lang="en-US" sz="1500" b="1" dirty="0">
                <a:solidFill>
                  <a:srgbClr val="9A5B0C"/>
                </a:solidFill>
                <a:latin typeface="Arvo" pitchFamily="34" charset="0"/>
                <a:ea typeface="Arvo" pitchFamily="34" charset="-122"/>
                <a:cs typeface="Arvo" pitchFamily="34" charset="-120"/>
              </a:rPr>
              <a:t>No deny rules</a:t>
            </a:r>
            <a:endParaRPr lang="en-US" sz="1500" dirty="0"/>
          </a:p>
        </p:txBody>
      </p:sp>
      <p:sp>
        <p:nvSpPr>
          <p:cNvPr id="20" name="Text 17"/>
          <p:cNvSpPr txBox="1"/>
          <p:nvPr/>
        </p:nvSpPr>
        <p:spPr>
          <a:xfrm>
            <a:off x="9207779" y="2212848"/>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Additive only</a:t>
            </a:r>
            <a:endParaRPr lang="en-US" sz="1050" dirty="0"/>
          </a:p>
        </p:txBody>
      </p:sp>
      <p:sp>
        <p:nvSpPr>
          <p:cNvPr id="21" name="Text 18"/>
          <p:cNvSpPr txBox="1"/>
          <p:nvPr/>
        </p:nvSpPr>
        <p:spPr>
          <a:xfrm>
            <a:off x="9207779" y="2505456"/>
            <a:ext cx="2316404" cy="868680"/>
          </a:xfrm>
          <a:prstGeom prst="rect">
            <a:avLst/>
          </a:prstGeom>
          <a:noFill/>
          <a:ln/>
        </p:spPr>
        <p:txBody>
          <a:bodyPr wrap="square" lIns="0" tIns="0" rIns="0" bIns="0" rtlCol="0" anchor="t"/>
          <a:lstStyle/>
          <a:p>
            <a:pPr marL="0" indent="0">
              <a:lnSpc>
                <a:spcPct val="112000"/>
              </a:lnSpc>
              <a:buNone/>
            </a:pPr>
            <a:r>
              <a:rPr lang="en-US" sz="1100" dirty="0">
                <a:solidFill>
                  <a:srgbClr val="1F2937"/>
                </a:solidFill>
                <a:latin typeface="Calibri" pitchFamily="34" charset="0"/>
                <a:ea typeface="Calibri" pitchFamily="34" charset="-122"/>
                <a:cs typeface="Calibri" pitchFamily="34" charset="-120"/>
              </a:rPr>
              <a:t>If nothing grants it, it is denied. You cannot write an exception — you remove the grant instead.</a:t>
            </a:r>
            <a:endParaRPr lang="en-US" sz="1100" dirty="0"/>
          </a:p>
        </p:txBody>
      </p:sp>
      <p:sp>
        <p:nvSpPr>
          <p:cNvPr id="22" name="matrix"/>
          <p:cNvSpPr/>
          <p:nvPr/>
        </p:nvSpPr>
        <p:spPr>
          <a:xfrm>
            <a:off x="502920" y="3703320"/>
            <a:ext cx="11185855" cy="2212848"/>
          </a:xfrm>
          <a:prstGeom prst="roundRect">
            <a:avLst>
              <a:gd name="adj" fmla="val 4132"/>
            </a:avLst>
          </a:prstGeom>
          <a:solidFill>
            <a:srgbClr val="FFFFFF"/>
          </a:solidFill>
          <a:ln w="12700">
            <a:solidFill>
              <a:srgbClr val="CFE3E2"/>
            </a:solidFill>
            <a:prstDash val="solid"/>
          </a:ln>
        </p:spPr>
        <p:txBody>
          <a:bodyPr/>
          <a:lstStyle/>
          <a:p>
            <a:endParaRPr lang="en-US"/>
          </a:p>
        </p:txBody>
      </p:sp>
      <p:sp>
        <p:nvSpPr>
          <p:cNvPr id="23" name="Text 20"/>
          <p:cNvSpPr txBox="1"/>
          <p:nvPr/>
        </p:nvSpPr>
        <p:spPr>
          <a:xfrm>
            <a:off x="731520" y="3831336"/>
            <a:ext cx="4572000" cy="274320"/>
          </a:xfrm>
          <a:prstGeom prst="rect">
            <a:avLst/>
          </a:prstGeom>
          <a:noFill/>
          <a:ln/>
        </p:spPr>
        <p:txBody>
          <a:bodyPr wrap="square" lIns="0" tIns="0" rIns="0" bIns="0" rtlCol="0" anchor="ctr"/>
          <a:lstStyle/>
          <a:p>
            <a:pPr marL="0" indent="0">
              <a:buNone/>
            </a:pPr>
            <a:r>
              <a:rPr lang="en-US" sz="1300" b="1" dirty="0">
                <a:solidFill>
                  <a:srgbClr val="1B1537"/>
                </a:solidFill>
                <a:latin typeface="Calibri" pitchFamily="34" charset="0"/>
                <a:ea typeface="Calibri" pitchFamily="34" charset="-122"/>
                <a:cs typeface="Calibri" pitchFamily="34" charset="-120"/>
              </a:rPr>
              <a:t>Which combination do you want?</a:t>
            </a:r>
            <a:endParaRPr lang="en-US" sz="1300" dirty="0"/>
          </a:p>
        </p:txBody>
      </p:sp>
      <p:sp>
        <p:nvSpPr>
          <p:cNvPr id="24" name="cell-0"/>
          <p:cNvSpPr/>
          <p:nvPr/>
        </p:nvSpPr>
        <p:spPr>
          <a:xfrm>
            <a:off x="731520" y="4178808"/>
            <a:ext cx="5263744" cy="749808"/>
          </a:xfrm>
          <a:prstGeom prst="roundRect">
            <a:avLst>
              <a:gd name="adj" fmla="val 8537"/>
            </a:avLst>
          </a:prstGeom>
          <a:solidFill>
            <a:srgbClr val="F6FBFA"/>
          </a:solidFill>
          <a:ln w="12700">
            <a:solidFill>
              <a:srgbClr val="0F7B45"/>
            </a:solidFill>
            <a:prstDash val="solid"/>
          </a:ln>
        </p:spPr>
        <p:txBody>
          <a:bodyPr/>
          <a:lstStyle/>
          <a:p>
            <a:endParaRPr lang="en-US"/>
          </a:p>
        </p:txBody>
      </p:sp>
      <p:sp>
        <p:nvSpPr>
          <p:cNvPr id="25" name="Text 22"/>
          <p:cNvSpPr txBox="1"/>
          <p:nvPr/>
        </p:nvSpPr>
        <p:spPr>
          <a:xfrm>
            <a:off x="877824" y="4270248"/>
            <a:ext cx="4971136" cy="256032"/>
          </a:xfrm>
          <a:prstGeom prst="rect">
            <a:avLst/>
          </a:prstGeom>
          <a:noFill/>
          <a:ln/>
        </p:spPr>
        <p:txBody>
          <a:bodyPr wrap="square" lIns="0" tIns="0" rIns="0" bIns="0" rtlCol="0" anchor="ctr"/>
          <a:lstStyle/>
          <a:p>
            <a:pPr marL="0" indent="0">
              <a:buNone/>
            </a:pPr>
            <a:r>
              <a:rPr lang="en-US" sz="1150" b="1" dirty="0">
                <a:solidFill>
                  <a:srgbClr val="0F7B45"/>
                </a:solidFill>
                <a:latin typeface="Roboto Mono" pitchFamily="34" charset="0"/>
                <a:ea typeface="Roboto Mono" pitchFamily="34" charset="-122"/>
                <a:cs typeface="Roboto Mono" pitchFamily="34" charset="-120"/>
              </a:rPr>
              <a:t>Role + RoleBinding</a:t>
            </a:r>
            <a:endParaRPr lang="en-US" sz="1150" dirty="0"/>
          </a:p>
        </p:txBody>
      </p:sp>
      <p:sp>
        <p:nvSpPr>
          <p:cNvPr id="26" name="Text 23"/>
          <p:cNvSpPr txBox="1"/>
          <p:nvPr/>
        </p:nvSpPr>
        <p:spPr>
          <a:xfrm>
            <a:off x="877824" y="4544568"/>
            <a:ext cx="4971136" cy="292608"/>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Permissions in one namespace. The normal case, and what we are about to build.</a:t>
            </a:r>
            <a:endParaRPr lang="en-US" sz="1050" dirty="0"/>
          </a:p>
        </p:txBody>
      </p:sp>
      <p:sp>
        <p:nvSpPr>
          <p:cNvPr id="27" name="cell-1"/>
          <p:cNvSpPr/>
          <p:nvPr/>
        </p:nvSpPr>
        <p:spPr>
          <a:xfrm>
            <a:off x="6196432" y="4178808"/>
            <a:ext cx="5263744" cy="749808"/>
          </a:xfrm>
          <a:prstGeom prst="roundRect">
            <a:avLst>
              <a:gd name="adj" fmla="val 8537"/>
            </a:avLst>
          </a:prstGeom>
          <a:solidFill>
            <a:srgbClr val="F6FBFA"/>
          </a:solidFill>
          <a:ln w="12700">
            <a:solidFill>
              <a:srgbClr val="0067C0"/>
            </a:solidFill>
            <a:prstDash val="solid"/>
          </a:ln>
        </p:spPr>
        <p:txBody>
          <a:bodyPr/>
          <a:lstStyle/>
          <a:p>
            <a:endParaRPr lang="en-US"/>
          </a:p>
        </p:txBody>
      </p:sp>
      <p:sp>
        <p:nvSpPr>
          <p:cNvPr id="28" name="Text 25"/>
          <p:cNvSpPr txBox="1"/>
          <p:nvPr/>
        </p:nvSpPr>
        <p:spPr>
          <a:xfrm>
            <a:off x="6342736" y="4270248"/>
            <a:ext cx="4971136" cy="256032"/>
          </a:xfrm>
          <a:prstGeom prst="rect">
            <a:avLst/>
          </a:prstGeom>
          <a:noFill/>
          <a:ln/>
        </p:spPr>
        <p:txBody>
          <a:bodyPr wrap="square" lIns="0" tIns="0" rIns="0" bIns="0" rtlCol="0" anchor="ctr"/>
          <a:lstStyle/>
          <a:p>
            <a:pPr marL="0" indent="0">
              <a:buNone/>
            </a:pPr>
            <a:r>
              <a:rPr lang="en-US" sz="1150" b="1" dirty="0">
                <a:solidFill>
                  <a:srgbClr val="0067C0"/>
                </a:solidFill>
                <a:latin typeface="Roboto Mono" pitchFamily="34" charset="0"/>
                <a:ea typeface="Roboto Mono" pitchFamily="34" charset="-122"/>
                <a:cs typeface="Roboto Mono" pitchFamily="34" charset="-120"/>
              </a:rPr>
              <a:t>ClusterRole + RoleBinding</a:t>
            </a:r>
            <a:endParaRPr lang="en-US" sz="1150" dirty="0"/>
          </a:p>
        </p:txBody>
      </p:sp>
      <p:sp>
        <p:nvSpPr>
          <p:cNvPr id="29" name="Text 26"/>
          <p:cNvSpPr txBox="1"/>
          <p:nvPr/>
        </p:nvSpPr>
        <p:spPr>
          <a:xfrm>
            <a:off x="6342736" y="4544568"/>
            <a:ext cx="4971136" cy="292608"/>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Define the permission set once, grant it per namespace. The best-kept secret in RBAC — perfect for tenants.</a:t>
            </a:r>
            <a:endParaRPr lang="en-US" sz="1050" dirty="0"/>
          </a:p>
        </p:txBody>
      </p:sp>
      <p:sp>
        <p:nvSpPr>
          <p:cNvPr id="30" name="cell-2"/>
          <p:cNvSpPr/>
          <p:nvPr/>
        </p:nvSpPr>
        <p:spPr>
          <a:xfrm>
            <a:off x="731520" y="5093208"/>
            <a:ext cx="5263744" cy="749808"/>
          </a:xfrm>
          <a:prstGeom prst="roundRect">
            <a:avLst>
              <a:gd name="adj" fmla="val 8537"/>
            </a:avLst>
          </a:prstGeom>
          <a:solidFill>
            <a:srgbClr val="F6FBFA"/>
          </a:solidFill>
          <a:ln w="12700">
            <a:solidFill>
              <a:srgbClr val="9A5B0C"/>
            </a:solidFill>
            <a:prstDash val="solid"/>
          </a:ln>
        </p:spPr>
        <p:txBody>
          <a:bodyPr/>
          <a:lstStyle/>
          <a:p>
            <a:endParaRPr lang="en-US"/>
          </a:p>
        </p:txBody>
      </p:sp>
      <p:sp>
        <p:nvSpPr>
          <p:cNvPr id="31" name="Text 28"/>
          <p:cNvSpPr txBox="1"/>
          <p:nvPr/>
        </p:nvSpPr>
        <p:spPr>
          <a:xfrm>
            <a:off x="877824" y="5184648"/>
            <a:ext cx="4971136" cy="256032"/>
          </a:xfrm>
          <a:prstGeom prst="rect">
            <a:avLst/>
          </a:prstGeom>
          <a:noFill/>
          <a:ln/>
        </p:spPr>
        <p:txBody>
          <a:bodyPr wrap="square" lIns="0" tIns="0" rIns="0" bIns="0" rtlCol="0" anchor="ctr"/>
          <a:lstStyle/>
          <a:p>
            <a:pPr marL="0" indent="0">
              <a:buNone/>
            </a:pPr>
            <a:r>
              <a:rPr lang="en-US" sz="1150" b="1" dirty="0">
                <a:solidFill>
                  <a:srgbClr val="9A5B0C"/>
                </a:solidFill>
                <a:latin typeface="Roboto Mono" pitchFamily="34" charset="0"/>
                <a:ea typeface="Roboto Mono" pitchFamily="34" charset="-122"/>
                <a:cs typeface="Roboto Mono" pitchFamily="34" charset="-120"/>
              </a:rPr>
              <a:t>ClusterRole + ClusterRoleBinding</a:t>
            </a:r>
            <a:endParaRPr lang="en-US" sz="1150" dirty="0"/>
          </a:p>
        </p:txBody>
      </p:sp>
      <p:sp>
        <p:nvSpPr>
          <p:cNvPr id="32" name="Text 29"/>
          <p:cNvSpPr txBox="1"/>
          <p:nvPr/>
        </p:nvSpPr>
        <p:spPr>
          <a:xfrm>
            <a:off x="877824" y="5458968"/>
            <a:ext cx="4971136" cy="292608"/>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Permissions in every namespace. Necessary for operators and monitoring. Audit these first on any cluster.</a:t>
            </a:r>
            <a:endParaRPr lang="en-US" sz="1050" dirty="0"/>
          </a:p>
        </p:txBody>
      </p:sp>
      <p:sp>
        <p:nvSpPr>
          <p:cNvPr id="33" name="cell-3"/>
          <p:cNvSpPr/>
          <p:nvPr/>
        </p:nvSpPr>
        <p:spPr>
          <a:xfrm>
            <a:off x="6196432" y="5093208"/>
            <a:ext cx="5263744" cy="749808"/>
          </a:xfrm>
          <a:prstGeom prst="roundRect">
            <a:avLst>
              <a:gd name="adj" fmla="val 8537"/>
            </a:avLst>
          </a:prstGeom>
          <a:solidFill>
            <a:srgbClr val="F1F3F6"/>
          </a:solidFill>
          <a:ln w="12700">
            <a:solidFill>
              <a:srgbClr val="4A5568"/>
            </a:solidFill>
            <a:prstDash val="solid"/>
          </a:ln>
        </p:spPr>
        <p:txBody>
          <a:bodyPr/>
          <a:lstStyle/>
          <a:p>
            <a:endParaRPr lang="en-US"/>
          </a:p>
        </p:txBody>
      </p:sp>
      <p:sp>
        <p:nvSpPr>
          <p:cNvPr id="34" name="Text 31"/>
          <p:cNvSpPr txBox="1"/>
          <p:nvPr/>
        </p:nvSpPr>
        <p:spPr>
          <a:xfrm>
            <a:off x="6342736" y="5184648"/>
            <a:ext cx="4971136" cy="256032"/>
          </a:xfrm>
          <a:prstGeom prst="rect">
            <a:avLst/>
          </a:prstGeom>
          <a:noFill/>
          <a:ln/>
        </p:spPr>
        <p:txBody>
          <a:bodyPr wrap="square" lIns="0" tIns="0" rIns="0" bIns="0" rtlCol="0" anchor="ctr"/>
          <a:lstStyle/>
          <a:p>
            <a:pPr marL="0" indent="0">
              <a:buNone/>
            </a:pPr>
            <a:r>
              <a:rPr lang="en-US" sz="1150" b="1" dirty="0">
                <a:solidFill>
                  <a:srgbClr val="4A5568"/>
                </a:solidFill>
                <a:latin typeface="Roboto Mono" pitchFamily="34" charset="0"/>
                <a:ea typeface="Roboto Mono" pitchFamily="34" charset="-122"/>
                <a:cs typeface="Roboto Mono" pitchFamily="34" charset="-120"/>
              </a:rPr>
              <a:t>Role + ClusterRoleBinding</a:t>
            </a:r>
            <a:endParaRPr lang="en-US" sz="1150" dirty="0"/>
          </a:p>
        </p:txBody>
      </p:sp>
      <p:sp>
        <p:nvSpPr>
          <p:cNvPr id="35" name="Text 32"/>
          <p:cNvSpPr txBox="1"/>
          <p:nvPr/>
        </p:nvSpPr>
        <p:spPr>
          <a:xfrm>
            <a:off x="6342736" y="5458968"/>
            <a:ext cx="4971136" cy="292608"/>
          </a:xfrm>
          <a:prstGeom prst="rect">
            <a:avLst/>
          </a:prstGeom>
          <a:noFill/>
          <a:ln/>
        </p:spPr>
        <p:txBody>
          <a:bodyPr wrap="square" lIns="0" tIns="0" rIns="0" bIns="0" rtlCol="0" anchor="t"/>
          <a:lstStyle/>
          <a:p>
            <a:pPr marL="0" indent="0">
              <a:lnSpc>
                <a:spcPct val="110000"/>
              </a:lnSpc>
              <a:buNone/>
            </a:pPr>
            <a:r>
              <a:rPr lang="en-US" sz="1050" dirty="0">
                <a:solidFill>
                  <a:srgbClr val="1F2937"/>
                </a:solidFill>
                <a:latin typeface="Calibri" pitchFamily="34" charset="0"/>
                <a:ea typeface="Calibri" pitchFamily="34" charset="-122"/>
                <a:cs typeface="Calibri" pitchFamily="34" charset="-120"/>
              </a:rPr>
              <a:t>Does not exist. Kubernetes rejects it.</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RBAC · STEP 15</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Every pod carries an API token</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Mounted automatically, at a fixed path, in every pod you have ever run. Anything that can read a file in your container can use it.</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2015363"/>
          </a:xfrm>
          <a:prstGeom prst="roundRect">
            <a:avLst>
              <a:gd name="adj" fmla="val 317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741043"/>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apply -f rbac/00-probe.yaml</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the token is just a file inside the pod</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exec -n team-alpha probe --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head -c 50 /var/run/secrets/kubernetes.io/serviceaccount/token</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use it to ask the API for team-bravo's secrets</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exec -n team-alpha probe -- sh -c 'curl -sk -o /dev/null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-w "%{http_code}\n" -H "Authorization: Bearer $(cat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/var/run/secrets/kubernetes.io/serviceaccount/token)"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https://kubernetes.default.svc/api/v1/namespaces/team-bravo/secrets'</a:t>
            </a:r>
            <a:endParaRPr lang="en-US" sz="850" dirty="0"/>
          </a:p>
        </p:txBody>
      </p:sp>
      <p:sp>
        <p:nvSpPr>
          <p:cNvPr id="9" name="pill-bg"/>
          <p:cNvSpPr/>
          <p:nvPr/>
        </p:nvSpPr>
        <p:spPr>
          <a:xfrm>
            <a:off x="502920" y="4337939"/>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4337939"/>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758563"/>
            <a:ext cx="6903720" cy="1194816"/>
          </a:xfrm>
          <a:prstGeom prst="roundRect">
            <a:avLst>
              <a:gd name="adj" fmla="val 5357"/>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895723"/>
            <a:ext cx="6574536" cy="920496"/>
          </a:xfrm>
          <a:prstGeom prst="rect">
            <a:avLst/>
          </a:prstGeom>
          <a:noFill/>
          <a:ln/>
        </p:spPr>
        <p:txBody>
          <a:bodyPr wrap="square" lIns="0" tIns="0" rIns="0" bIns="0" rtlCol="0" anchor="t"/>
          <a:lstStyle/>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eyJhbGciOiJSUzI1NiIsImtpZCI6Ik5XZ0ZkT0hVa...</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403</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403 = the default ServiceAccount has no permissions.</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Good. But the token was there, and the API answered.</a:t>
            </a:r>
            <a:endParaRPr lang="en-US" sz="8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188720"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5" name="pill-text"/>
          <p:cNvSpPr txBox="1"/>
          <p:nvPr/>
        </p:nvSpPr>
        <p:spPr>
          <a:xfrm>
            <a:off x="7863840" y="184708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Two lessons</a:t>
            </a:r>
            <a:endParaRPr lang="en-US" sz="1150" dirty="0"/>
          </a:p>
        </p:txBody>
      </p:sp>
      <p:sp>
        <p:nvSpPr>
          <p:cNvPr id="16" name="sdot-0"/>
          <p:cNvSpPr/>
          <p:nvPr/>
        </p:nvSpPr>
        <p:spPr>
          <a:xfrm>
            <a:off x="7882128" y="2414016"/>
            <a:ext cx="128016" cy="128016"/>
          </a:xfrm>
          <a:prstGeom prst="ellipse">
            <a:avLst/>
          </a:prstGeom>
          <a:solidFill>
            <a:srgbClr val="0F7B45"/>
          </a:solidFill>
          <a:ln w="12700">
            <a:solidFill>
              <a:srgbClr val="0F7B45"/>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F7B45"/>
                </a:solidFill>
                <a:latin typeface="Calibri" pitchFamily="34" charset="0"/>
                <a:ea typeface="Calibri" pitchFamily="34" charset="-122"/>
                <a:cs typeface="Calibri" pitchFamily="34" charset="-120"/>
              </a:rPr>
              <a:t>403 is the right answer  </a:t>
            </a:r>
            <a:r>
              <a:rPr lang="en-US" sz="1000" dirty="0">
                <a:solidFill>
                  <a:srgbClr val="1F2937"/>
                </a:solidFill>
                <a:latin typeface="Calibri" pitchFamily="34" charset="0"/>
                <a:ea typeface="Calibri" pitchFamily="34" charset="-122"/>
                <a:cs typeface="Calibri" pitchFamily="34" charset="-120"/>
              </a:rPr>
              <a:t>— the default ServiceAccount is granted nothing. The danger is never the default SA; it is the over-permissioned one someone made for a Helm chart.</a:t>
            </a:r>
            <a:endParaRPr lang="en-US" sz="1000" dirty="0"/>
          </a:p>
        </p:txBody>
      </p:sp>
      <p:sp>
        <p:nvSpPr>
          <p:cNvPr id="18" name="sdot-1"/>
          <p:cNvSpPr/>
          <p:nvPr/>
        </p:nvSpPr>
        <p:spPr>
          <a:xfrm>
            <a:off x="7882128" y="3262122"/>
            <a:ext cx="128016" cy="128016"/>
          </a:xfrm>
          <a:prstGeom prst="ellipse">
            <a:avLst/>
          </a:prstGeom>
          <a:solidFill>
            <a:srgbClr val="B3263B"/>
          </a:solidFill>
          <a:ln w="12700">
            <a:solidFill>
              <a:srgbClr val="B3263B"/>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But the token is still mounted.  </a:t>
            </a:r>
            <a:r>
              <a:rPr lang="en-US" sz="1000" dirty="0">
                <a:solidFill>
                  <a:srgbClr val="1F2937"/>
                </a:solidFill>
                <a:latin typeface="Calibri" pitchFamily="34" charset="0"/>
                <a:ea typeface="Calibri" pitchFamily="34" charset="-122"/>
                <a:cs typeface="Calibri" pitchFamily="34" charset="-120"/>
              </a:rPr>
              <a:t>Any file-read bug, any SSRF, any malicious dependency in your app can take it. If your pod never calls the API, turn it off.</a:t>
            </a:r>
            <a:endParaRPr lang="en-US" sz="1000" dirty="0"/>
          </a:p>
        </p:txBody>
      </p:sp>
      <p:sp>
        <p:nvSpPr>
          <p:cNvPr id="20" name="sdot-2"/>
          <p:cNvSpPr/>
          <p:nvPr/>
        </p:nvSpPr>
        <p:spPr>
          <a:xfrm>
            <a:off x="7882128" y="4110228"/>
            <a:ext cx="128016" cy="128016"/>
          </a:xfrm>
          <a:prstGeom prst="ellipse">
            <a:avLst/>
          </a:prstGeom>
          <a:solidFill>
            <a:srgbClr val="0B4F5C"/>
          </a:solidFill>
          <a:ln w="12700">
            <a:solidFill>
              <a:srgbClr val="0B4F5C"/>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B4F5C"/>
                </a:solidFill>
                <a:latin typeface="Calibri" pitchFamily="34" charset="0"/>
                <a:ea typeface="Calibri" pitchFamily="34" charset="-122"/>
                <a:cs typeface="Calibri" pitchFamily="34" charset="-120"/>
              </a:rPr>
              <a:t>automountServiceAccountToken: false  </a:t>
            </a:r>
            <a:r>
              <a:rPr lang="en-US" sz="1000" dirty="0">
                <a:solidFill>
                  <a:srgbClr val="1F2937"/>
                </a:solidFill>
                <a:latin typeface="Calibri" pitchFamily="34" charset="0"/>
                <a:ea typeface="Calibri" pitchFamily="34" charset="-122"/>
                <a:cs typeface="Calibri" pitchFamily="34" charset="-120"/>
              </a:rPr>
              <a:t>on the pod or the ServiceAccount. Costs nothing, removes a whole class of attack. Almost nobody does it.</a:t>
            </a:r>
            <a:endParaRPr lang="en-US" sz="1000" dirty="0"/>
          </a:p>
        </p:txBody>
      </p:sp>
      <p:sp>
        <p:nvSpPr>
          <p:cNvPr id="22" name="sdot-3"/>
          <p:cNvSpPr/>
          <p:nvPr/>
        </p:nvSpPr>
        <p:spPr>
          <a:xfrm>
            <a:off x="7882128" y="4958334"/>
            <a:ext cx="128016" cy="128016"/>
          </a:xfrm>
          <a:prstGeom prst="ellipse">
            <a:avLst/>
          </a:prstGeom>
          <a:solidFill>
            <a:srgbClr val="9A5B0C"/>
          </a:solidFill>
          <a:ln w="12700">
            <a:solidFill>
              <a:srgbClr val="9A5B0C"/>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9A5B0C"/>
                </a:solidFill>
                <a:latin typeface="Calibri" pitchFamily="34" charset="0"/>
                <a:ea typeface="Calibri" pitchFamily="34" charset="-122"/>
                <a:cs typeface="Calibri" pitchFamily="34" charset="-120"/>
              </a:rPr>
              <a:t>Note the securityContext in 00-probe.yaml.  </a:t>
            </a:r>
            <a:r>
              <a:rPr lang="en-US" sz="1000" dirty="0">
                <a:solidFill>
                  <a:srgbClr val="1F2937"/>
                </a:solidFill>
                <a:latin typeface="Calibri" pitchFamily="34" charset="0"/>
                <a:ea typeface="Calibri" pitchFamily="34" charset="-122"/>
                <a:cs typeface="Calibri" pitchFamily="34" charset="-120"/>
              </a:rPr>
              <a:t>Our policies from §03 now force every pod to be written properly. That is the real cost of policy — and it is worth paying.</a:t>
            </a:r>
            <a:endParaRPr lang="en-US" sz="100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You see the start of a JWT, and the API returns 403 for team-bravo's secrets.</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RBAC · STEP 16</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Grant a tenant exactly what they need</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 developer identity for team-alpha: manage their own workloads, read their own logs, and nothing else. Note what is missing.</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032510"/>
          </a:xfrm>
          <a:prstGeom prst="roundRect">
            <a:avLst>
              <a:gd name="adj" fmla="val 6199"/>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758190"/>
          </a:xfrm>
          <a:prstGeom prst="rect">
            <a:avLst/>
          </a:prstGeom>
          <a:noFill/>
          <a:ln/>
        </p:spPr>
        <p:txBody>
          <a:bodyPr wrap="square" lIns="0" tIns="0" rIns="0" bIns="0" rtlCol="0" anchor="t"/>
          <a:lstStyle/>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apply -f rbac/01-tenant-developer.yaml</a:t>
            </a:r>
            <a:endParaRPr lang="en-US" sz="1300" dirty="0"/>
          </a:p>
          <a:p>
            <a:pPr marL="0" indent="0">
              <a:lnSpc>
                <a:spcPct val="112000"/>
              </a:lnSpc>
              <a:buNone/>
            </a:pPr>
            <a:endParaRPr lang="en-US" sz="1300" dirty="0"/>
          </a:p>
          <a:p>
            <a:pPr marL="0" indent="0">
              <a:lnSpc>
                <a:spcPct val="112000"/>
              </a:lnSpc>
              <a:buNone/>
            </a:pPr>
            <a:r>
              <a:rPr lang="en-US" sz="1300" dirty="0">
                <a:solidFill>
                  <a:srgbClr val="E9EDF5"/>
                </a:solidFill>
                <a:latin typeface="Roboto Mono" pitchFamily="34" charset="0"/>
                <a:ea typeface="Roboto Mono" pitchFamily="34" charset="-122"/>
                <a:cs typeface="Roboto Mono" pitchFamily="34" charset="-120"/>
              </a:rPr>
              <a:t>kubectl get role,rolebinding,sa -n team-alpha</a:t>
            </a:r>
            <a:endParaRPr lang="en-US" sz="1300" dirty="0"/>
          </a:p>
        </p:txBody>
      </p:sp>
      <p:sp>
        <p:nvSpPr>
          <p:cNvPr id="9" name="pill-bg"/>
          <p:cNvSpPr/>
          <p:nvPr/>
        </p:nvSpPr>
        <p:spPr>
          <a:xfrm>
            <a:off x="502920" y="3355086"/>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355086"/>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3775710"/>
            <a:ext cx="6903720" cy="897255"/>
          </a:xfrm>
          <a:prstGeom prst="roundRect">
            <a:avLst>
              <a:gd name="adj" fmla="val 7134"/>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3912870"/>
            <a:ext cx="6574536" cy="622935"/>
          </a:xfrm>
          <a:prstGeom prst="rect">
            <a:avLst/>
          </a:prstGeom>
          <a:noFill/>
          <a:ln/>
        </p:spPr>
        <p:txBody>
          <a:bodyPr wrap="square" lIns="0" tIns="0" rIns="0" bIns="0" rtlCol="0" anchor="t"/>
          <a:lstStyle/>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serviceaccount/alpha-dev created</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role.rbac.../tenant-developer created</a:t>
            </a:r>
            <a:endParaRPr lang="en-US" sz="1050" dirty="0"/>
          </a:p>
          <a:p>
            <a:pPr marL="0" indent="0">
              <a:lnSpc>
                <a:spcPct val="112000"/>
              </a:lnSpc>
              <a:buNone/>
            </a:pPr>
            <a:r>
              <a:rPr lang="en-US" sz="1050" dirty="0">
                <a:solidFill>
                  <a:srgbClr val="E9EDF5"/>
                </a:solidFill>
                <a:latin typeface="Roboto Mono" pitchFamily="34" charset="0"/>
                <a:ea typeface="Roboto Mono" pitchFamily="34" charset="-122"/>
                <a:cs typeface="Roboto Mono" pitchFamily="34" charset="-120"/>
              </a:rPr>
              <a:t>rolebinding.rbac.../alpha-dev-binding created</a:t>
            </a:r>
            <a:endParaRPr lang="en-US" sz="1050" dirty="0"/>
          </a:p>
        </p:txBody>
      </p:sp>
      <p:sp>
        <p:nvSpPr>
          <p:cNvPr id="13" name="pill-bg"/>
          <p:cNvSpPr/>
          <p:nvPr/>
        </p:nvSpPr>
        <p:spPr>
          <a:xfrm>
            <a:off x="7680960" y="1664208"/>
            <a:ext cx="2503627"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4" name="pill-text"/>
          <p:cNvSpPr txBox="1"/>
          <p:nvPr/>
        </p:nvSpPr>
        <p:spPr>
          <a:xfrm>
            <a:off x="7680960" y="1664208"/>
            <a:ext cx="2503627"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rbac/01-tenant-developer.yaml</a:t>
            </a:r>
            <a:endParaRPr lang="en-US" sz="1150" dirty="0"/>
          </a:p>
        </p:txBody>
      </p:sp>
      <p:sp>
        <p:nvSpPr>
          <p:cNvPr id="15" name="code-bg"/>
          <p:cNvSpPr/>
          <p:nvPr/>
        </p:nvSpPr>
        <p:spPr>
          <a:xfrm>
            <a:off x="7680960" y="2084832"/>
            <a:ext cx="4007815" cy="3794760"/>
          </a:xfrm>
          <a:prstGeom prst="roundRect">
            <a:avLst>
              <a:gd name="adj" fmla="val 1687"/>
            </a:avLst>
          </a:prstGeom>
          <a:solidFill>
            <a:srgbClr val="241E4E"/>
          </a:solidFill>
          <a:ln w="12700">
            <a:solidFill>
              <a:srgbClr val="241E4E"/>
            </a:solidFill>
            <a:prstDash val="solid"/>
          </a:ln>
        </p:spPr>
        <p:txBody>
          <a:bodyPr/>
          <a:lstStyle/>
          <a:p>
            <a:endParaRPr lang="en-US"/>
          </a:p>
        </p:txBody>
      </p:sp>
      <p:sp>
        <p:nvSpPr>
          <p:cNvPr id="16" name="code-text"/>
          <p:cNvSpPr txBox="1"/>
          <p:nvPr/>
        </p:nvSpPr>
        <p:spPr>
          <a:xfrm>
            <a:off x="7845552" y="2221992"/>
            <a:ext cx="3678631" cy="3520440"/>
          </a:xfrm>
          <a:prstGeom prst="rect">
            <a:avLst/>
          </a:prstGeom>
          <a:noFill/>
          <a:ln/>
        </p:spPr>
        <p:txBody>
          <a:bodyPr wrap="square" lIns="0" tIns="0" rIns="0" bIns="0" rtlCol="0" anchor="t"/>
          <a:lstStyle/>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kind: Role</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metadata:</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name: tenant-developer</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namespace: team-alpha</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rules: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apiGroups: [""]</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resources: ["pods","services",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"configmaps"]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verbs: ["get","list","watch",</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"create","update","delete"]</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apiGroups: [""]</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resources: ["pods/log"]</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verbs: ["get","list"]</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apiGroups: ["apps"]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resources: ["deployments"]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verbs: ["get","list","watch",</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"create","update","delete"]</a:t>
            </a:r>
            <a:endParaRPr lang="en-US" sz="900" dirty="0"/>
          </a:p>
          <a:p>
            <a:pPr marL="0" indent="0">
              <a:lnSpc>
                <a:spcPct val="112000"/>
              </a:lnSpc>
              <a:buNone/>
            </a:pP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NOT granted: secrets, nodes,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rolebindings, pods/exec</a:t>
            </a:r>
            <a:endParaRPr lang="en-US" sz="900" dirty="0"/>
          </a:p>
        </p:txBody>
      </p:sp>
      <p:sp>
        <p:nvSpPr>
          <p:cNvPr id="17"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18"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A ServiceAccount, a Role and a RoleBinding, all inside team-alpha.</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RBAC · STEP 17</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Test permissions without logging in</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kubectl auth can-i --as impersonates a subject and asks the API server what it would allow. The fastest RBAC debugging tool there is.</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496886"/>
          </a:xfrm>
          <a:prstGeom prst="roundRect">
            <a:avLst>
              <a:gd name="adj" fmla="val 427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222566"/>
          </a:xfrm>
          <a:prstGeom prst="rect">
            <a:avLst/>
          </a:prstGeom>
          <a:noFill/>
          <a:ln/>
        </p:spPr>
        <p:txBody>
          <a:bodyPr wrap="square" lIns="0" tIns="0" rIns="0" bIns="0" rtlCol="0" anchor="t"/>
          <a:lstStyle/>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ALPHA=system:serviceaccount:team-alpha:alpha-dev</a:t>
            </a:r>
            <a:endParaRPr lang="en-US" sz="925" dirty="0"/>
          </a:p>
          <a:p>
            <a:pPr marL="0" indent="0">
              <a:lnSpc>
                <a:spcPct val="112000"/>
              </a:lnSpc>
              <a:buNone/>
            </a:pP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auth can-i create pods   -n team-alpha --as=$ALPHA</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auth can-i get    secrets -n team-alpha --as=$ALPHA</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auth can-i get    pods    -n team-bravo --as=$ALPHA</a:t>
            </a:r>
            <a:endParaRPr lang="en-US" sz="925" dirty="0"/>
          </a:p>
          <a:p>
            <a:pPr marL="0" indent="0">
              <a:lnSpc>
                <a:spcPct val="112000"/>
              </a:lnSpc>
              <a:buNone/>
            </a:pP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auth can-i --list -n team-alpha --as=$ALPHA</a:t>
            </a:r>
            <a:endParaRPr lang="en-US" sz="925" dirty="0"/>
          </a:p>
        </p:txBody>
      </p:sp>
      <p:sp>
        <p:nvSpPr>
          <p:cNvPr id="9" name="pill-bg"/>
          <p:cNvSpPr/>
          <p:nvPr/>
        </p:nvSpPr>
        <p:spPr>
          <a:xfrm>
            <a:off x="502920" y="3819462"/>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819462"/>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240086"/>
            <a:ext cx="6903720" cy="1519428"/>
          </a:xfrm>
          <a:prstGeom prst="roundRect">
            <a:avLst>
              <a:gd name="adj" fmla="val 4213"/>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377246"/>
            <a:ext cx="6574536" cy="1245108"/>
          </a:xfrm>
          <a:prstGeom prst="rect">
            <a:avLst/>
          </a:prstGeom>
          <a:noFill/>
          <a:ln/>
        </p:spPr>
        <p:txBody>
          <a:bodyPr wrap="square" lIns="0" tIns="0" rIns="0" bIns="0" rtlCol="0" anchor="t"/>
          <a:lstStyle/>
          <a:p>
            <a:pPr marL="0" indent="0">
              <a:lnSpc>
                <a:spcPct val="112000"/>
              </a:lnSpc>
              <a:buNone/>
            </a:pPr>
            <a:r>
              <a:rPr lang="en-US" sz="825" dirty="0">
                <a:solidFill>
                  <a:srgbClr val="8BE3AE"/>
                </a:solidFill>
                <a:latin typeface="Roboto Mono" pitchFamily="34" charset="0"/>
                <a:ea typeface="Roboto Mono" pitchFamily="34" charset="-122"/>
                <a:cs typeface="Roboto Mono" pitchFamily="34" charset="-120"/>
              </a:rPr>
              <a:t>yes      &lt;- their own namespace</a:t>
            </a:r>
            <a:endParaRPr lang="en-US" sz="825" dirty="0"/>
          </a:p>
          <a:p>
            <a:pPr marL="0" indent="0">
              <a:lnSpc>
                <a:spcPct val="112000"/>
              </a:lnSpc>
              <a:buNone/>
            </a:pPr>
            <a:r>
              <a:rPr lang="en-US" sz="825" dirty="0">
                <a:solidFill>
                  <a:srgbClr val="FF9BA6"/>
                </a:solidFill>
                <a:latin typeface="Roboto Mono" pitchFamily="34" charset="0"/>
                <a:ea typeface="Roboto Mono" pitchFamily="34" charset="-122"/>
                <a:cs typeface="Roboto Mono" pitchFamily="34" charset="-120"/>
              </a:rPr>
              <a:t>no       &lt;- secrets, even their own</a:t>
            </a:r>
            <a:endParaRPr lang="en-US" sz="825" dirty="0"/>
          </a:p>
          <a:p>
            <a:pPr marL="0" indent="0">
              <a:lnSpc>
                <a:spcPct val="112000"/>
              </a:lnSpc>
              <a:buNone/>
            </a:pPr>
            <a:r>
              <a:rPr lang="en-US" sz="825" dirty="0">
                <a:solidFill>
                  <a:srgbClr val="FF9BA6"/>
                </a:solidFill>
                <a:latin typeface="Roboto Mono" pitchFamily="34" charset="0"/>
                <a:ea typeface="Roboto Mono" pitchFamily="34" charset="-122"/>
                <a:cs typeface="Roboto Mono" pitchFamily="34" charset="-120"/>
              </a:rPr>
              <a:t>no       &lt;- anything in team-bravo</a:t>
            </a:r>
            <a:endParaRPr lang="en-US" sz="825" dirty="0"/>
          </a:p>
          <a:p>
            <a:pPr marL="0" indent="0">
              <a:lnSpc>
                <a:spcPct val="112000"/>
              </a:lnSpc>
              <a:buNone/>
            </a:pP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Resources          Verbs</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pods               [get list watch create update delete]</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pods/log           [get list]</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deployments.apps   [get list watch create update delete]</a:t>
            </a:r>
            <a:endParaRPr lang="en-US" sz="825"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753819" cy="310896"/>
          </a:xfrm>
          <a:prstGeom prst="roundRect">
            <a:avLst>
              <a:gd name="adj" fmla="val 50000"/>
            </a:avLst>
          </a:prstGeom>
          <a:solidFill>
            <a:srgbClr val="0067C0"/>
          </a:solidFill>
          <a:ln w="12700">
            <a:solidFill>
              <a:srgbClr val="0067C0"/>
            </a:solidFill>
            <a:prstDash val="solid"/>
          </a:ln>
        </p:spPr>
        <p:txBody>
          <a:bodyPr/>
          <a:lstStyle/>
          <a:p>
            <a:endParaRPr lang="en-US"/>
          </a:p>
        </p:txBody>
      </p:sp>
      <p:sp>
        <p:nvSpPr>
          <p:cNvPr id="15" name="pill-text"/>
          <p:cNvSpPr txBox="1"/>
          <p:nvPr/>
        </p:nvSpPr>
        <p:spPr>
          <a:xfrm>
            <a:off x="7863840" y="1847088"/>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Use this constantly</a:t>
            </a:r>
            <a:endParaRPr lang="en-US" sz="1150" dirty="0"/>
          </a:p>
        </p:txBody>
      </p:sp>
      <p:sp>
        <p:nvSpPr>
          <p:cNvPr id="16" name="sdot-0"/>
          <p:cNvSpPr/>
          <p:nvPr/>
        </p:nvSpPr>
        <p:spPr>
          <a:xfrm>
            <a:off x="7882128" y="2414016"/>
            <a:ext cx="128016" cy="128016"/>
          </a:xfrm>
          <a:prstGeom prst="ellipse">
            <a:avLst/>
          </a:prstGeom>
          <a:solidFill>
            <a:srgbClr val="0067C0"/>
          </a:solidFill>
          <a:ln w="12700">
            <a:solidFill>
              <a:srgbClr val="0067C0"/>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067C0"/>
                </a:solidFill>
                <a:latin typeface="Calibri" pitchFamily="34" charset="0"/>
                <a:ea typeface="Calibri" pitchFamily="34" charset="-122"/>
                <a:cs typeface="Calibri" pitchFamily="34" charset="-120"/>
              </a:rPr>
              <a:t>--as impersonates.  </a:t>
            </a:r>
            <a:r>
              <a:rPr lang="en-US" sz="1050" dirty="0">
                <a:solidFill>
                  <a:srgbClr val="1F2937"/>
                </a:solidFill>
                <a:latin typeface="Calibri" pitchFamily="34" charset="0"/>
                <a:ea typeface="Calibri" pitchFamily="34" charset="-122"/>
                <a:cs typeface="Calibri" pitchFamily="34" charset="-120"/>
              </a:rPr>
              <a:t>You need impersonate rights yourself — as cluster admin on minikube, you have them.</a:t>
            </a:r>
            <a:endParaRPr lang="en-US" sz="1050" dirty="0"/>
          </a:p>
        </p:txBody>
      </p:sp>
      <p:sp>
        <p:nvSpPr>
          <p:cNvPr id="18" name="sdot-1"/>
          <p:cNvSpPr/>
          <p:nvPr/>
        </p:nvSpPr>
        <p:spPr>
          <a:xfrm>
            <a:off x="7882128" y="3262122"/>
            <a:ext cx="128016" cy="128016"/>
          </a:xfrm>
          <a:prstGeom prst="ellipse">
            <a:avLst/>
          </a:prstGeom>
          <a:solidFill>
            <a:srgbClr val="0067C0"/>
          </a:solidFill>
          <a:ln w="12700">
            <a:solidFill>
              <a:srgbClr val="0067C0"/>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067C0"/>
                </a:solidFill>
                <a:latin typeface="Calibri" pitchFamily="34" charset="0"/>
                <a:ea typeface="Calibri" pitchFamily="34" charset="-122"/>
                <a:cs typeface="Calibri" pitchFamily="34" charset="-120"/>
              </a:rPr>
              <a:t>--list is the good one.  </a:t>
            </a:r>
            <a:r>
              <a:rPr lang="en-US" sz="1050" dirty="0">
                <a:solidFill>
                  <a:srgbClr val="1F2937"/>
                </a:solidFill>
                <a:latin typeface="Calibri" pitchFamily="34" charset="0"/>
                <a:ea typeface="Calibri" pitchFamily="34" charset="-122"/>
                <a:cs typeface="Calibri" pitchFamily="34" charset="-120"/>
              </a:rPr>
              <a:t>Everything a subject can do, in one table. Run it against your own CI ServiceAccount today and expect a surprise.</a:t>
            </a:r>
            <a:endParaRPr lang="en-US" sz="1050" dirty="0"/>
          </a:p>
        </p:txBody>
      </p:sp>
      <p:sp>
        <p:nvSpPr>
          <p:cNvPr id="20" name="sdot-2"/>
          <p:cNvSpPr/>
          <p:nvPr/>
        </p:nvSpPr>
        <p:spPr>
          <a:xfrm>
            <a:off x="7882128" y="4110228"/>
            <a:ext cx="128016" cy="128016"/>
          </a:xfrm>
          <a:prstGeom prst="ellipse">
            <a:avLst/>
          </a:prstGeom>
          <a:solidFill>
            <a:srgbClr val="0B4F5C"/>
          </a:solidFill>
          <a:ln w="12700">
            <a:solidFill>
              <a:srgbClr val="0B4F5C"/>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Works before you grant.  </a:t>
            </a:r>
            <a:r>
              <a:rPr lang="en-US" sz="1050" dirty="0">
                <a:solidFill>
                  <a:srgbClr val="1F2937"/>
                </a:solidFill>
                <a:latin typeface="Calibri" pitchFamily="34" charset="0"/>
                <a:ea typeface="Calibri" pitchFamily="34" charset="-122"/>
                <a:cs typeface="Calibri" pitchFamily="34" charset="-120"/>
              </a:rPr>
              <a:t>Write the Role, apply it, test with can-i, iterate. No need to actually be that user.</a:t>
            </a:r>
            <a:endParaRPr lang="en-US" sz="1050" dirty="0"/>
          </a:p>
        </p:txBody>
      </p:sp>
      <p:sp>
        <p:nvSpPr>
          <p:cNvPr id="22" name="sdot-3"/>
          <p:cNvSpPr/>
          <p:nvPr/>
        </p:nvSpPr>
        <p:spPr>
          <a:xfrm>
            <a:off x="7882128" y="4958334"/>
            <a:ext cx="128016" cy="128016"/>
          </a:xfrm>
          <a:prstGeom prst="ellipse">
            <a:avLst/>
          </a:prstGeom>
          <a:solidFill>
            <a:srgbClr val="0F7B45"/>
          </a:solidFill>
          <a:ln w="12700">
            <a:solidFill>
              <a:srgbClr val="0F7B45"/>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F7B45"/>
                </a:solidFill>
                <a:latin typeface="Calibri" pitchFamily="34" charset="0"/>
                <a:ea typeface="Calibri" pitchFamily="34" charset="-122"/>
                <a:cs typeface="Calibri" pitchFamily="34" charset="-120"/>
              </a:rPr>
              <a:t>The cross-namespace no  </a:t>
            </a:r>
            <a:r>
              <a:rPr lang="en-US" sz="1050" dirty="0">
                <a:solidFill>
                  <a:srgbClr val="1F2937"/>
                </a:solidFill>
                <a:latin typeface="Calibri" pitchFamily="34" charset="0"/>
                <a:ea typeface="Calibri" pitchFamily="34" charset="-122"/>
                <a:cs typeface="Calibri" pitchFamily="34" charset="-120"/>
              </a:rPr>
              <a:t>is the whole point of the section: alpha cannot see bravo, because the binding is namespaced.</a:t>
            </a:r>
            <a:endParaRPr lang="en-US" sz="10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yes, then two nos, then a list containing no secrets and nothing outside team-alpha.</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SECTION 04 RECAP</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Six ways RBAC quietly stops protecting you</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Every one of these is accepted by the API server without complaint, and every one shows up in real clusters.</a:t>
            </a:r>
            <a:endParaRPr lang="en-US" sz="1300" dirty="0"/>
          </a:p>
        </p:txBody>
      </p:sp>
      <p:sp>
        <p:nvSpPr>
          <p:cNvPr id="6" name="grid-card-0"/>
          <p:cNvSpPr/>
          <p:nvPr/>
        </p:nvSpPr>
        <p:spPr>
          <a:xfrm>
            <a:off x="502920"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8" name="gh-0"/>
          <p:cNvSpPr txBox="1"/>
          <p:nvPr/>
        </p:nvSpPr>
        <p:spPr>
          <a:xfrm>
            <a:off x="932688" y="1810512"/>
            <a:ext cx="2981858"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create pods ≈ root</a:t>
            </a:r>
            <a:endParaRPr lang="en-US" sz="1300" dirty="0"/>
          </a:p>
        </p:txBody>
      </p:sp>
      <p:sp>
        <p:nvSpPr>
          <p:cNvPr id="9" name="gb-0"/>
          <p:cNvSpPr txBox="1"/>
          <p:nvPr/>
        </p:nvSpPr>
        <p:spPr>
          <a:xfrm>
            <a:off x="685800"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A tenant who can create pods can mount any Secret in that namespace into a pod and read it — without ever having get secrets. They can also run as any ServiceAccount in the namespace.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RBAC alone cannot fix this. Admission control is the other half.</a:t>
            </a:r>
            <a:endParaRPr lang="en-US" sz="1100" dirty="0"/>
          </a:p>
        </p:txBody>
      </p:sp>
      <p:sp>
        <p:nvSpPr>
          <p:cNvPr id="10" name="grid-card-1"/>
          <p:cNvSpPr/>
          <p:nvPr/>
        </p:nvSpPr>
        <p:spPr>
          <a:xfrm>
            <a:off x="4298594"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12" name="gh-1"/>
          <p:cNvSpPr txBox="1"/>
          <p:nvPr/>
        </p:nvSpPr>
        <p:spPr>
          <a:xfrm>
            <a:off x="4728362" y="1810512"/>
            <a:ext cx="2981858"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The wrong binding kind</a:t>
            </a:r>
            <a:endParaRPr lang="en-US" sz="1300" dirty="0"/>
          </a:p>
        </p:txBody>
      </p:sp>
      <p:sp>
        <p:nvSpPr>
          <p:cNvPr id="13" name="gb-1"/>
          <p:cNvSpPr txBox="1"/>
          <p:nvPr/>
        </p:nvSpPr>
        <p:spPr>
          <a:xfrm>
            <a:off x="4481474"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ClusterRoleBinding where you meant RoleBinding. One word. Accepted silently. Grants the permission in every namespace on the cluster instead of one.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Check this in every review, forever.</a:t>
            </a:r>
            <a:endParaRPr lang="en-US" sz="1100" dirty="0"/>
          </a:p>
        </p:txBody>
      </p:sp>
      <p:sp>
        <p:nvSpPr>
          <p:cNvPr id="14" name="grid-card-2"/>
          <p:cNvSpPr/>
          <p:nvPr/>
        </p:nvSpPr>
        <p:spPr>
          <a:xfrm>
            <a:off x="8094269"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83664"/>
            <a:ext cx="155448" cy="155448"/>
          </a:xfrm>
          <a:prstGeom prst="ellipse">
            <a:avLst/>
          </a:prstGeom>
          <a:solidFill>
            <a:srgbClr val="4C3FA3"/>
          </a:solidFill>
          <a:ln w="12700">
            <a:solidFill>
              <a:srgbClr val="4C3FA3"/>
            </a:solidFill>
            <a:prstDash val="solid"/>
          </a:ln>
        </p:spPr>
        <p:txBody>
          <a:bodyPr/>
          <a:lstStyle/>
          <a:p>
            <a:endParaRPr lang="en-US"/>
          </a:p>
        </p:txBody>
      </p:sp>
      <p:sp>
        <p:nvSpPr>
          <p:cNvPr id="16" name="gh-2"/>
          <p:cNvSpPr txBox="1"/>
          <p:nvPr/>
        </p:nvSpPr>
        <p:spPr>
          <a:xfrm>
            <a:off x="8524037" y="1810512"/>
            <a:ext cx="2981858" cy="310896"/>
          </a:xfrm>
          <a:prstGeom prst="rect">
            <a:avLst/>
          </a:prstGeom>
          <a:noFill/>
          <a:ln/>
        </p:spPr>
        <p:txBody>
          <a:bodyPr wrap="square" lIns="0" tIns="0" rIns="0" bIns="0" rtlCol="0" anchor="t"/>
          <a:lstStyle/>
          <a:p>
            <a:pPr marL="0" indent="0">
              <a:buNone/>
            </a:pPr>
            <a:r>
              <a:rPr lang="en-US" sz="1300" b="1" dirty="0">
                <a:solidFill>
                  <a:srgbClr val="4C3FA3"/>
                </a:solidFill>
                <a:latin typeface="Calibri" pitchFamily="34" charset="0"/>
                <a:ea typeface="Calibri" pitchFamily="34" charset="-122"/>
                <a:cs typeface="Calibri" pitchFamily="34" charset="-120"/>
              </a:rPr>
              <a:t>escalate and bind</a:t>
            </a:r>
            <a:endParaRPr lang="en-US" sz="1300" dirty="0"/>
          </a:p>
        </p:txBody>
      </p:sp>
      <p:sp>
        <p:nvSpPr>
          <p:cNvPr id="17" name="gb-2"/>
          <p:cNvSpPr txBox="1"/>
          <p:nvPr/>
        </p:nvSpPr>
        <p:spPr>
          <a:xfrm>
            <a:off x="8277149"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Two verbs that let a subject grant themselves permissions they do not already hold. They exist for controller patterns. They are almost never what you meant to type.</a:t>
            </a:r>
            <a:endParaRPr lang="en-US" sz="1100" dirty="0"/>
          </a:p>
        </p:txBody>
      </p:sp>
      <p:sp>
        <p:nvSpPr>
          <p:cNvPr id="18" name="grid-card-3"/>
          <p:cNvSpPr/>
          <p:nvPr/>
        </p:nvSpPr>
        <p:spPr>
          <a:xfrm>
            <a:off x="502920"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4352544"/>
            <a:ext cx="155448" cy="155448"/>
          </a:xfrm>
          <a:prstGeom prst="ellipse">
            <a:avLst/>
          </a:prstGeom>
          <a:solidFill>
            <a:srgbClr val="9A5B0C"/>
          </a:solidFill>
          <a:ln w="12700">
            <a:solidFill>
              <a:srgbClr val="9A5B0C"/>
            </a:solidFill>
            <a:prstDash val="solid"/>
          </a:ln>
        </p:spPr>
        <p:txBody>
          <a:bodyPr/>
          <a:lstStyle/>
          <a:p>
            <a:endParaRPr lang="en-US"/>
          </a:p>
        </p:txBody>
      </p:sp>
      <p:sp>
        <p:nvSpPr>
          <p:cNvPr id="20" name="gh-3"/>
          <p:cNvSpPr txBox="1"/>
          <p:nvPr/>
        </p:nvSpPr>
        <p:spPr>
          <a:xfrm>
            <a:off x="932688" y="4279392"/>
            <a:ext cx="2981858"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Wildcards</a:t>
            </a:r>
            <a:endParaRPr lang="en-US" sz="1300" dirty="0"/>
          </a:p>
        </p:txBody>
      </p:sp>
      <p:sp>
        <p:nvSpPr>
          <p:cNvPr id="21" name="gb-3"/>
          <p:cNvSpPr txBox="1"/>
          <p:nvPr/>
        </p:nvSpPr>
        <p:spPr>
          <a:xfrm>
            <a:off x="685800"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verbs: ["*"] or resources: ["*"] also grants things that do not exist yet. A future Kubernetes release adds a subresource and your rule silently covers it. Enumerate.</a:t>
            </a:r>
            <a:endParaRPr lang="en-US" sz="1100" dirty="0"/>
          </a:p>
        </p:txBody>
      </p:sp>
      <p:sp>
        <p:nvSpPr>
          <p:cNvPr id="22" name="grid-card-4"/>
          <p:cNvSpPr/>
          <p:nvPr/>
        </p:nvSpPr>
        <p:spPr>
          <a:xfrm>
            <a:off x="4298594"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4352544"/>
            <a:ext cx="155448" cy="155448"/>
          </a:xfrm>
          <a:prstGeom prst="ellipse">
            <a:avLst/>
          </a:prstGeom>
          <a:solidFill>
            <a:srgbClr val="9A5B0C"/>
          </a:solidFill>
          <a:ln w="12700">
            <a:solidFill>
              <a:srgbClr val="9A5B0C"/>
            </a:solidFill>
            <a:prstDash val="solid"/>
          </a:ln>
        </p:spPr>
        <p:txBody>
          <a:bodyPr/>
          <a:lstStyle/>
          <a:p>
            <a:endParaRPr lang="en-US"/>
          </a:p>
        </p:txBody>
      </p:sp>
      <p:sp>
        <p:nvSpPr>
          <p:cNvPr id="24" name="gh-4"/>
          <p:cNvSpPr txBox="1"/>
          <p:nvPr/>
        </p:nvSpPr>
        <p:spPr>
          <a:xfrm>
            <a:off x="4728362" y="4279392"/>
            <a:ext cx="2981858"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pods/exec and pods/portforward</a:t>
            </a:r>
            <a:endParaRPr lang="en-US" sz="1300" dirty="0"/>
          </a:p>
        </p:txBody>
      </p:sp>
      <p:sp>
        <p:nvSpPr>
          <p:cNvPr id="25" name="gb-4"/>
          <p:cNvSpPr txBox="1"/>
          <p:nvPr/>
        </p:nvSpPr>
        <p:spPr>
          <a:xfrm>
            <a:off x="4481474"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Look like debugging conveniences. Actually grant a shell inside the workload, with its token and its network position. Treat as equivalent to the pod's full identity.</a:t>
            </a:r>
            <a:endParaRPr lang="en-US" sz="1100" dirty="0"/>
          </a:p>
        </p:txBody>
      </p:sp>
      <p:sp>
        <p:nvSpPr>
          <p:cNvPr id="26" name="grid-card-5"/>
          <p:cNvSpPr/>
          <p:nvPr/>
        </p:nvSpPr>
        <p:spPr>
          <a:xfrm>
            <a:off x="8094269"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4352544"/>
            <a:ext cx="155448" cy="155448"/>
          </a:xfrm>
          <a:prstGeom prst="ellipse">
            <a:avLst/>
          </a:prstGeom>
          <a:solidFill>
            <a:srgbClr val="0B4F5C"/>
          </a:solidFill>
          <a:ln w="12700">
            <a:solidFill>
              <a:srgbClr val="0B4F5C"/>
            </a:solidFill>
            <a:prstDash val="solid"/>
          </a:ln>
        </p:spPr>
        <p:txBody>
          <a:bodyPr/>
          <a:lstStyle/>
          <a:p>
            <a:endParaRPr lang="en-US"/>
          </a:p>
        </p:txBody>
      </p:sp>
      <p:sp>
        <p:nvSpPr>
          <p:cNvPr id="28" name="gh-5"/>
          <p:cNvSpPr txBox="1"/>
          <p:nvPr/>
        </p:nvSpPr>
        <p:spPr>
          <a:xfrm>
            <a:off x="8524037" y="427939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Nobody ever revokes</a:t>
            </a:r>
            <a:endParaRPr lang="en-US" sz="1300" dirty="0"/>
          </a:p>
        </p:txBody>
      </p:sp>
      <p:sp>
        <p:nvSpPr>
          <p:cNvPr id="29" name="gb-5"/>
          <p:cNvSpPr txBox="1"/>
          <p:nvPr/>
        </p:nvSpPr>
        <p:spPr>
          <a:xfrm>
            <a:off x="8277149"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Permissions get added during incidents and never removed. The only defense is to look: kubectl auth can-i --list, and audit every ClusterRoleBinding to cluster-admin.</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05</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Network policies</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By default every pod can reach every other pod, in every namespace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NETWORK · STEP 18</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Reach into the other tenant's namespace</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team-bravo runs an internal API. Nothing about it is exposed outside the cluster. From team-alpha it is one curl away.</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496886"/>
          </a:xfrm>
          <a:prstGeom prst="roundRect">
            <a:avLst>
              <a:gd name="adj" fmla="val 427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222566"/>
          </a:xfrm>
          <a:prstGeom prst="rect">
            <a:avLst/>
          </a:prstGeom>
          <a:noFill/>
          <a:ln/>
        </p:spPr>
        <p:txBody>
          <a:bodyPr wrap="square" lIns="0" tIns="0" rIns="0" bIns="0" rtlCol="0" anchor="t"/>
          <a:lstStyle/>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bravo deploys their internal service</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apply -f network/01-workloads.yaml</a:t>
            </a:r>
            <a:endParaRPr lang="en-US" sz="925" dirty="0"/>
          </a:p>
          <a:p>
            <a:pPr marL="0" indent="0">
              <a:lnSpc>
                <a:spcPct val="112000"/>
              </a:lnSpc>
              <a:buNone/>
            </a:pP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alpha reaches straight into it</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exec -n team-alpha probe -- curl -s -m 5 \</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-o /dev/null -w '%{http_code}\n' \</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http://api.team-bravo.svc.cluster.local:8080</a:t>
            </a:r>
            <a:endParaRPr lang="en-US" sz="925" dirty="0"/>
          </a:p>
        </p:txBody>
      </p:sp>
      <p:sp>
        <p:nvSpPr>
          <p:cNvPr id="9" name="pill-bg"/>
          <p:cNvSpPr/>
          <p:nvPr/>
        </p:nvSpPr>
        <p:spPr>
          <a:xfrm>
            <a:off x="502920" y="3819462"/>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819462"/>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240086"/>
            <a:ext cx="6903720" cy="1519428"/>
          </a:xfrm>
          <a:prstGeom prst="roundRect">
            <a:avLst>
              <a:gd name="adj" fmla="val 4213"/>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377246"/>
            <a:ext cx="6574536" cy="1245108"/>
          </a:xfrm>
          <a:prstGeom prst="rect">
            <a:avLst/>
          </a:prstGeom>
          <a:noFill/>
          <a:ln/>
        </p:spPr>
        <p:txBody>
          <a:bodyPr wrap="square" lIns="0" tIns="0" rIns="0" bIns="0" rtlCol="0" anchor="t"/>
          <a:lstStyle/>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pod/api created</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service/api created</a:t>
            </a:r>
            <a:endParaRPr lang="en-US" sz="825" dirty="0"/>
          </a:p>
          <a:p>
            <a:pPr marL="0" indent="0">
              <a:lnSpc>
                <a:spcPct val="112000"/>
              </a:lnSpc>
              <a:buNone/>
            </a:pPr>
            <a:endParaRPr lang="en-US" sz="825" dirty="0"/>
          </a:p>
          <a:p>
            <a:pPr marL="0" indent="0">
              <a:lnSpc>
                <a:spcPct val="112000"/>
              </a:lnSpc>
              <a:buNone/>
            </a:pPr>
            <a:r>
              <a:rPr lang="en-US" sz="825" dirty="0">
                <a:solidFill>
                  <a:srgbClr val="FF9BA6"/>
                </a:solidFill>
                <a:latin typeface="Roboto Mono" pitchFamily="34" charset="0"/>
                <a:ea typeface="Roboto Mono" pitchFamily="34" charset="-122"/>
                <a:cs typeface="Roboto Mono" pitchFamily="34" charset="-120"/>
              </a:rPr>
              <a:t>200</a:t>
            </a:r>
            <a:endParaRPr lang="en-US" sz="825" dirty="0"/>
          </a:p>
          <a:p>
            <a:pPr marL="0" indent="0">
              <a:lnSpc>
                <a:spcPct val="112000"/>
              </a:lnSpc>
              <a:buNone/>
            </a:pP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 A pod in team-alpha just got a 200 from a service</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 in team-bravo. Nothing was misconfigured to allow it.</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 This is the Kubernetes default.</a:t>
            </a:r>
            <a:endParaRPr lang="en-US" sz="825"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2053742" cy="310896"/>
          </a:xfrm>
          <a:prstGeom prst="roundRect">
            <a:avLst>
              <a:gd name="adj" fmla="val 50000"/>
            </a:avLst>
          </a:prstGeom>
          <a:solidFill>
            <a:srgbClr val="0067C0"/>
          </a:solidFill>
          <a:ln w="12700">
            <a:solidFill>
              <a:srgbClr val="0067C0"/>
            </a:solidFill>
            <a:prstDash val="solid"/>
          </a:ln>
        </p:spPr>
        <p:txBody>
          <a:bodyPr/>
          <a:lstStyle/>
          <a:p>
            <a:endParaRPr lang="en-US"/>
          </a:p>
        </p:txBody>
      </p:sp>
      <p:sp>
        <p:nvSpPr>
          <p:cNvPr id="15" name="pill-text"/>
          <p:cNvSpPr txBox="1"/>
          <p:nvPr/>
        </p:nvSpPr>
        <p:spPr>
          <a:xfrm>
            <a:off x="7863840" y="1847088"/>
            <a:ext cx="2053742"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Why this is the default</a:t>
            </a:r>
            <a:endParaRPr lang="en-US" sz="1150" dirty="0"/>
          </a:p>
        </p:txBody>
      </p:sp>
      <p:sp>
        <p:nvSpPr>
          <p:cNvPr id="16" name="sdot-0"/>
          <p:cNvSpPr/>
          <p:nvPr/>
        </p:nvSpPr>
        <p:spPr>
          <a:xfrm>
            <a:off x="7882128" y="2414016"/>
            <a:ext cx="128016" cy="128016"/>
          </a:xfrm>
          <a:prstGeom prst="ellipse">
            <a:avLst/>
          </a:prstGeom>
          <a:solidFill>
            <a:srgbClr val="0067C0"/>
          </a:solidFill>
          <a:ln w="12700">
            <a:solidFill>
              <a:srgbClr val="0067C0"/>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067C0"/>
                </a:solidFill>
                <a:latin typeface="Calibri" pitchFamily="34" charset="0"/>
                <a:ea typeface="Calibri" pitchFamily="34" charset="-122"/>
                <a:cs typeface="Calibri" pitchFamily="34" charset="-120"/>
              </a:rPr>
              <a:t>The Kubernetes network model requires it.  </a:t>
            </a:r>
            <a:r>
              <a:rPr lang="en-US" sz="1000" dirty="0">
                <a:solidFill>
                  <a:srgbClr val="1F2937"/>
                </a:solidFill>
                <a:latin typeface="Calibri" pitchFamily="34" charset="0"/>
                <a:ea typeface="Calibri" pitchFamily="34" charset="-122"/>
                <a:cs typeface="Calibri" pitchFamily="34" charset="-120"/>
              </a:rPr>
              <a:t>Every pod gets a routable IP and can reach every other pod without NAT. Simple, and it makes service discovery trivial.</a:t>
            </a:r>
            <a:endParaRPr lang="en-US" sz="1000" dirty="0"/>
          </a:p>
        </p:txBody>
      </p:sp>
      <p:sp>
        <p:nvSpPr>
          <p:cNvPr id="18" name="sdot-1"/>
          <p:cNvSpPr/>
          <p:nvPr/>
        </p:nvSpPr>
        <p:spPr>
          <a:xfrm>
            <a:off x="7882128" y="3262122"/>
            <a:ext cx="128016" cy="128016"/>
          </a:xfrm>
          <a:prstGeom prst="ellipse">
            <a:avLst/>
          </a:prstGeom>
          <a:solidFill>
            <a:srgbClr val="0067C0"/>
          </a:solidFill>
          <a:ln w="12700">
            <a:solidFill>
              <a:srgbClr val="0067C0"/>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067C0"/>
                </a:solidFill>
                <a:latin typeface="Calibri" pitchFamily="34" charset="0"/>
                <a:ea typeface="Calibri" pitchFamily="34" charset="-122"/>
                <a:cs typeface="Calibri" pitchFamily="34" charset="-120"/>
              </a:rPr>
              <a:t>DNS makes it discoverable.  </a:t>
            </a:r>
            <a:r>
              <a:rPr lang="en-US" sz="1000" dirty="0">
                <a:solidFill>
                  <a:srgbClr val="1F2937"/>
                </a:solidFill>
                <a:latin typeface="Calibri" pitchFamily="34" charset="0"/>
                <a:ea typeface="Calibri" pitchFamily="34" charset="-122"/>
                <a:cs typeface="Calibri" pitchFamily="34" charset="-120"/>
              </a:rPr>
              <a:t>&lt;service&gt;.&lt;namespace&gt;.svc.cluster.local. You do not need to find anything — the naming scheme tells you where to look.</a:t>
            </a:r>
            <a:endParaRPr lang="en-US" sz="1000" dirty="0"/>
          </a:p>
        </p:txBody>
      </p:sp>
      <p:sp>
        <p:nvSpPr>
          <p:cNvPr id="20" name="sdot-2"/>
          <p:cNvSpPr/>
          <p:nvPr/>
        </p:nvSpPr>
        <p:spPr>
          <a:xfrm>
            <a:off x="7882128" y="4110228"/>
            <a:ext cx="128016" cy="128016"/>
          </a:xfrm>
          <a:prstGeom prst="ellipse">
            <a:avLst/>
          </a:prstGeom>
          <a:solidFill>
            <a:srgbClr val="B3263B"/>
          </a:solidFill>
          <a:ln w="12700">
            <a:solidFill>
              <a:srgbClr val="B3263B"/>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So a tenant can port-scan the cluster.  </a:t>
            </a:r>
            <a:r>
              <a:rPr lang="en-US" sz="1000" dirty="0">
                <a:solidFill>
                  <a:srgbClr val="1F2937"/>
                </a:solidFill>
                <a:latin typeface="Calibri" pitchFamily="34" charset="0"/>
                <a:ea typeface="Calibri" pitchFamily="34" charset="-122"/>
                <a:cs typeface="Calibri" pitchFamily="34" charset="-120"/>
              </a:rPr>
              <a:t>Internal dashboards, databases, admin APIs, metrics endpoints. Anything that assumed 'it is only reachable inside the cluster' is reachable by every tenant.</a:t>
            </a:r>
            <a:endParaRPr lang="en-US" sz="1000" dirty="0"/>
          </a:p>
        </p:txBody>
      </p:sp>
      <p:sp>
        <p:nvSpPr>
          <p:cNvPr id="22" name="sdot-3"/>
          <p:cNvSpPr/>
          <p:nvPr/>
        </p:nvSpPr>
        <p:spPr>
          <a:xfrm>
            <a:off x="7882128" y="4958334"/>
            <a:ext cx="128016" cy="128016"/>
          </a:xfrm>
          <a:prstGeom prst="ellipse">
            <a:avLst/>
          </a:prstGeom>
          <a:solidFill>
            <a:srgbClr val="B3263B"/>
          </a:solidFill>
          <a:ln w="12700">
            <a:solidFill>
              <a:srgbClr val="B3263B"/>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And east-west traffic is usually unauthenticated.  </a:t>
            </a:r>
            <a:r>
              <a:rPr lang="en-US" sz="1000" dirty="0">
                <a:solidFill>
                  <a:srgbClr val="1F2937"/>
                </a:solidFill>
                <a:latin typeface="Calibri" pitchFamily="34" charset="0"/>
                <a:ea typeface="Calibri" pitchFamily="34" charset="-122"/>
                <a:cs typeface="Calibri" pitchFamily="34" charset="-120"/>
              </a:rPr>
              <a:t>Internal services often skip auth precisely because they are 'internal'.</a:t>
            </a:r>
            <a:endParaRPr lang="en-US" sz="100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200. A pod in your namespace just talked to another tenant's internal service.</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NETWORK · STEP 19</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Default-deny, then allow back</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only sane starting posture. An empty podSelector means every pod in the namespace; no ingress rules means nothing gets in.</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298511"/>
          </a:xfrm>
          <a:prstGeom prst="roundRect">
            <a:avLst>
              <a:gd name="adj" fmla="val 4929"/>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024191"/>
          </a:xfrm>
          <a:prstGeom prst="rect">
            <a:avLst/>
          </a:prstGeom>
          <a:noFill/>
          <a:ln/>
        </p:spPr>
        <p:txBody>
          <a:bodyPr wrap="square" lIns="0" tIns="0" rIns="0" bIns="0" rtlCol="0" anchor="t"/>
          <a:lstStyle/>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kubectl apply -f network/02-default-deny.yaml</a:t>
            </a:r>
            <a:endParaRPr lang="en-US" sz="1075" dirty="0"/>
          </a:p>
          <a:p>
            <a:pPr marL="0" indent="0">
              <a:lnSpc>
                <a:spcPct val="112000"/>
              </a:lnSpc>
              <a:buNone/>
            </a:pP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kubectl exec -n team-alpha probe -- curl -s -m 5 \</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  -o /dev/null -w '%{http_code}\n' \</a:t>
            </a:r>
            <a:endParaRPr lang="en-US" sz="1075" dirty="0"/>
          </a:p>
          <a:p>
            <a:pPr marL="0" indent="0">
              <a:lnSpc>
                <a:spcPct val="112000"/>
              </a:lnSpc>
              <a:buNone/>
            </a:pPr>
            <a:r>
              <a:rPr lang="en-US" sz="1075" dirty="0">
                <a:solidFill>
                  <a:srgbClr val="E9EDF5"/>
                </a:solidFill>
                <a:latin typeface="Roboto Mono" pitchFamily="34" charset="0"/>
                <a:ea typeface="Roboto Mono" pitchFamily="34" charset="-122"/>
                <a:cs typeface="Roboto Mono" pitchFamily="34" charset="-120"/>
              </a:rPr>
              <a:t>  http://api.team-bravo.svc.cluster.local:8080</a:t>
            </a:r>
            <a:endParaRPr lang="en-US" sz="1075" dirty="0"/>
          </a:p>
        </p:txBody>
      </p:sp>
      <p:sp>
        <p:nvSpPr>
          <p:cNvPr id="9" name="pill-bg"/>
          <p:cNvSpPr/>
          <p:nvPr/>
        </p:nvSpPr>
        <p:spPr>
          <a:xfrm>
            <a:off x="502920" y="3621088"/>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621088"/>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041712"/>
            <a:ext cx="6903720" cy="1735836"/>
          </a:xfrm>
          <a:prstGeom prst="roundRect">
            <a:avLst>
              <a:gd name="adj" fmla="val 3687"/>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178871"/>
            <a:ext cx="6574536" cy="1461516"/>
          </a:xfrm>
          <a:prstGeom prst="rect">
            <a:avLst/>
          </a:prstGeom>
          <a:noFill/>
          <a:ln/>
        </p:spPr>
        <p:txBody>
          <a:bodyPr wrap="square" lIns="0" tIns="0" rIns="0" bIns="0" rtlCol="0" anchor="t"/>
          <a:lstStyle/>
          <a:p>
            <a:pPr marL="0" indent="0">
              <a:lnSpc>
                <a:spcPct val="112000"/>
              </a:lnSpc>
              <a:buNone/>
            </a:pPr>
            <a:r>
              <a:rPr lang="en-US" sz="975" dirty="0">
                <a:solidFill>
                  <a:srgbClr val="E9EDF5"/>
                </a:solidFill>
                <a:latin typeface="Roboto Mono" pitchFamily="34" charset="0"/>
                <a:ea typeface="Roboto Mono" pitchFamily="34" charset="-122"/>
                <a:cs typeface="Roboto Mono" pitchFamily="34" charset="-120"/>
              </a:rPr>
              <a:t>networkpolicy.networking.k8s.io/default-deny-ingress</a:t>
            </a:r>
            <a:endParaRPr lang="en-US" sz="975" dirty="0"/>
          </a:p>
          <a:p>
            <a:pPr marL="0" indent="0">
              <a:lnSpc>
                <a:spcPct val="112000"/>
              </a:lnSpc>
              <a:buNone/>
            </a:pPr>
            <a:r>
              <a:rPr lang="en-US" sz="975" dirty="0">
                <a:solidFill>
                  <a:srgbClr val="E9EDF5"/>
                </a:solidFill>
                <a:latin typeface="Roboto Mono" pitchFamily="34" charset="0"/>
                <a:ea typeface="Roboto Mono" pitchFamily="34" charset="-122"/>
                <a:cs typeface="Roboto Mono" pitchFamily="34" charset="-120"/>
              </a:rPr>
              <a:t>  created</a:t>
            </a:r>
            <a:endParaRPr lang="en-US" sz="975" dirty="0"/>
          </a:p>
          <a:p>
            <a:pPr marL="0" indent="0">
              <a:lnSpc>
                <a:spcPct val="112000"/>
              </a:lnSpc>
              <a:buNone/>
            </a:pPr>
            <a:endParaRPr lang="en-US" sz="975" dirty="0"/>
          </a:p>
          <a:p>
            <a:pPr marL="0" indent="0">
              <a:lnSpc>
                <a:spcPct val="112000"/>
              </a:lnSpc>
              <a:buNone/>
            </a:pPr>
            <a:r>
              <a:rPr lang="en-US" sz="975" dirty="0">
                <a:solidFill>
                  <a:srgbClr val="8BE3AE"/>
                </a:solidFill>
                <a:latin typeface="Roboto Mono" pitchFamily="34" charset="0"/>
                <a:ea typeface="Roboto Mono" pitchFamily="34" charset="-122"/>
                <a:cs typeface="Roboto Mono" pitchFamily="34" charset="-120"/>
              </a:rPr>
              <a:t>command terminated with exit code 28</a:t>
            </a:r>
            <a:endParaRPr lang="en-US" sz="975" dirty="0"/>
          </a:p>
          <a:p>
            <a:pPr marL="0" indent="0">
              <a:lnSpc>
                <a:spcPct val="112000"/>
              </a:lnSpc>
              <a:buNone/>
            </a:pPr>
            <a:r>
              <a:rPr lang="en-US" sz="975" dirty="0">
                <a:solidFill>
                  <a:srgbClr val="8BE3AE"/>
                </a:solidFill>
                <a:latin typeface="Roboto Mono" pitchFamily="34" charset="0"/>
                <a:ea typeface="Roboto Mono" pitchFamily="34" charset="-122"/>
                <a:cs typeface="Roboto Mono" pitchFamily="34" charset="-120"/>
              </a:rPr>
              <a:t>000</a:t>
            </a:r>
            <a:endParaRPr lang="en-US" sz="975" dirty="0"/>
          </a:p>
          <a:p>
            <a:pPr marL="0" indent="0">
              <a:lnSpc>
                <a:spcPct val="112000"/>
              </a:lnSpc>
              <a:buNone/>
            </a:pPr>
            <a:endParaRPr lang="en-US" sz="975" dirty="0"/>
          </a:p>
          <a:p>
            <a:pPr marL="0" indent="0">
              <a:lnSpc>
                <a:spcPct val="112000"/>
              </a:lnSpc>
              <a:buNone/>
            </a:pPr>
            <a:r>
              <a:rPr lang="en-US" sz="975" dirty="0">
                <a:solidFill>
                  <a:srgbClr val="E9EDF5"/>
                </a:solidFill>
                <a:latin typeface="Roboto Mono" pitchFamily="34" charset="0"/>
                <a:ea typeface="Roboto Mono" pitchFamily="34" charset="-122"/>
                <a:cs typeface="Roboto Mono" pitchFamily="34" charset="-120"/>
              </a:rPr>
              <a:t># exit 28 = curl timed out. The packet went nowhere.</a:t>
            </a:r>
            <a:endParaRPr lang="en-US" sz="975" dirty="0"/>
          </a:p>
          <a:p>
            <a:pPr marL="0" indent="0">
              <a:lnSpc>
                <a:spcPct val="112000"/>
              </a:lnSpc>
              <a:buNone/>
            </a:pPr>
            <a:r>
              <a:rPr lang="en-US" sz="975" dirty="0">
                <a:solidFill>
                  <a:srgbClr val="E9EDF5"/>
                </a:solidFill>
                <a:latin typeface="Roboto Mono" pitchFamily="34" charset="0"/>
                <a:ea typeface="Roboto Mono" pitchFamily="34" charset="-122"/>
                <a:cs typeface="Roboto Mono" pitchFamily="34" charset="-120"/>
              </a:rPr>
              <a:t># Not refused — dropped. The caller learns nothing.</a:t>
            </a:r>
            <a:endParaRPr lang="en-US" sz="975" dirty="0"/>
          </a:p>
        </p:txBody>
      </p:sp>
      <p:sp>
        <p:nvSpPr>
          <p:cNvPr id="13" name="pill-bg"/>
          <p:cNvSpPr/>
          <p:nvPr/>
        </p:nvSpPr>
        <p:spPr>
          <a:xfrm>
            <a:off x="7680960" y="1664208"/>
            <a:ext cx="2428646"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4" name="pill-text"/>
          <p:cNvSpPr txBox="1"/>
          <p:nvPr/>
        </p:nvSpPr>
        <p:spPr>
          <a:xfrm>
            <a:off x="7680960" y="1664208"/>
            <a:ext cx="2428646"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network/02-default-deny.yaml</a:t>
            </a:r>
            <a:endParaRPr lang="en-US" sz="1150" dirty="0"/>
          </a:p>
        </p:txBody>
      </p:sp>
      <p:sp>
        <p:nvSpPr>
          <p:cNvPr id="15" name="code-bg"/>
          <p:cNvSpPr/>
          <p:nvPr/>
        </p:nvSpPr>
        <p:spPr>
          <a:xfrm>
            <a:off x="7680960" y="2084832"/>
            <a:ext cx="4007815" cy="3794760"/>
          </a:xfrm>
          <a:prstGeom prst="roundRect">
            <a:avLst>
              <a:gd name="adj" fmla="val 1687"/>
            </a:avLst>
          </a:prstGeom>
          <a:solidFill>
            <a:srgbClr val="241E4E"/>
          </a:solidFill>
          <a:ln w="12700">
            <a:solidFill>
              <a:srgbClr val="241E4E"/>
            </a:solidFill>
            <a:prstDash val="solid"/>
          </a:ln>
        </p:spPr>
        <p:txBody>
          <a:bodyPr/>
          <a:lstStyle/>
          <a:p>
            <a:endParaRPr lang="en-US"/>
          </a:p>
        </p:txBody>
      </p:sp>
      <p:sp>
        <p:nvSpPr>
          <p:cNvPr id="16" name="code-text"/>
          <p:cNvSpPr txBox="1"/>
          <p:nvPr/>
        </p:nvSpPr>
        <p:spPr>
          <a:xfrm>
            <a:off x="7845552" y="2221992"/>
            <a:ext cx="3678631" cy="3520440"/>
          </a:xfrm>
          <a:prstGeom prst="rect">
            <a:avLst/>
          </a:prstGeom>
          <a:noFill/>
          <a:ln/>
        </p:spPr>
        <p:txBody>
          <a:bodyPr wrap="square" lIns="0" tIns="0" rIns="0" bIns="0" rtlCol="0" anchor="t"/>
          <a:lstStyle/>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apiVersion: networking.k8s.io/v1</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kind: NetworkPolicy</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metadata:</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name: default-deny-ingress</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namespace: team-bravo</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spec:</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podSelector: {}</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policyTypes:</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 Ingress</a:t>
            </a:r>
            <a:endParaRPr lang="en-US" sz="1000" dirty="0"/>
          </a:p>
          <a:p>
            <a:pPr marL="0" indent="0">
              <a:lnSpc>
                <a:spcPct val="112000"/>
              </a:lnSpc>
              <a:buNone/>
            </a:pP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podSelector: {} means</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EVERY pod in this namespace</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No ingress: block listed</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means NOTHING is allowed in</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Policies are additive:</a:t>
            </a:r>
            <a:endParaRPr lang="en-US" sz="1000" dirty="0"/>
          </a:p>
          <a:p>
            <a:pPr marL="0" indent="0">
              <a:lnSpc>
                <a:spcPct val="112000"/>
              </a:lnSpc>
              <a:buNone/>
            </a:pPr>
            <a:r>
              <a:rPr lang="en-US" sz="1000" dirty="0">
                <a:solidFill>
                  <a:srgbClr val="E9EDF5"/>
                </a:solidFill>
                <a:latin typeface="Roboto Mono" pitchFamily="34" charset="0"/>
                <a:ea typeface="Roboto Mono" pitchFamily="34" charset="-122"/>
                <a:cs typeface="Roboto Mono" pitchFamily="34" charset="-120"/>
              </a:rPr>
              <a:t>#   add allow rules on top</a:t>
            </a:r>
            <a:endParaRPr lang="en-US" sz="1000" dirty="0"/>
          </a:p>
        </p:txBody>
      </p:sp>
      <p:sp>
        <p:nvSpPr>
          <p:cNvPr id="17"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18"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The curl times out with exit code 28 and prints 000.</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THE MOST IMPORTANT SLIDE IN THIS SECTION</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Nothing tells you a NetworkPolicy is inert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API server validates and stores your policy. Enforcing it is somebody else's job entirely — and if that somebody is not installed, nothing tells you.</a:t>
            </a:r>
            <a:endParaRPr lang="en-US" sz="1300" dirty="0"/>
          </a:p>
        </p:txBody>
      </p:sp>
      <p:sp>
        <p:nvSpPr>
          <p:cNvPr id="6" name="cmp-0"/>
          <p:cNvSpPr/>
          <p:nvPr/>
        </p:nvSpPr>
        <p:spPr>
          <a:xfrm>
            <a:off x="502920" y="1737360"/>
            <a:ext cx="5455768" cy="3154680"/>
          </a:xfrm>
          <a:prstGeom prst="roundRect">
            <a:avLst>
              <a:gd name="adj" fmla="val 2899"/>
            </a:avLst>
          </a:prstGeom>
          <a:solidFill>
            <a:srgbClr val="FFFFFF"/>
          </a:solidFill>
          <a:ln w="12700">
            <a:solidFill>
              <a:srgbClr val="CFE3E2"/>
            </a:solidFill>
            <a:prstDash val="solid"/>
          </a:ln>
        </p:spPr>
        <p:txBody>
          <a:bodyPr/>
          <a:lstStyle/>
          <a:p>
            <a:endParaRPr lang="en-US"/>
          </a:p>
        </p:txBody>
      </p:sp>
      <p:sp>
        <p:nvSpPr>
          <p:cNvPr id="7" name="pill-bg"/>
          <p:cNvSpPr/>
          <p:nvPr/>
        </p:nvSpPr>
        <p:spPr>
          <a:xfrm>
            <a:off x="704088" y="1938528"/>
            <a:ext cx="2278685" cy="310896"/>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8" name="pill-text"/>
          <p:cNvSpPr txBox="1"/>
          <p:nvPr/>
        </p:nvSpPr>
        <p:spPr>
          <a:xfrm>
            <a:off x="704088" y="1938528"/>
            <a:ext cx="2278685"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the cluster tells you</a:t>
            </a:r>
            <a:endParaRPr lang="en-US" sz="1150" dirty="0"/>
          </a:p>
        </p:txBody>
      </p:sp>
      <p:sp>
        <p:nvSpPr>
          <p:cNvPr id="9" name="cmpb-0"/>
          <p:cNvSpPr txBox="1"/>
          <p:nvPr/>
        </p:nvSpPr>
        <p:spPr>
          <a:xfrm>
            <a:off x="704088" y="2395728"/>
            <a:ext cx="5053432" cy="2295144"/>
          </a:xfrm>
          <a:prstGeom prst="rect">
            <a:avLst/>
          </a:prstGeom>
          <a:noFill/>
          <a:ln/>
        </p:spPr>
        <p:txBody>
          <a:bodyPr wrap="square" lIns="0" tIns="0" rIns="0" bIns="0" rtlCol="0" anchor="t"/>
          <a:lstStyle/>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 kubectl apply -f default-deny.yaml</a:t>
            </a: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networkpolicy.networking.k8s.io/default-deny-ingress created</a:t>
            </a:r>
            <a:endParaRPr lang="en-US" sz="1050" dirty="0"/>
          </a:p>
          <a:p>
            <a:pPr marL="0" indent="0">
              <a:lnSpc>
                <a:spcPct val="120000"/>
              </a:lnSpc>
              <a:buNone/>
            </a:pP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 kubectl get netpol -n team-bravo</a:t>
            </a: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NAME                   POD-SELECTOR   AGE</a:t>
            </a: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default-deny-ingress   &lt;none&gt;         10s</a:t>
            </a:r>
            <a:endParaRPr lang="en-US" sz="1050" dirty="0"/>
          </a:p>
          <a:p>
            <a:pPr marL="0" indent="0">
              <a:lnSpc>
                <a:spcPct val="120000"/>
              </a:lnSpc>
              <a:buNone/>
            </a:pP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 kubectl describe netpol default-deny-ingress</a:t>
            </a: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...your rules, exactly as written...</a:t>
            </a:r>
            <a:endParaRPr lang="en-US" sz="1050" dirty="0"/>
          </a:p>
          <a:p>
            <a:pPr marL="0" indent="0">
              <a:lnSpc>
                <a:spcPct val="120000"/>
              </a:lnSpc>
              <a:buNone/>
            </a:pP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Identical output whether or not anything is enforcing it.</a:t>
            </a:r>
            <a:endParaRPr lang="en-US" sz="1050" dirty="0"/>
          </a:p>
        </p:txBody>
      </p:sp>
      <p:sp>
        <p:nvSpPr>
          <p:cNvPr id="10" name="cmp-1"/>
          <p:cNvSpPr/>
          <p:nvPr/>
        </p:nvSpPr>
        <p:spPr>
          <a:xfrm>
            <a:off x="6233008" y="1737360"/>
            <a:ext cx="5455768" cy="3154680"/>
          </a:xfrm>
          <a:prstGeom prst="roundRect">
            <a:avLst>
              <a:gd name="adj" fmla="val 2899"/>
            </a:avLst>
          </a:prstGeom>
          <a:solidFill>
            <a:srgbClr val="FFFFFF"/>
          </a:solidFill>
          <a:ln w="12700">
            <a:solidFill>
              <a:srgbClr val="CFE3E2"/>
            </a:solidFill>
            <a:prstDash val="solid"/>
          </a:ln>
        </p:spPr>
        <p:txBody>
          <a:bodyPr/>
          <a:lstStyle/>
          <a:p>
            <a:endParaRPr lang="en-US"/>
          </a:p>
        </p:txBody>
      </p:sp>
      <p:sp>
        <p:nvSpPr>
          <p:cNvPr id="11" name="pill-bg"/>
          <p:cNvSpPr/>
          <p:nvPr/>
        </p:nvSpPr>
        <p:spPr>
          <a:xfrm>
            <a:off x="6434176" y="1938528"/>
            <a:ext cx="1903781" cy="310896"/>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2" name="pill-text"/>
          <p:cNvSpPr txBox="1"/>
          <p:nvPr/>
        </p:nvSpPr>
        <p:spPr>
          <a:xfrm>
            <a:off x="6434176" y="1938528"/>
            <a:ext cx="1903781"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is actually true</a:t>
            </a:r>
            <a:endParaRPr lang="en-US" sz="1150" dirty="0"/>
          </a:p>
        </p:txBody>
      </p:sp>
      <p:sp>
        <p:nvSpPr>
          <p:cNvPr id="13" name="cmpb-1"/>
          <p:cNvSpPr txBox="1"/>
          <p:nvPr/>
        </p:nvSpPr>
        <p:spPr>
          <a:xfrm>
            <a:off x="6434176" y="2395728"/>
            <a:ext cx="5053432" cy="2295144"/>
          </a:xfrm>
          <a:prstGeom prst="rect">
            <a:avLst/>
          </a:prstGeom>
          <a:noFill/>
          <a:ln/>
        </p:spPr>
        <p:txBody>
          <a:bodyPr wrap="square" lIns="0" tIns="0" rIns="0" bIns="0" rtlCol="0" anchor="t"/>
          <a:lstStyle/>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The API server validates the object and stores it. That is the entire extent of its involvement.</a:t>
            </a:r>
            <a:endParaRPr lang="en-US" sz="1050" dirty="0"/>
          </a:p>
          <a:p>
            <a:pPr marL="0" indent="0">
              <a:lnSpc>
                <a:spcPct val="120000"/>
              </a:lnSpc>
              <a:buNone/>
            </a:pP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Enforcement belongs to the CNI plugin's policy engine, which watches these objects and programs iptables, nftables or eBPF on every node.</a:t>
            </a:r>
            <a:endParaRPr lang="en-US" sz="1050" dirty="0"/>
          </a:p>
          <a:p>
            <a:pPr marL="0" indent="0">
              <a:lnSpc>
                <a:spcPct val="120000"/>
              </a:lnSpc>
              <a:buNone/>
            </a:pP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minikube's default CNI — and several cloud defaults — provide connectivity only. No policy engine, no enforcement.</a:t>
            </a:r>
            <a:endParaRPr lang="en-US" sz="1050" dirty="0"/>
          </a:p>
          <a:p>
            <a:pPr marL="0" indent="0">
              <a:lnSpc>
                <a:spcPct val="120000"/>
              </a:lnSpc>
              <a:buNone/>
            </a:pPr>
            <a:endParaRPr lang="en-US" sz="1050" dirty="0"/>
          </a:p>
          <a:p>
            <a:pPr marL="0" indent="0">
              <a:lnSpc>
                <a:spcPct val="120000"/>
              </a:lnSpc>
              <a:buNone/>
            </a:pPr>
            <a:r>
              <a:rPr lang="en-US" sz="1050" dirty="0">
                <a:solidFill>
                  <a:srgbClr val="1F2937"/>
                </a:solidFill>
                <a:latin typeface="Calibri" pitchFamily="34" charset="0"/>
                <a:ea typeface="Calibri" pitchFamily="34" charset="-122"/>
                <a:cs typeface="Calibri" pitchFamily="34" charset="-120"/>
              </a:rPr>
              <a:t>NetworkPolicy has no status field, raises no Event and produces no warning. Nothing anywhere tells you it is inert.</a:t>
            </a:r>
            <a:endParaRPr lang="en-US" sz="1050" dirty="0"/>
          </a:p>
        </p:txBody>
      </p:sp>
      <p:sp>
        <p:nvSpPr>
          <p:cNvPr id="14" name="lesson"/>
          <p:cNvSpPr/>
          <p:nvPr/>
        </p:nvSpPr>
        <p:spPr>
          <a:xfrm>
            <a:off x="502920" y="5047488"/>
            <a:ext cx="11185855" cy="960120"/>
          </a:xfrm>
          <a:prstGeom prst="roundRect">
            <a:avLst>
              <a:gd name="adj" fmla="val 9524"/>
            </a:avLst>
          </a:prstGeom>
          <a:solidFill>
            <a:srgbClr val="FBEAEC"/>
          </a:solidFill>
          <a:ln w="12700">
            <a:solidFill>
              <a:srgbClr val="E8B9C0"/>
            </a:solidFill>
            <a:prstDash val="solid"/>
          </a:ln>
        </p:spPr>
        <p:txBody>
          <a:bodyPr/>
          <a:lstStyle/>
          <a:p>
            <a:endParaRPr lang="en-US"/>
          </a:p>
        </p:txBody>
      </p:sp>
      <p:sp>
        <p:nvSpPr>
          <p:cNvPr id="15" name="Text 12"/>
          <p:cNvSpPr txBox="1"/>
          <p:nvPr/>
        </p:nvSpPr>
        <p:spPr>
          <a:xfrm>
            <a:off x="758952" y="5047488"/>
            <a:ext cx="10673791" cy="960120"/>
          </a:xfrm>
          <a:prstGeom prst="rect">
            <a:avLst/>
          </a:prstGeom>
          <a:noFill/>
          <a:ln/>
        </p:spPr>
        <p:txBody>
          <a:bodyPr wrap="square" lIns="0" tIns="0" rIns="0" bIns="0" rtlCol="0" anchor="ctr"/>
          <a:lstStyle/>
          <a:p>
            <a:pPr marL="0" indent="0">
              <a:lnSpc>
                <a:spcPct val="114000"/>
              </a:lnSpc>
              <a:buNone/>
            </a:pPr>
            <a:r>
              <a:rPr lang="en-US" sz="1250" b="1" dirty="0">
                <a:solidFill>
                  <a:srgbClr val="B3263B"/>
                </a:solidFill>
                <a:latin typeface="Calibri" pitchFamily="34" charset="0"/>
                <a:ea typeface="Calibri" pitchFamily="34" charset="-122"/>
                <a:cs typeface="Calibri" pitchFamily="34" charset="-120"/>
              </a:rPr>
              <a:t>The lesson, and it is not about networking:  </a:t>
            </a:r>
            <a:r>
              <a:rPr lang="en-US" sz="1250" dirty="0">
                <a:solidFill>
                  <a:srgbClr val="1F2937"/>
                </a:solidFill>
                <a:latin typeface="Calibri" pitchFamily="34" charset="0"/>
                <a:ea typeface="Calibri" pitchFamily="34" charset="-122"/>
                <a:cs typeface="Calibri" pitchFamily="34" charset="-120"/>
              </a:rPr>
              <a:t>a control that looks enabled and does nothing is more dangerous than no control at all, because you stop looking at it. The only way to know a control works is to test that the bad thing actually fails. That curl command is not a demo — it is the test, and it belongs in your CI.</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NETWORK · STEP 20</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Allow exactly one caller back in</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Namespace label plus pod label plus port. Everything else in the cluster still gets nothing.</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2015363"/>
          </a:xfrm>
          <a:prstGeom prst="roundRect">
            <a:avLst>
              <a:gd name="adj" fmla="val 317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741043"/>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apply -f network/03-allow-alpha-probe.yaml</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the allowed caller</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exec -n team-alpha probe -- curl -s -m 5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-o /dev/null -w '%{http_code}\n'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http://api.team-bravo.svc.cluster.local:8080</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anybody else</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run snoop -n team-bravo --rm -it --restart=Never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--image=curlimages/curl:8.10.1 --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curl -s -m 5 -o /dev/null -w '%{http_code}\n' http://api:8080</a:t>
            </a:r>
            <a:endParaRPr lang="en-US" sz="850" dirty="0"/>
          </a:p>
        </p:txBody>
      </p:sp>
      <p:sp>
        <p:nvSpPr>
          <p:cNvPr id="9" name="pill-bg"/>
          <p:cNvSpPr/>
          <p:nvPr/>
        </p:nvSpPr>
        <p:spPr>
          <a:xfrm>
            <a:off x="502920" y="4337939"/>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4337939"/>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758563"/>
            <a:ext cx="6903720" cy="978408"/>
          </a:xfrm>
          <a:prstGeom prst="roundRect">
            <a:avLst>
              <a:gd name="adj" fmla="val 6542"/>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895723"/>
            <a:ext cx="6574536" cy="704088"/>
          </a:xfrm>
          <a:prstGeom prst="rect">
            <a:avLst/>
          </a:prstGeom>
          <a:noFill/>
          <a:ln/>
        </p:spPr>
        <p:txBody>
          <a:bodyPr wrap="square" lIns="0" tIns="0" rIns="0" bIns="0" rtlCol="0" anchor="t"/>
          <a:lstStyle/>
          <a:p>
            <a:pPr marL="0" indent="0">
              <a:lnSpc>
                <a:spcPct val="112000"/>
              </a:lnSpc>
              <a:buNone/>
            </a:pPr>
            <a:r>
              <a:rPr lang="en-US" sz="900" dirty="0">
                <a:solidFill>
                  <a:srgbClr val="8BE3AE"/>
                </a:solidFill>
                <a:latin typeface="Roboto Mono" pitchFamily="34" charset="0"/>
                <a:ea typeface="Roboto Mono" pitchFamily="34" charset="-122"/>
                <a:cs typeface="Roboto Mono" pitchFamily="34" charset="-120"/>
              </a:rPr>
              <a:t>200     &lt;- the allowed pod</a:t>
            </a:r>
            <a:endParaRPr lang="en-US" sz="900" dirty="0"/>
          </a:p>
          <a:p>
            <a:pPr marL="0" indent="0">
              <a:lnSpc>
                <a:spcPct val="112000"/>
              </a:lnSpc>
              <a:buNone/>
            </a:pPr>
            <a:endParaRPr lang="en-US" sz="900" dirty="0"/>
          </a:p>
          <a:p>
            <a:pPr marL="0" indent="0">
              <a:lnSpc>
                <a:spcPct val="112000"/>
              </a:lnSpc>
              <a:buNone/>
            </a:pPr>
            <a:r>
              <a:rPr lang="en-US" sz="900" dirty="0">
                <a:solidFill>
                  <a:srgbClr val="FF9BA6"/>
                </a:solidFill>
                <a:latin typeface="Roboto Mono" pitchFamily="34" charset="0"/>
                <a:ea typeface="Roboto Mono" pitchFamily="34" charset="-122"/>
                <a:cs typeface="Roboto Mono" pitchFamily="34" charset="-120"/>
              </a:rPr>
              <a:t>000     &lt;- everyone else, including</a:t>
            </a:r>
            <a:endParaRPr lang="en-US" sz="900" dirty="0"/>
          </a:p>
          <a:p>
            <a:pPr marL="0" indent="0">
              <a:lnSpc>
                <a:spcPct val="112000"/>
              </a:lnSpc>
              <a:buNone/>
            </a:pPr>
            <a:r>
              <a:rPr lang="en-US" sz="900" dirty="0">
                <a:solidFill>
                  <a:srgbClr val="FF9BA6"/>
                </a:solidFill>
                <a:latin typeface="Roboto Mono" pitchFamily="34" charset="0"/>
                <a:ea typeface="Roboto Mono" pitchFamily="34" charset="-122"/>
                <a:cs typeface="Roboto Mono" pitchFamily="34" charset="-120"/>
              </a:rPr>
              <a:t>           pods in bravo's own namespace</a:t>
            </a:r>
            <a:endParaRPr lang="en-US" sz="900" dirty="0"/>
          </a:p>
        </p:txBody>
      </p:sp>
      <p:sp>
        <p:nvSpPr>
          <p:cNvPr id="13" name="pill-bg"/>
          <p:cNvSpPr/>
          <p:nvPr/>
        </p:nvSpPr>
        <p:spPr>
          <a:xfrm>
            <a:off x="7680960" y="1664208"/>
            <a:ext cx="2203704"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14" name="pill-text"/>
          <p:cNvSpPr txBox="1"/>
          <p:nvPr/>
        </p:nvSpPr>
        <p:spPr>
          <a:xfrm>
            <a:off x="7680960" y="1664208"/>
            <a:ext cx="2203704"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03-allow-alpha-probe.yaml</a:t>
            </a:r>
            <a:endParaRPr lang="en-US" sz="1150" dirty="0"/>
          </a:p>
        </p:txBody>
      </p:sp>
      <p:sp>
        <p:nvSpPr>
          <p:cNvPr id="15" name="code-bg"/>
          <p:cNvSpPr/>
          <p:nvPr/>
        </p:nvSpPr>
        <p:spPr>
          <a:xfrm>
            <a:off x="7680960" y="2084832"/>
            <a:ext cx="4007815" cy="3794760"/>
          </a:xfrm>
          <a:prstGeom prst="roundRect">
            <a:avLst>
              <a:gd name="adj" fmla="val 1687"/>
            </a:avLst>
          </a:prstGeom>
          <a:solidFill>
            <a:srgbClr val="241E4E"/>
          </a:solidFill>
          <a:ln w="12700">
            <a:solidFill>
              <a:srgbClr val="241E4E"/>
            </a:solidFill>
            <a:prstDash val="solid"/>
          </a:ln>
        </p:spPr>
        <p:txBody>
          <a:bodyPr/>
          <a:lstStyle/>
          <a:p>
            <a:endParaRPr lang="en-US"/>
          </a:p>
        </p:txBody>
      </p:sp>
      <p:sp>
        <p:nvSpPr>
          <p:cNvPr id="16" name="code-text"/>
          <p:cNvSpPr txBox="1"/>
          <p:nvPr/>
        </p:nvSpPr>
        <p:spPr>
          <a:xfrm>
            <a:off x="7845552" y="2221992"/>
            <a:ext cx="3678631" cy="3520440"/>
          </a:xfrm>
          <a:prstGeom prst="rect">
            <a:avLst/>
          </a:prstGeom>
          <a:noFill/>
          <a:ln/>
        </p:spPr>
        <p:txBody>
          <a:bodyPr wrap="square" lIns="0" tIns="0" rIns="0" bIns="0" rtlCol="0" anchor="t"/>
          <a:lstStyle/>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kind: NetworkPolicy</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metadata:</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name: allow-alpha-probe</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namespace: team-bravo</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spec:</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podSelector:</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matchLabels: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app: api</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policyTypes: [Ingress]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ingress: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from:</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namespaceSelector:</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matchLabels: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tenant: alpha</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podSelector:</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matchLabels: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app: probe</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ports:</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protocol: TCP</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port: 8080</a:t>
            </a:r>
            <a:endParaRPr lang="en-US" sz="900" dirty="0"/>
          </a:p>
        </p:txBody>
      </p:sp>
      <p:sp>
        <p:nvSpPr>
          <p:cNvPr id="17"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18"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200 from the probe pod, 000 from anything else — including pods inside team-bravo.</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NETWORK · STEP 21</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Lock down egress, and the DNS trap</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Egress policy is what stops a compromised pod phoning home. It is also where everybody breaks their own cluster exactly once.</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708785"/>
          </a:xfrm>
          <a:prstGeom prst="roundRect">
            <a:avLst>
              <a:gd name="adj" fmla="val 374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434465"/>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deny all egress from team-alpha...</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apply -f network/04-deny-egress.yaml</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exec -n team-alpha probe -- curl -s -m 5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-o /dev/null -w '%{http_code}\n' http://api.team-bravo:8080</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...now allow DNS back, and only DNS</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apply -f network/05-allow-dns.yaml</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exec -n team-alpha probe --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nslookup api.team-bravo.svc.cluster.local</a:t>
            </a:r>
            <a:endParaRPr lang="en-US" sz="850" dirty="0"/>
          </a:p>
        </p:txBody>
      </p:sp>
      <p:sp>
        <p:nvSpPr>
          <p:cNvPr id="9" name="pill-bg"/>
          <p:cNvSpPr/>
          <p:nvPr/>
        </p:nvSpPr>
        <p:spPr>
          <a:xfrm>
            <a:off x="502920" y="4031361"/>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4031361"/>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451985"/>
            <a:ext cx="6903720" cy="1483360"/>
          </a:xfrm>
          <a:prstGeom prst="roundRect">
            <a:avLst>
              <a:gd name="adj" fmla="val 4315"/>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589145"/>
            <a:ext cx="6574536" cy="1209040"/>
          </a:xfrm>
          <a:prstGeom prst="rect">
            <a:avLst/>
          </a:prstGeom>
          <a:noFill/>
          <a:ln/>
        </p:spPr>
        <p:txBody>
          <a:bodyPr wrap="square" lIns="0" tIns="0" rIns="0" bIns="0" rtlCol="0" anchor="t"/>
          <a:lstStyle/>
          <a:p>
            <a:pPr marL="0" indent="0">
              <a:lnSpc>
                <a:spcPct val="112000"/>
              </a:lnSpc>
              <a:buNone/>
            </a:pPr>
            <a:r>
              <a:rPr lang="en-US" sz="800" dirty="0">
                <a:solidFill>
                  <a:srgbClr val="8BE3AE"/>
                </a:solidFill>
                <a:latin typeface="Roboto Mono" pitchFamily="34" charset="0"/>
                <a:ea typeface="Roboto Mono" pitchFamily="34" charset="-122"/>
                <a:cs typeface="Roboto Mono" pitchFamily="34" charset="-120"/>
              </a:rPr>
              <a:t>000   &lt;- expected: egress is denied</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before 05-allow-dns.yaml, nslookup fails too:</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 connection timed out; no servers could be reached</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after:</a:t>
            </a:r>
            <a:endParaRPr lang="en-US" sz="800" dirty="0"/>
          </a:p>
          <a:p>
            <a:pPr marL="0" indent="0">
              <a:lnSpc>
                <a:spcPct val="112000"/>
              </a:lnSpc>
              <a:buNone/>
            </a:pPr>
            <a:r>
              <a:rPr lang="en-US" sz="800" dirty="0">
                <a:solidFill>
                  <a:srgbClr val="8BE3AE"/>
                </a:solidFill>
                <a:latin typeface="Roboto Mono" pitchFamily="34" charset="0"/>
                <a:ea typeface="Roboto Mono" pitchFamily="34" charset="-122"/>
                <a:cs typeface="Roboto Mono" pitchFamily="34" charset="-120"/>
              </a:rPr>
              <a:t>Name: api.team-bravo.svc.cluster.local</a:t>
            </a:r>
            <a:endParaRPr lang="en-US" sz="800" dirty="0"/>
          </a:p>
          <a:p>
            <a:pPr marL="0" indent="0">
              <a:lnSpc>
                <a:spcPct val="112000"/>
              </a:lnSpc>
              <a:buNone/>
            </a:pPr>
            <a:r>
              <a:rPr lang="en-US" sz="800" dirty="0">
                <a:solidFill>
                  <a:srgbClr val="8BE3AE"/>
                </a:solidFill>
                <a:latin typeface="Roboto Mono" pitchFamily="34" charset="0"/>
                <a:ea typeface="Roboto Mono" pitchFamily="34" charset="-122"/>
                <a:cs typeface="Roboto Mono" pitchFamily="34" charset="-120"/>
              </a:rPr>
              <a:t>Address: 10.x.x.x</a:t>
            </a:r>
            <a:endParaRPr lang="en-US" sz="8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228954" cy="310896"/>
          </a:xfrm>
          <a:prstGeom prst="roundRect">
            <a:avLst>
              <a:gd name="adj" fmla="val 50000"/>
            </a:avLst>
          </a:prstGeom>
          <a:solidFill>
            <a:srgbClr val="9A5B0C"/>
          </a:solidFill>
          <a:ln w="12700">
            <a:solidFill>
              <a:srgbClr val="9A5B0C"/>
            </a:solidFill>
            <a:prstDash val="solid"/>
          </a:ln>
        </p:spPr>
        <p:txBody>
          <a:bodyPr/>
          <a:lstStyle/>
          <a:p>
            <a:endParaRPr lang="en-US"/>
          </a:p>
        </p:txBody>
      </p:sp>
      <p:sp>
        <p:nvSpPr>
          <p:cNvPr id="15" name="pill-text"/>
          <p:cNvSpPr txBox="1"/>
          <p:nvPr/>
        </p:nvSpPr>
        <p:spPr>
          <a:xfrm>
            <a:off x="7863840" y="1847088"/>
            <a:ext cx="1228954"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The DNS trap</a:t>
            </a:r>
            <a:endParaRPr lang="en-US" sz="1150" dirty="0"/>
          </a:p>
        </p:txBody>
      </p:sp>
      <p:sp>
        <p:nvSpPr>
          <p:cNvPr id="16" name="sdot-0"/>
          <p:cNvSpPr/>
          <p:nvPr/>
        </p:nvSpPr>
        <p:spPr>
          <a:xfrm>
            <a:off x="7882128" y="2414016"/>
            <a:ext cx="128016" cy="128016"/>
          </a:xfrm>
          <a:prstGeom prst="ellipse">
            <a:avLst/>
          </a:prstGeom>
          <a:solidFill>
            <a:srgbClr val="9A5B0C"/>
          </a:solidFill>
          <a:ln w="12700">
            <a:solidFill>
              <a:srgbClr val="9A5B0C"/>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9A5B0C"/>
                </a:solidFill>
                <a:latin typeface="Calibri" pitchFamily="34" charset="0"/>
                <a:ea typeface="Calibri" pitchFamily="34" charset="-122"/>
                <a:cs typeface="Calibri" pitchFamily="34" charset="-120"/>
              </a:rPr>
              <a:t>Deny egress and you deny DNS.  </a:t>
            </a:r>
            <a:r>
              <a:rPr lang="en-US" sz="950" dirty="0">
                <a:solidFill>
                  <a:srgbClr val="1F2937"/>
                </a:solidFill>
                <a:latin typeface="Calibri" pitchFamily="34" charset="0"/>
                <a:ea typeface="Calibri" pitchFamily="34" charset="-122"/>
                <a:cs typeface="Calibri" pitchFamily="34" charset="-120"/>
              </a:rPr>
              <a:t>CoreDNS is just another pod. Your pods can no longer resolve any name — including names they are explicitly allowed to connect to.</a:t>
            </a:r>
            <a:endParaRPr lang="en-US" sz="950" dirty="0"/>
          </a:p>
        </p:txBody>
      </p:sp>
      <p:sp>
        <p:nvSpPr>
          <p:cNvPr id="18" name="sdot-1"/>
          <p:cNvSpPr/>
          <p:nvPr/>
        </p:nvSpPr>
        <p:spPr>
          <a:xfrm>
            <a:off x="7882128" y="3262122"/>
            <a:ext cx="128016" cy="128016"/>
          </a:xfrm>
          <a:prstGeom prst="ellipse">
            <a:avLst/>
          </a:prstGeom>
          <a:solidFill>
            <a:srgbClr val="B3263B"/>
          </a:solidFill>
          <a:ln w="12700">
            <a:solidFill>
              <a:srgbClr val="B3263B"/>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B3263B"/>
                </a:solidFill>
                <a:latin typeface="Calibri" pitchFamily="34" charset="0"/>
                <a:ea typeface="Calibri" pitchFamily="34" charset="-122"/>
                <a:cs typeface="Calibri" pitchFamily="34" charset="-120"/>
              </a:rPr>
              <a:t>The symptom misleads you.  </a:t>
            </a:r>
            <a:r>
              <a:rPr lang="en-US" sz="950" dirty="0">
                <a:solidFill>
                  <a:srgbClr val="1F2937"/>
                </a:solidFill>
                <a:latin typeface="Calibri" pitchFamily="34" charset="0"/>
                <a:ea typeface="Calibri" pitchFamily="34" charset="-122"/>
                <a:cs typeface="Calibri" pitchFamily="34" charset="-120"/>
              </a:rPr>
              <a:t>Everything fails with 'no such host' or 'name resolution failed', so people hunt a DNS bug for an hour before suspecting the policy they just wrote.</a:t>
            </a:r>
            <a:endParaRPr lang="en-US" sz="950" dirty="0"/>
          </a:p>
        </p:txBody>
      </p:sp>
      <p:sp>
        <p:nvSpPr>
          <p:cNvPr id="20" name="sdot-2"/>
          <p:cNvSpPr/>
          <p:nvPr/>
        </p:nvSpPr>
        <p:spPr>
          <a:xfrm>
            <a:off x="7882128" y="4110228"/>
            <a:ext cx="128016" cy="128016"/>
          </a:xfrm>
          <a:prstGeom prst="ellipse">
            <a:avLst/>
          </a:prstGeom>
          <a:solidFill>
            <a:srgbClr val="0B4F5C"/>
          </a:solidFill>
          <a:ln w="12700">
            <a:solidFill>
              <a:srgbClr val="0B4F5C"/>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0B4F5C"/>
                </a:solidFill>
                <a:latin typeface="Calibri" pitchFamily="34" charset="0"/>
                <a:ea typeface="Calibri" pitchFamily="34" charset="-122"/>
                <a:cs typeface="Calibri" pitchFamily="34" charset="-120"/>
              </a:rPr>
              <a:t>Allow UDP and TCP port 53  </a:t>
            </a:r>
            <a:r>
              <a:rPr lang="en-US" sz="950" dirty="0">
                <a:solidFill>
                  <a:srgbClr val="1F2937"/>
                </a:solidFill>
                <a:latin typeface="Calibri" pitchFamily="34" charset="0"/>
                <a:ea typeface="Calibri" pitchFamily="34" charset="-122"/>
                <a:cs typeface="Calibri" pitchFamily="34" charset="-120"/>
              </a:rPr>
              <a:t>to the kube-system namespace. TCP matters too — DNS falls back to it for large responses.</a:t>
            </a:r>
            <a:endParaRPr lang="en-US" sz="950" dirty="0"/>
          </a:p>
        </p:txBody>
      </p:sp>
      <p:sp>
        <p:nvSpPr>
          <p:cNvPr id="22" name="sdot-3"/>
          <p:cNvSpPr/>
          <p:nvPr/>
        </p:nvSpPr>
        <p:spPr>
          <a:xfrm>
            <a:off x="7882128" y="4958334"/>
            <a:ext cx="128016" cy="128016"/>
          </a:xfrm>
          <a:prstGeom prst="ellipse">
            <a:avLst/>
          </a:prstGeom>
          <a:solidFill>
            <a:srgbClr val="0F7B45"/>
          </a:solidFill>
          <a:ln w="12700">
            <a:solidFill>
              <a:srgbClr val="0F7B45"/>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0F7B45"/>
                </a:solidFill>
                <a:latin typeface="Calibri" pitchFamily="34" charset="0"/>
                <a:ea typeface="Calibri" pitchFamily="34" charset="-122"/>
                <a:cs typeface="Calibri" pitchFamily="34" charset="-120"/>
              </a:rPr>
              <a:t>Why bother with egress at all?  </a:t>
            </a:r>
            <a:r>
              <a:rPr lang="en-US" sz="950" dirty="0">
                <a:solidFill>
                  <a:srgbClr val="1F2937"/>
                </a:solidFill>
                <a:latin typeface="Calibri" pitchFamily="34" charset="0"/>
                <a:ea typeface="Calibri" pitchFamily="34" charset="-122"/>
                <a:cs typeface="Calibri" pitchFamily="34" charset="-120"/>
              </a:rPr>
              <a:t>It is what stops a compromised pod exfiltrating data or pulling a second stage from the internet. Ingress protects you from them; egress protects everyone from you.</a:t>
            </a:r>
            <a:endParaRPr lang="en-US" sz="9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Egress blocked, then nslookup works again once the DNS allow rule is applied.</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06</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Secrets</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Base64 is an encoding, not a lock. Prove it, then decide what to do about it</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SECRETS · STEP 22</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A Secret is a ConfigMap that mumbles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base64 exists so binary data survives YAML. It is not a security feature and was never intended as one.</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496886"/>
          </a:xfrm>
          <a:prstGeom prst="roundRect">
            <a:avLst>
              <a:gd name="adj" fmla="val 427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222566"/>
          </a:xfrm>
          <a:prstGeom prst="rect">
            <a:avLst/>
          </a:prstGeom>
          <a:noFill/>
          <a:ln/>
        </p:spPr>
        <p:txBody>
          <a:bodyPr wrap="square" lIns="0" tIns="0" rIns="0" bIns="0" rtlCol="0" anchor="t"/>
          <a:lstStyle/>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create secret generic bravo-db -n team-bravo \</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--from-literal=password='S3cr3t-P@ssw0rd'</a:t>
            </a:r>
            <a:endParaRPr lang="en-US" sz="925" dirty="0"/>
          </a:p>
          <a:p>
            <a:pPr marL="0" indent="0">
              <a:lnSpc>
                <a:spcPct val="112000"/>
              </a:lnSpc>
              <a:buNone/>
            </a:pP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get secret bravo-db -n team-bravo -o yaml</a:t>
            </a:r>
            <a:endParaRPr lang="en-US" sz="925" dirty="0"/>
          </a:p>
          <a:p>
            <a:pPr marL="0" indent="0">
              <a:lnSpc>
                <a:spcPct val="112000"/>
              </a:lnSpc>
              <a:buNone/>
            </a:pP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kubectl get secret bravo-db -n team-bravo \</a:t>
            </a:r>
            <a:endParaRPr lang="en-US" sz="925" dirty="0"/>
          </a:p>
          <a:p>
            <a:pPr marL="0" indent="0">
              <a:lnSpc>
                <a:spcPct val="112000"/>
              </a:lnSpc>
              <a:buNone/>
            </a:pPr>
            <a:r>
              <a:rPr lang="en-US" sz="925" dirty="0">
                <a:solidFill>
                  <a:srgbClr val="E9EDF5"/>
                </a:solidFill>
                <a:latin typeface="Roboto Mono" pitchFamily="34" charset="0"/>
                <a:ea typeface="Roboto Mono" pitchFamily="34" charset="-122"/>
                <a:cs typeface="Roboto Mono" pitchFamily="34" charset="-120"/>
              </a:rPr>
              <a:t>  -o jsonpath='{.data.password}' | base64 -d; echo</a:t>
            </a:r>
            <a:endParaRPr lang="en-US" sz="925" dirty="0"/>
          </a:p>
        </p:txBody>
      </p:sp>
      <p:sp>
        <p:nvSpPr>
          <p:cNvPr id="9" name="pill-bg"/>
          <p:cNvSpPr/>
          <p:nvPr/>
        </p:nvSpPr>
        <p:spPr>
          <a:xfrm>
            <a:off x="502920" y="3819462"/>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819462"/>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240086"/>
            <a:ext cx="6903720" cy="1519428"/>
          </a:xfrm>
          <a:prstGeom prst="roundRect">
            <a:avLst>
              <a:gd name="adj" fmla="val 4213"/>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377246"/>
            <a:ext cx="6574536" cy="1245108"/>
          </a:xfrm>
          <a:prstGeom prst="rect">
            <a:avLst/>
          </a:prstGeom>
          <a:noFill/>
          <a:ln/>
        </p:spPr>
        <p:txBody>
          <a:bodyPr wrap="square" lIns="0" tIns="0" rIns="0" bIns="0" rtlCol="0" anchor="t"/>
          <a:lstStyle/>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data:</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  password: UzNjcjN0LVBAc3N3MHJk</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kind: Secret</a:t>
            </a:r>
            <a:endParaRPr lang="en-US" sz="825" dirty="0"/>
          </a:p>
          <a:p>
            <a:pPr marL="0" indent="0">
              <a:lnSpc>
                <a:spcPct val="112000"/>
              </a:lnSpc>
              <a:buNone/>
            </a:pPr>
            <a:endParaRPr lang="en-US" sz="825" dirty="0"/>
          </a:p>
          <a:p>
            <a:pPr marL="0" indent="0">
              <a:lnSpc>
                <a:spcPct val="112000"/>
              </a:lnSpc>
              <a:buNone/>
            </a:pPr>
            <a:r>
              <a:rPr lang="en-US" sz="825" dirty="0">
                <a:solidFill>
                  <a:srgbClr val="FF9BA6"/>
                </a:solidFill>
                <a:latin typeface="Roboto Mono" pitchFamily="34" charset="0"/>
                <a:ea typeface="Roboto Mono" pitchFamily="34" charset="-122"/>
                <a:cs typeface="Roboto Mono" pitchFamily="34" charset="-120"/>
              </a:rPr>
              <a:t>S3cr3t-P@ssw0rd</a:t>
            </a:r>
            <a:endParaRPr lang="en-US" sz="825" dirty="0"/>
          </a:p>
          <a:p>
            <a:pPr marL="0" indent="0">
              <a:lnSpc>
                <a:spcPct val="112000"/>
              </a:lnSpc>
              <a:buNone/>
            </a:pP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 No key. No password. No permission beyond</a:t>
            </a:r>
            <a:endParaRPr lang="en-US" sz="825" dirty="0"/>
          </a:p>
          <a:p>
            <a:pPr marL="0" indent="0">
              <a:lnSpc>
                <a:spcPct val="112000"/>
              </a:lnSpc>
              <a:buNone/>
            </a:pPr>
            <a:r>
              <a:rPr lang="en-US" sz="825" dirty="0">
                <a:solidFill>
                  <a:srgbClr val="E9EDF5"/>
                </a:solidFill>
                <a:latin typeface="Roboto Mono" pitchFamily="34" charset="0"/>
                <a:ea typeface="Roboto Mono" pitchFamily="34" charset="-122"/>
                <a:cs typeface="Roboto Mono" pitchFamily="34" charset="-120"/>
              </a:rPr>
              <a:t># 'get secrets'. base64 -d is a decoder, not a cracker.</a:t>
            </a:r>
            <a:endParaRPr lang="en-US" sz="825"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678838"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5" name="pill-text"/>
          <p:cNvSpPr txBox="1"/>
          <p:nvPr/>
        </p:nvSpPr>
        <p:spPr>
          <a:xfrm>
            <a:off x="7863840" y="1847088"/>
            <a:ext cx="1678838"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So what is it for?</a:t>
            </a:r>
            <a:endParaRPr lang="en-US" sz="1150" dirty="0"/>
          </a:p>
        </p:txBody>
      </p:sp>
      <p:sp>
        <p:nvSpPr>
          <p:cNvPr id="16" name="sdot-0"/>
          <p:cNvSpPr/>
          <p:nvPr/>
        </p:nvSpPr>
        <p:spPr>
          <a:xfrm>
            <a:off x="7882128" y="2414016"/>
            <a:ext cx="128016" cy="128016"/>
          </a:xfrm>
          <a:prstGeom prst="ellipse">
            <a:avLst/>
          </a:prstGeom>
          <a:solidFill>
            <a:srgbClr val="0B4F5C"/>
          </a:solidFill>
          <a:ln w="12700">
            <a:solidFill>
              <a:srgbClr val="0B4F5C"/>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base64 is for transport,  </a:t>
            </a:r>
            <a:r>
              <a:rPr lang="en-US" sz="1050" dirty="0">
                <a:solidFill>
                  <a:srgbClr val="1F2937"/>
                </a:solidFill>
                <a:latin typeface="Calibri" pitchFamily="34" charset="0"/>
                <a:ea typeface="Calibri" pitchFamily="34" charset="-122"/>
                <a:cs typeface="Calibri" pitchFamily="34" charset="-120"/>
              </a:rPr>
              <a:t>so that binary values like TLS keys survive being written in YAML and JSON. That is the entire reason it is there.</a:t>
            </a:r>
            <a:endParaRPr lang="en-US" sz="1050" dirty="0"/>
          </a:p>
        </p:txBody>
      </p:sp>
      <p:sp>
        <p:nvSpPr>
          <p:cNvPr id="18" name="sdot-1"/>
          <p:cNvSpPr/>
          <p:nvPr/>
        </p:nvSpPr>
        <p:spPr>
          <a:xfrm>
            <a:off x="7882128" y="3262122"/>
            <a:ext cx="128016" cy="128016"/>
          </a:xfrm>
          <a:prstGeom prst="ellipse">
            <a:avLst/>
          </a:prstGeom>
          <a:solidFill>
            <a:srgbClr val="0B4F5C"/>
          </a:solidFill>
          <a:ln w="12700">
            <a:solidFill>
              <a:srgbClr val="0B4F5C"/>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0B4F5C"/>
                </a:solidFill>
                <a:latin typeface="Calibri" pitchFamily="34" charset="0"/>
                <a:ea typeface="Calibri" pitchFamily="34" charset="-122"/>
                <a:cs typeface="Calibri" pitchFamily="34" charset="-120"/>
              </a:rPr>
              <a:t>Secrets do get some special handling:  </a:t>
            </a:r>
            <a:r>
              <a:rPr lang="en-US" sz="1050" dirty="0">
                <a:solidFill>
                  <a:srgbClr val="1F2937"/>
                </a:solidFill>
                <a:latin typeface="Calibri" pitchFamily="34" charset="0"/>
                <a:ea typeface="Calibri" pitchFamily="34" charset="-122"/>
                <a:cs typeface="Calibri" pitchFamily="34" charset="-120"/>
              </a:rPr>
              <a:t>they are not printed by kubectl describe, they can be mounted as tmpfs rather than written to disk, and RBAC can treat them separately from ConfigMaps.</a:t>
            </a:r>
            <a:endParaRPr lang="en-US" sz="1050" dirty="0"/>
          </a:p>
        </p:txBody>
      </p:sp>
      <p:sp>
        <p:nvSpPr>
          <p:cNvPr id="20" name="sdot-2"/>
          <p:cNvSpPr/>
          <p:nvPr/>
        </p:nvSpPr>
        <p:spPr>
          <a:xfrm>
            <a:off x="7882128" y="4110228"/>
            <a:ext cx="128016" cy="128016"/>
          </a:xfrm>
          <a:prstGeom prst="ellipse">
            <a:avLst/>
          </a:prstGeom>
          <a:solidFill>
            <a:srgbClr val="B3263B"/>
          </a:solidFill>
          <a:ln w="12700">
            <a:solidFill>
              <a:srgbClr val="B3263B"/>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B3263B"/>
                </a:solidFill>
                <a:latin typeface="Calibri" pitchFamily="34" charset="0"/>
                <a:ea typeface="Calibri" pitchFamily="34" charset="-122"/>
                <a:cs typeface="Calibri" pitchFamily="34" charset="-120"/>
              </a:rPr>
              <a:t>But the value itself is not protected.  </a:t>
            </a:r>
            <a:r>
              <a:rPr lang="en-US" sz="1050" dirty="0">
                <a:solidFill>
                  <a:srgbClr val="1F2937"/>
                </a:solidFill>
                <a:latin typeface="Calibri" pitchFamily="34" charset="0"/>
                <a:ea typeface="Calibri" pitchFamily="34" charset="-122"/>
                <a:cs typeface="Calibri" pitchFamily="34" charset="-120"/>
              </a:rPr>
              <a:t>Anyone with get secrets on the namespace has the plaintext, immediately.</a:t>
            </a:r>
            <a:endParaRPr lang="en-US" sz="1050" dirty="0"/>
          </a:p>
        </p:txBody>
      </p:sp>
      <p:sp>
        <p:nvSpPr>
          <p:cNvPr id="22" name="sdot-3"/>
          <p:cNvSpPr/>
          <p:nvPr/>
        </p:nvSpPr>
        <p:spPr>
          <a:xfrm>
            <a:off x="7882128" y="4958334"/>
            <a:ext cx="128016" cy="128016"/>
          </a:xfrm>
          <a:prstGeom prst="ellipse">
            <a:avLst/>
          </a:prstGeom>
          <a:solidFill>
            <a:srgbClr val="4C3FA3"/>
          </a:solidFill>
          <a:ln w="12700">
            <a:solidFill>
              <a:srgbClr val="4C3FA3"/>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50" b="1" dirty="0">
                <a:solidFill>
                  <a:srgbClr val="4C3FA3"/>
                </a:solidFill>
                <a:latin typeface="Calibri" pitchFamily="34" charset="0"/>
                <a:ea typeface="Calibri" pitchFamily="34" charset="-122"/>
                <a:cs typeface="Calibri" pitchFamily="34" charset="-120"/>
              </a:rPr>
              <a:t>Which makes RBAC the real control.  </a:t>
            </a:r>
            <a:r>
              <a:rPr lang="en-US" sz="1050" dirty="0">
                <a:solidFill>
                  <a:srgbClr val="1F2937"/>
                </a:solidFill>
                <a:latin typeface="Calibri" pitchFamily="34" charset="0"/>
                <a:ea typeface="Calibri" pitchFamily="34" charset="-122"/>
                <a:cs typeface="Calibri" pitchFamily="34" charset="-120"/>
              </a:rPr>
              <a:t>Everything from §04 applies directly here. get secrets is one of the most consequential verbs you can grant.</a:t>
            </a:r>
            <a:endParaRPr lang="en-US" sz="10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The decoded password appears in your terminal. No key was involved.</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SECRETS · STEP 23</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Now find it on the node's disk</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etcd stores the serialised object. The password is sitting in that file as plain text — not even base64.</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555496"/>
          </a:xfrm>
          <a:prstGeom prst="roundRect">
            <a:avLst>
              <a:gd name="adj" fmla="val 4115"/>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281176"/>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minikube ssh -p k8s-security --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"sudo grep -a -c 'S3cr3t-P@ssw0rd'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/var/lib/minikube/etcd/member/snap/db"</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see it in context</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minikube ssh -p k8s-security --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"sudo grep -a -o -m1 '.\{30\}S3cr3t-P@ssw0rd.\{15\}'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/var/lib/minikube/etcd/member/snap/db"</a:t>
            </a:r>
            <a:endParaRPr lang="en-US" sz="850" dirty="0"/>
          </a:p>
        </p:txBody>
      </p:sp>
      <p:sp>
        <p:nvSpPr>
          <p:cNvPr id="9" name="pill-bg"/>
          <p:cNvSpPr/>
          <p:nvPr/>
        </p:nvSpPr>
        <p:spPr>
          <a:xfrm>
            <a:off x="502920" y="3878072"/>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878072"/>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298696"/>
            <a:ext cx="6903720" cy="1483360"/>
          </a:xfrm>
          <a:prstGeom prst="roundRect">
            <a:avLst>
              <a:gd name="adj" fmla="val 4315"/>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435856"/>
            <a:ext cx="6574536" cy="1209040"/>
          </a:xfrm>
          <a:prstGeom prst="rect">
            <a:avLst/>
          </a:prstGeom>
          <a:noFill/>
          <a:ln/>
        </p:spPr>
        <p:txBody>
          <a:bodyPr wrap="square" lIns="0" tIns="0" rIns="0" bIns="0" rtlCol="0" anchor="t"/>
          <a:lstStyle/>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1</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k8s-security/registry/secrets/team-bravo/bravo-db</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...password S3cr3t-P@ssw0rd...</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Not base64. Plain text, in a file on the disk.</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Anyone with the node, a disk image, or an etcd</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backup has every secret in the cluster.</a:t>
            </a:r>
            <a:endParaRPr lang="en-US" sz="8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2203704" cy="310896"/>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5" name="pill-text"/>
          <p:cNvSpPr txBox="1"/>
          <p:nvPr/>
        </p:nvSpPr>
        <p:spPr>
          <a:xfrm>
            <a:off x="7863840" y="1847088"/>
            <a:ext cx="2203704"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Why plaintext, not base64</a:t>
            </a:r>
            <a:endParaRPr lang="en-US" sz="1150" dirty="0"/>
          </a:p>
        </p:txBody>
      </p:sp>
      <p:sp>
        <p:nvSpPr>
          <p:cNvPr id="16" name="sdot-0"/>
          <p:cNvSpPr/>
          <p:nvPr/>
        </p:nvSpPr>
        <p:spPr>
          <a:xfrm>
            <a:off x="7882128" y="2414016"/>
            <a:ext cx="128016" cy="128016"/>
          </a:xfrm>
          <a:prstGeom prst="ellipse">
            <a:avLst/>
          </a:prstGeom>
          <a:solidFill>
            <a:srgbClr val="B3263B"/>
          </a:solidFill>
          <a:ln w="12700">
            <a:solidFill>
              <a:srgbClr val="B3263B"/>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etcd stores serialised protobuf,  </a:t>
            </a:r>
            <a:r>
              <a:rPr lang="en-US" sz="1000" dirty="0">
                <a:solidFill>
                  <a:srgbClr val="1F2937"/>
                </a:solidFill>
                <a:latin typeface="Calibri" pitchFamily="34" charset="0"/>
                <a:ea typeface="Calibri" pitchFamily="34" charset="-122"/>
                <a:cs typeface="Calibri" pitchFamily="34" charset="-120"/>
              </a:rPr>
              <a:t>in which the data values are raw bytes. base64 only ever existed in the YAML and JSON representation.</a:t>
            </a:r>
            <a:endParaRPr lang="en-US" sz="1000" dirty="0"/>
          </a:p>
        </p:txBody>
      </p:sp>
      <p:sp>
        <p:nvSpPr>
          <p:cNvPr id="18" name="sdot-1"/>
          <p:cNvSpPr/>
          <p:nvPr/>
        </p:nvSpPr>
        <p:spPr>
          <a:xfrm>
            <a:off x="7882128" y="3262122"/>
            <a:ext cx="128016" cy="128016"/>
          </a:xfrm>
          <a:prstGeom prst="ellipse">
            <a:avLst/>
          </a:prstGeom>
          <a:solidFill>
            <a:srgbClr val="B3263B"/>
          </a:solidFill>
          <a:ln w="12700">
            <a:solidFill>
              <a:srgbClr val="B3263B"/>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B3263B"/>
                </a:solidFill>
                <a:latin typeface="Calibri" pitchFamily="34" charset="0"/>
                <a:ea typeface="Calibri" pitchFamily="34" charset="-122"/>
                <a:cs typeface="Calibri" pitchFamily="34" charset="-120"/>
              </a:rPr>
              <a:t>So your threat model is physical.  </a:t>
            </a:r>
            <a:r>
              <a:rPr lang="en-US" sz="1000" dirty="0">
                <a:solidFill>
                  <a:srgbClr val="1F2937"/>
                </a:solidFill>
                <a:latin typeface="Calibri" pitchFamily="34" charset="0"/>
                <a:ea typeface="Calibri" pitchFamily="34" charset="-122"/>
                <a:cs typeface="Calibri" pitchFamily="34" charset="-120"/>
              </a:rPr>
              <a:t>A stolen disk, an unencrypted etcd backup in object storage, a node someone got root on — in §03 that was you.</a:t>
            </a:r>
            <a:endParaRPr lang="en-US" sz="1000" dirty="0"/>
          </a:p>
        </p:txBody>
      </p:sp>
      <p:sp>
        <p:nvSpPr>
          <p:cNvPr id="20" name="sdot-2"/>
          <p:cNvSpPr/>
          <p:nvPr/>
        </p:nvSpPr>
        <p:spPr>
          <a:xfrm>
            <a:off x="7882128" y="4110228"/>
            <a:ext cx="128016" cy="128016"/>
          </a:xfrm>
          <a:prstGeom prst="ellipse">
            <a:avLst/>
          </a:prstGeom>
          <a:solidFill>
            <a:srgbClr val="9A5B0C"/>
          </a:solidFill>
          <a:ln w="12700">
            <a:solidFill>
              <a:srgbClr val="9A5B0C"/>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9A5B0C"/>
                </a:solidFill>
                <a:latin typeface="Calibri" pitchFamily="34" charset="0"/>
                <a:ea typeface="Calibri" pitchFamily="34" charset="-122"/>
                <a:cs typeface="Calibri" pitchFamily="34" charset="-120"/>
              </a:rPr>
              <a:t>Backups are the usual leak.  </a:t>
            </a:r>
            <a:r>
              <a:rPr lang="en-US" sz="1000" dirty="0">
                <a:solidFill>
                  <a:srgbClr val="1F2937"/>
                </a:solidFill>
                <a:latin typeface="Calibri" pitchFamily="34" charset="0"/>
                <a:ea typeface="Calibri" pitchFamily="34" charset="-122"/>
                <a:cs typeface="Calibri" pitchFamily="34" charset="-120"/>
              </a:rPr>
              <a:t>etcd snapshots get copied to S3 for disaster recovery and are frequently less protected than the cluster itself.</a:t>
            </a:r>
            <a:endParaRPr lang="en-US" sz="1000" dirty="0"/>
          </a:p>
        </p:txBody>
      </p:sp>
      <p:sp>
        <p:nvSpPr>
          <p:cNvPr id="22" name="sdot-3"/>
          <p:cNvSpPr/>
          <p:nvPr/>
        </p:nvSpPr>
        <p:spPr>
          <a:xfrm>
            <a:off x="7882128" y="4958334"/>
            <a:ext cx="128016" cy="128016"/>
          </a:xfrm>
          <a:prstGeom prst="ellipse">
            <a:avLst/>
          </a:prstGeom>
          <a:solidFill>
            <a:srgbClr val="0B4F5C"/>
          </a:solidFill>
          <a:ln w="12700">
            <a:solidFill>
              <a:srgbClr val="0B4F5C"/>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B4F5C"/>
                </a:solidFill>
                <a:latin typeface="Calibri" pitchFamily="34" charset="0"/>
                <a:ea typeface="Calibri" pitchFamily="34" charset="-122"/>
                <a:cs typeface="Calibri" pitchFamily="34" charset="-120"/>
              </a:rPr>
              <a:t>This is what encryption at rest fixes,  </a:t>
            </a:r>
            <a:r>
              <a:rPr lang="en-US" sz="1000" dirty="0">
                <a:solidFill>
                  <a:srgbClr val="1F2937"/>
                </a:solidFill>
                <a:latin typeface="Calibri" pitchFamily="34" charset="0"/>
                <a:ea typeface="Calibri" pitchFamily="34" charset="-122"/>
                <a:cs typeface="Calibri" pitchFamily="34" charset="-120"/>
              </a:rPr>
              <a:t>and only this. It does nothing about kubectl get secret.</a:t>
            </a:r>
            <a:endParaRPr lang="en-US" sz="100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grep returns 1 or more. The password is sitting in the etcd database file in plain text.</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SECTION 06 RECAP</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Three different problems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People reach for encryption at rest and think they are finished. It only solves the middle column.</a:t>
            </a:r>
            <a:endParaRPr lang="en-US" sz="1300" dirty="0"/>
          </a:p>
        </p:txBody>
      </p:sp>
      <p:sp>
        <p:nvSpPr>
          <p:cNvPr id="6" name="sp-0"/>
          <p:cNvSpPr/>
          <p:nvPr/>
        </p:nvSpPr>
        <p:spPr>
          <a:xfrm>
            <a:off x="502920" y="1755648"/>
            <a:ext cx="3545738" cy="4160520"/>
          </a:xfrm>
          <a:prstGeom prst="roundRect">
            <a:avLst>
              <a:gd name="adj" fmla="val 2579"/>
            </a:avLst>
          </a:prstGeom>
          <a:solidFill>
            <a:srgbClr val="FFFFFF"/>
          </a:solidFill>
          <a:ln w="12700">
            <a:solidFill>
              <a:srgbClr val="CFE3E2"/>
            </a:solidFill>
            <a:prstDash val="solid"/>
          </a:ln>
        </p:spPr>
        <p:txBody>
          <a:bodyPr/>
          <a:lstStyle/>
          <a:p>
            <a:endParaRPr lang="en-US"/>
          </a:p>
        </p:txBody>
      </p:sp>
      <p:sp>
        <p:nvSpPr>
          <p:cNvPr id="7" name="sph-0"/>
          <p:cNvSpPr/>
          <p:nvPr/>
        </p:nvSpPr>
        <p:spPr>
          <a:xfrm>
            <a:off x="502920" y="1755648"/>
            <a:ext cx="3545738" cy="713232"/>
          </a:xfrm>
          <a:prstGeom prst="roundRect">
            <a:avLst>
              <a:gd name="adj" fmla="val 12821"/>
            </a:avLst>
          </a:prstGeom>
          <a:solidFill>
            <a:srgbClr val="4C3FA3"/>
          </a:solidFill>
          <a:ln w="12700">
            <a:solidFill>
              <a:srgbClr val="4C3FA3"/>
            </a:solidFill>
            <a:prstDash val="solid"/>
          </a:ln>
        </p:spPr>
        <p:txBody>
          <a:bodyPr/>
          <a:lstStyle/>
          <a:p>
            <a:endParaRPr lang="en-US"/>
          </a:p>
        </p:txBody>
      </p:sp>
      <p:sp>
        <p:nvSpPr>
          <p:cNvPr id="8" name="Text 5"/>
          <p:cNvSpPr txBox="1"/>
          <p:nvPr/>
        </p:nvSpPr>
        <p:spPr>
          <a:xfrm>
            <a:off x="667512" y="1755648"/>
            <a:ext cx="3216554"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Arvo" pitchFamily="34" charset="0"/>
                <a:ea typeface="Arvo" pitchFamily="34" charset="-122"/>
                <a:cs typeface="Arvo" pitchFamily="34" charset="-120"/>
              </a:rPr>
              <a:t>Read through the API</a:t>
            </a:r>
            <a:endParaRPr lang="en-US" sz="1400" dirty="0"/>
          </a:p>
        </p:txBody>
      </p:sp>
      <p:sp>
        <p:nvSpPr>
          <p:cNvPr id="9" name="Text 6"/>
          <p:cNvSpPr txBox="1"/>
          <p:nvPr/>
        </p:nvSpPr>
        <p:spPr>
          <a:xfrm>
            <a:off x="685800" y="2596896"/>
            <a:ext cx="3179978" cy="603504"/>
          </a:xfrm>
          <a:prstGeom prst="rect">
            <a:avLst/>
          </a:prstGeom>
          <a:noFill/>
          <a:ln/>
        </p:spPr>
        <p:txBody>
          <a:bodyPr wrap="square" lIns="0" tIns="0" rIns="0" bIns="0" rtlCol="0" anchor="t"/>
          <a:lstStyle/>
          <a:p>
            <a:pPr marL="0" indent="0">
              <a:lnSpc>
                <a:spcPct val="112000"/>
              </a:lnSpc>
              <a:buNone/>
            </a:pPr>
            <a:r>
              <a:rPr lang="en-US" sz="1100" i="1" dirty="0">
                <a:solidFill>
                  <a:srgbClr val="4A5568"/>
                </a:solidFill>
                <a:latin typeface="Calibri" pitchFamily="34" charset="0"/>
                <a:ea typeface="Calibri" pitchFamily="34" charset="-122"/>
                <a:cs typeface="Calibri" pitchFamily="34" charset="-120"/>
              </a:rPr>
              <a:t>kubectl get secret, or a pod using its ServiceAccount token.</a:t>
            </a:r>
            <a:endParaRPr lang="en-US" sz="1100" dirty="0"/>
          </a:p>
        </p:txBody>
      </p:sp>
      <p:sp>
        <p:nvSpPr>
          <p:cNvPr id="10" name="Text 7"/>
          <p:cNvSpPr txBox="1"/>
          <p:nvPr/>
        </p:nvSpPr>
        <p:spPr>
          <a:xfrm>
            <a:off x="685800" y="3255264"/>
            <a:ext cx="3179978" cy="2514600"/>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RBAC — grant get secrets almost never.</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Admission control, because create pods lets a tenant mount a Secret and read it anyway.</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Encryption at rest does NOTHING here. The API server decrypts transparently.</a:t>
            </a:r>
            <a:endParaRPr lang="en-US" sz="1100" dirty="0"/>
          </a:p>
        </p:txBody>
      </p:sp>
      <p:sp>
        <p:nvSpPr>
          <p:cNvPr id="11" name="sp-1"/>
          <p:cNvSpPr/>
          <p:nvPr/>
        </p:nvSpPr>
        <p:spPr>
          <a:xfrm>
            <a:off x="4322978" y="1755648"/>
            <a:ext cx="3545738" cy="4160520"/>
          </a:xfrm>
          <a:prstGeom prst="roundRect">
            <a:avLst>
              <a:gd name="adj" fmla="val 2579"/>
            </a:avLst>
          </a:prstGeom>
          <a:solidFill>
            <a:srgbClr val="FFFFFF"/>
          </a:solidFill>
          <a:ln w="12700">
            <a:solidFill>
              <a:srgbClr val="CFE3E2"/>
            </a:solidFill>
            <a:prstDash val="solid"/>
          </a:ln>
        </p:spPr>
        <p:txBody>
          <a:bodyPr/>
          <a:lstStyle/>
          <a:p>
            <a:endParaRPr lang="en-US"/>
          </a:p>
        </p:txBody>
      </p:sp>
      <p:sp>
        <p:nvSpPr>
          <p:cNvPr id="12" name="sph-1"/>
          <p:cNvSpPr/>
          <p:nvPr/>
        </p:nvSpPr>
        <p:spPr>
          <a:xfrm>
            <a:off x="4322978" y="1755648"/>
            <a:ext cx="3545738" cy="713232"/>
          </a:xfrm>
          <a:prstGeom prst="roundRect">
            <a:avLst>
              <a:gd name="adj" fmla="val 12821"/>
            </a:avLst>
          </a:prstGeom>
          <a:solidFill>
            <a:srgbClr val="9A5B0C"/>
          </a:solidFill>
          <a:ln w="12700">
            <a:solidFill>
              <a:srgbClr val="9A5B0C"/>
            </a:solidFill>
            <a:prstDash val="solid"/>
          </a:ln>
        </p:spPr>
        <p:txBody>
          <a:bodyPr/>
          <a:lstStyle/>
          <a:p>
            <a:endParaRPr lang="en-US"/>
          </a:p>
        </p:txBody>
      </p:sp>
      <p:sp>
        <p:nvSpPr>
          <p:cNvPr id="13" name="Text 10"/>
          <p:cNvSpPr txBox="1"/>
          <p:nvPr/>
        </p:nvSpPr>
        <p:spPr>
          <a:xfrm>
            <a:off x="4487570" y="1755648"/>
            <a:ext cx="3216554"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Arvo" pitchFamily="34" charset="0"/>
                <a:ea typeface="Arvo" pitchFamily="34" charset="-122"/>
                <a:cs typeface="Arvo" pitchFamily="34" charset="-120"/>
              </a:rPr>
              <a:t>Read off the disk</a:t>
            </a:r>
            <a:endParaRPr lang="en-US" sz="1400" dirty="0"/>
          </a:p>
        </p:txBody>
      </p:sp>
      <p:sp>
        <p:nvSpPr>
          <p:cNvPr id="14" name="Text 11"/>
          <p:cNvSpPr txBox="1"/>
          <p:nvPr/>
        </p:nvSpPr>
        <p:spPr>
          <a:xfrm>
            <a:off x="4505858" y="2596896"/>
            <a:ext cx="3179978" cy="603504"/>
          </a:xfrm>
          <a:prstGeom prst="rect">
            <a:avLst/>
          </a:prstGeom>
          <a:noFill/>
          <a:ln/>
        </p:spPr>
        <p:txBody>
          <a:bodyPr wrap="square" lIns="0" tIns="0" rIns="0" bIns="0" rtlCol="0" anchor="t"/>
          <a:lstStyle/>
          <a:p>
            <a:pPr marL="0" indent="0">
              <a:lnSpc>
                <a:spcPct val="112000"/>
              </a:lnSpc>
              <a:buNone/>
            </a:pPr>
            <a:r>
              <a:rPr lang="en-US" sz="1100" i="1" dirty="0">
                <a:solidFill>
                  <a:srgbClr val="4A5568"/>
                </a:solidFill>
                <a:latin typeface="Calibri" pitchFamily="34" charset="0"/>
                <a:ea typeface="Calibri" pitchFamily="34" charset="-122"/>
                <a:cs typeface="Calibri" pitchFamily="34" charset="-120"/>
              </a:rPr>
              <a:t>A stolen node, a disk image, or an unencrypted etcd backup in a bucket.</a:t>
            </a:r>
            <a:endParaRPr lang="en-US" sz="1100" dirty="0"/>
          </a:p>
        </p:txBody>
      </p:sp>
      <p:sp>
        <p:nvSpPr>
          <p:cNvPr id="15" name="Text 12"/>
          <p:cNvSpPr txBox="1"/>
          <p:nvPr/>
        </p:nvSpPr>
        <p:spPr>
          <a:xfrm>
            <a:off x="4505858" y="3255264"/>
            <a:ext cx="3179978" cy="2514600"/>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Encryption at rest, with a KMS provider so the key is not sitting next to the data.</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Encrypt etcd backups too — they are the realistic leak.</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This is the only column encryption at rest solves.</a:t>
            </a:r>
            <a:endParaRPr lang="en-US" sz="1100" dirty="0"/>
          </a:p>
        </p:txBody>
      </p:sp>
      <p:sp>
        <p:nvSpPr>
          <p:cNvPr id="16" name="sp-2"/>
          <p:cNvSpPr/>
          <p:nvPr/>
        </p:nvSpPr>
        <p:spPr>
          <a:xfrm>
            <a:off x="8143037" y="1755648"/>
            <a:ext cx="3545738" cy="4160520"/>
          </a:xfrm>
          <a:prstGeom prst="roundRect">
            <a:avLst>
              <a:gd name="adj" fmla="val 2579"/>
            </a:avLst>
          </a:prstGeom>
          <a:solidFill>
            <a:srgbClr val="FFFFFF"/>
          </a:solidFill>
          <a:ln w="12700">
            <a:solidFill>
              <a:srgbClr val="CFE3E2"/>
            </a:solidFill>
            <a:prstDash val="solid"/>
          </a:ln>
        </p:spPr>
        <p:txBody>
          <a:bodyPr/>
          <a:lstStyle/>
          <a:p>
            <a:endParaRPr lang="en-US"/>
          </a:p>
        </p:txBody>
      </p:sp>
      <p:sp>
        <p:nvSpPr>
          <p:cNvPr id="17" name="sph-2"/>
          <p:cNvSpPr/>
          <p:nvPr/>
        </p:nvSpPr>
        <p:spPr>
          <a:xfrm>
            <a:off x="8143037" y="1755648"/>
            <a:ext cx="3545738" cy="713232"/>
          </a:xfrm>
          <a:prstGeom prst="roundRect">
            <a:avLst>
              <a:gd name="adj" fmla="val 12821"/>
            </a:avLst>
          </a:prstGeom>
          <a:solidFill>
            <a:srgbClr val="0F7B45"/>
          </a:solidFill>
          <a:ln w="12700">
            <a:solidFill>
              <a:srgbClr val="0F7B45"/>
            </a:solidFill>
            <a:prstDash val="solid"/>
          </a:ln>
        </p:spPr>
        <p:txBody>
          <a:bodyPr/>
          <a:lstStyle/>
          <a:p>
            <a:endParaRPr lang="en-US"/>
          </a:p>
        </p:txBody>
      </p:sp>
      <p:sp>
        <p:nvSpPr>
          <p:cNvPr id="18" name="Text 15"/>
          <p:cNvSpPr txBox="1"/>
          <p:nvPr/>
        </p:nvSpPr>
        <p:spPr>
          <a:xfrm>
            <a:off x="8307629" y="1755648"/>
            <a:ext cx="3216554"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Arvo" pitchFamily="34" charset="0"/>
                <a:ea typeface="Arvo" pitchFamily="34" charset="-122"/>
                <a:cs typeface="Arvo" pitchFamily="34" charset="-120"/>
              </a:rPr>
              <a:t>It never expires</a:t>
            </a:r>
            <a:endParaRPr lang="en-US" sz="1400" dirty="0"/>
          </a:p>
        </p:txBody>
      </p:sp>
      <p:sp>
        <p:nvSpPr>
          <p:cNvPr id="19" name="Text 16"/>
          <p:cNvSpPr txBox="1"/>
          <p:nvPr/>
        </p:nvSpPr>
        <p:spPr>
          <a:xfrm>
            <a:off x="8325917" y="2596896"/>
            <a:ext cx="3179978" cy="603504"/>
          </a:xfrm>
          <a:prstGeom prst="rect">
            <a:avLst/>
          </a:prstGeom>
          <a:noFill/>
          <a:ln/>
        </p:spPr>
        <p:txBody>
          <a:bodyPr wrap="square" lIns="0" tIns="0" rIns="0" bIns="0" rtlCol="0" anchor="t"/>
          <a:lstStyle/>
          <a:p>
            <a:pPr marL="0" indent="0">
              <a:lnSpc>
                <a:spcPct val="112000"/>
              </a:lnSpc>
              <a:buNone/>
            </a:pPr>
            <a:r>
              <a:rPr lang="en-US" sz="1100" i="1" dirty="0">
                <a:solidFill>
                  <a:srgbClr val="4A5568"/>
                </a:solidFill>
                <a:latin typeface="Calibri" pitchFamily="34" charset="0"/>
                <a:ea typeface="Calibri" pitchFamily="34" charset="-122"/>
                <a:cs typeface="Calibri" pitchFamily="34" charset="-120"/>
              </a:rPr>
              <a:t>The same password in the cluster, in CI, in Terraform state, in a .env file, never rotated.</a:t>
            </a:r>
            <a:endParaRPr lang="en-US" sz="1100" dirty="0"/>
          </a:p>
        </p:txBody>
      </p:sp>
      <p:sp>
        <p:nvSpPr>
          <p:cNvPr id="20" name="Text 17"/>
          <p:cNvSpPr txBox="1"/>
          <p:nvPr/>
        </p:nvSpPr>
        <p:spPr>
          <a:xfrm>
            <a:off x="8325917" y="3255264"/>
            <a:ext cx="3179978" cy="2514600"/>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Do not store long-lived secrets in the cluster.</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External Secrets Operator or the Secrets Store CSI driver, pulling from Vault or a cloud secret manager.</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Better: workload identity and short-lived tokens. Nothing durable to steal.</a:t>
            </a:r>
            <a:endParaRPr lang="en-US" sz="1100" dirty="0"/>
          </a:p>
        </p:txBody>
      </p:sp>
      <p:sp>
        <p:nvSpPr>
          <p:cNvPr id="21" name="Text 18"/>
          <p:cNvSpPr txBox="1"/>
          <p:nvPr/>
        </p:nvSpPr>
        <p:spPr>
          <a:xfrm>
            <a:off x="502920" y="6053328"/>
            <a:ext cx="11185855" cy="329184"/>
          </a:xfrm>
          <a:prstGeom prst="rect">
            <a:avLst/>
          </a:prstGeom>
          <a:noFill/>
          <a:ln/>
        </p:spPr>
        <p:txBody>
          <a:bodyPr wrap="square" lIns="0" tIns="0" rIns="0" bIns="0" rtlCol="0" anchor="ctr"/>
          <a:lstStyle/>
          <a:p>
            <a:pPr marL="0" indent="0" algn="ctr">
              <a:buNone/>
            </a:pPr>
            <a:r>
              <a:rPr lang="en-US" sz="1150" i="1" dirty="0">
                <a:solidFill>
                  <a:srgbClr val="1B1537"/>
                </a:solidFill>
                <a:latin typeface="Calibri" pitchFamily="34" charset="0"/>
                <a:ea typeface="Calibri" pitchFamily="34" charset="-122"/>
                <a:cs typeface="Calibri" pitchFamily="34" charset="-120"/>
              </a:rPr>
              <a:t>Quick wins you can apply today:  set automountServiceAccountToken: false  ·  never bake credentials into images  ·  prefer mounted files over environment variables  ·  rotate on a schedule.</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SECRETS · BONUS — SKIP IF SHORT ON TIME</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Encryption at rest, and its honest caveat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Two more API server flags and the grep from step 23 comes back empty. Read the caveat before you feel safe.</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862074"/>
          </a:xfrm>
          <a:prstGeom prst="roundRect">
            <a:avLst>
              <a:gd name="adj" fmla="val 3437"/>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587754"/>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stage the config, then recreate the cluster</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cp secrets/encryption-config.yaml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~/.minikube/files/etc/ssl/certs/</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minikube start -p k8s-security  ...same flags as before...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--extra-config=apiserver.encryption-provider-config=\</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/etc/ssl/certs/encryption-config.yaml</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rewrite existing secrets so they get encrypted</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get secrets -A -o json | kubectl replace -f -</a:t>
            </a:r>
            <a:endParaRPr lang="en-US" sz="850" dirty="0"/>
          </a:p>
        </p:txBody>
      </p:sp>
      <p:sp>
        <p:nvSpPr>
          <p:cNvPr id="9" name="pill-bg"/>
          <p:cNvSpPr/>
          <p:nvPr/>
        </p:nvSpPr>
        <p:spPr>
          <a:xfrm>
            <a:off x="502920" y="4184650"/>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4184650"/>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605274"/>
            <a:ext cx="6903720" cy="1339088"/>
          </a:xfrm>
          <a:prstGeom prst="roundRect">
            <a:avLst>
              <a:gd name="adj" fmla="val 4780"/>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742434"/>
            <a:ext cx="6574536" cy="1064768"/>
          </a:xfrm>
          <a:prstGeom prst="rect">
            <a:avLst/>
          </a:prstGeom>
          <a:noFill/>
          <a:ln/>
        </p:spPr>
        <p:txBody>
          <a:bodyPr wrap="square" lIns="0" tIns="0" rIns="0" bIns="0" rtlCol="0" anchor="t"/>
          <a:lstStyle/>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the grep from step 23, run again:</a:t>
            </a:r>
            <a:endParaRPr lang="en-US" sz="800" dirty="0"/>
          </a:p>
          <a:p>
            <a:pPr marL="0" indent="0">
              <a:lnSpc>
                <a:spcPct val="112000"/>
              </a:lnSpc>
              <a:buNone/>
            </a:pPr>
            <a:r>
              <a:rPr lang="en-US" sz="800" dirty="0">
                <a:solidFill>
                  <a:srgbClr val="8BE3AE"/>
                </a:solidFill>
                <a:latin typeface="Roboto Mono" pitchFamily="34" charset="0"/>
                <a:ea typeface="Roboto Mono" pitchFamily="34" charset="-122"/>
                <a:cs typeface="Roboto Mono" pitchFamily="34" charset="-120"/>
              </a:rPr>
              <a:t>0</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but through the API, nothing changed at all:</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kubectl get secret bravo-db -n team-bravo \</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-o jsonpath='{.data.password}' | base64 -d</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S3cr3t-P@ssw0rd</a:t>
            </a:r>
            <a:endParaRPr lang="en-US" sz="8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2278685" cy="310896"/>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5" name="pill-text"/>
          <p:cNvSpPr txBox="1"/>
          <p:nvPr/>
        </p:nvSpPr>
        <p:spPr>
          <a:xfrm>
            <a:off x="7863840" y="1847088"/>
            <a:ext cx="2278685"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Read this before you relax</a:t>
            </a:r>
            <a:endParaRPr lang="en-US" sz="1150" dirty="0"/>
          </a:p>
        </p:txBody>
      </p:sp>
      <p:sp>
        <p:nvSpPr>
          <p:cNvPr id="16" name="sdot-0"/>
          <p:cNvSpPr/>
          <p:nvPr/>
        </p:nvSpPr>
        <p:spPr>
          <a:xfrm>
            <a:off x="7882128" y="2414016"/>
            <a:ext cx="128016" cy="128016"/>
          </a:xfrm>
          <a:prstGeom prst="ellipse">
            <a:avLst/>
          </a:prstGeom>
          <a:solidFill>
            <a:srgbClr val="B3263B"/>
          </a:solidFill>
          <a:ln w="12700">
            <a:solidFill>
              <a:srgbClr val="B3263B"/>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B3263B"/>
                </a:solidFill>
                <a:latin typeface="Calibri" pitchFamily="34" charset="0"/>
                <a:ea typeface="Calibri" pitchFamily="34" charset="-122"/>
                <a:cs typeface="Calibri" pitchFamily="34" charset="-120"/>
              </a:rPr>
              <a:t>The key is on the same disk.  </a:t>
            </a:r>
            <a:r>
              <a:rPr lang="en-US" sz="950" dirty="0">
                <a:solidFill>
                  <a:srgbClr val="1F2937"/>
                </a:solidFill>
                <a:latin typeface="Calibri" pitchFamily="34" charset="0"/>
                <a:ea typeface="Calibri" pitchFamily="34" charset="-122"/>
                <a:cs typeface="Calibri" pitchFamily="34" charset="-120"/>
              </a:rPr>
              <a:t>We just wrote the encryption key into a file on the node, next to the data it protects. Anyone with node access has both. Production uses a KMS provider so the key lives elsewhere.</a:t>
            </a:r>
            <a:endParaRPr lang="en-US" sz="950" dirty="0"/>
          </a:p>
        </p:txBody>
      </p:sp>
      <p:sp>
        <p:nvSpPr>
          <p:cNvPr id="18" name="sdot-1"/>
          <p:cNvSpPr/>
          <p:nvPr/>
        </p:nvSpPr>
        <p:spPr>
          <a:xfrm>
            <a:off x="7882128" y="3262122"/>
            <a:ext cx="128016" cy="128016"/>
          </a:xfrm>
          <a:prstGeom prst="ellipse">
            <a:avLst/>
          </a:prstGeom>
          <a:solidFill>
            <a:srgbClr val="B3263B"/>
          </a:solidFill>
          <a:ln w="12700">
            <a:solidFill>
              <a:srgbClr val="B3263B"/>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B3263B"/>
                </a:solidFill>
                <a:latin typeface="Calibri" pitchFamily="34" charset="0"/>
                <a:ea typeface="Calibri" pitchFamily="34" charset="-122"/>
                <a:cs typeface="Calibri" pitchFamily="34" charset="-120"/>
              </a:rPr>
              <a:t>identity must stay LAST.  </a:t>
            </a:r>
            <a:r>
              <a:rPr lang="en-US" sz="950" dirty="0">
                <a:solidFill>
                  <a:srgbClr val="1F2937"/>
                </a:solidFill>
                <a:latin typeface="Calibri" pitchFamily="34" charset="0"/>
                <a:ea typeface="Calibri" pitchFamily="34" charset="-122"/>
                <a:cs typeface="Calibri" pitchFamily="34" charset="-120"/>
              </a:rPr>
              <a:t>The first provider is used for writes; identity last means old plaintext is still readable. Put identity first and you have silently disabled encryption while the config looks enabled.</a:t>
            </a:r>
            <a:endParaRPr lang="en-US" sz="950" dirty="0"/>
          </a:p>
        </p:txBody>
      </p:sp>
      <p:sp>
        <p:nvSpPr>
          <p:cNvPr id="20" name="sdot-2"/>
          <p:cNvSpPr/>
          <p:nvPr/>
        </p:nvSpPr>
        <p:spPr>
          <a:xfrm>
            <a:off x="7882128" y="4110228"/>
            <a:ext cx="128016" cy="128016"/>
          </a:xfrm>
          <a:prstGeom prst="ellipse">
            <a:avLst/>
          </a:prstGeom>
          <a:solidFill>
            <a:srgbClr val="9A5B0C"/>
          </a:solidFill>
          <a:ln w="12700">
            <a:solidFill>
              <a:srgbClr val="9A5B0C"/>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9A5B0C"/>
                </a:solidFill>
                <a:latin typeface="Calibri" pitchFamily="34" charset="0"/>
                <a:ea typeface="Calibri" pitchFamily="34" charset="-122"/>
                <a:cs typeface="Calibri" pitchFamily="34" charset="-120"/>
              </a:rPr>
              <a:t>Existing secrets stay plaintext  </a:t>
            </a:r>
            <a:r>
              <a:rPr lang="en-US" sz="950" dirty="0">
                <a:solidFill>
                  <a:srgbClr val="1F2937"/>
                </a:solidFill>
                <a:latin typeface="Calibri" pitchFamily="34" charset="0"/>
                <a:ea typeface="Calibri" pitchFamily="34" charset="-122"/>
                <a:cs typeface="Calibri" pitchFamily="34" charset="-120"/>
              </a:rPr>
              <a:t>until something rewrites them. That is what the kubectl replace line does.</a:t>
            </a:r>
            <a:endParaRPr lang="en-US" sz="950" dirty="0"/>
          </a:p>
        </p:txBody>
      </p:sp>
      <p:sp>
        <p:nvSpPr>
          <p:cNvPr id="22" name="sdot-3"/>
          <p:cNvSpPr/>
          <p:nvPr/>
        </p:nvSpPr>
        <p:spPr>
          <a:xfrm>
            <a:off x="7882128" y="4958334"/>
            <a:ext cx="128016" cy="128016"/>
          </a:xfrm>
          <a:prstGeom prst="ellipse">
            <a:avLst/>
          </a:prstGeom>
          <a:solidFill>
            <a:srgbClr val="0B4F5C"/>
          </a:solidFill>
          <a:ln w="12700">
            <a:solidFill>
              <a:srgbClr val="0B4F5C"/>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950" b="1" dirty="0">
                <a:solidFill>
                  <a:srgbClr val="0B4F5C"/>
                </a:solidFill>
                <a:latin typeface="Calibri" pitchFamily="34" charset="0"/>
                <a:ea typeface="Calibri" pitchFamily="34" charset="-122"/>
                <a:cs typeface="Calibri" pitchFamily="34" charset="-120"/>
              </a:rPr>
              <a:t>It does nothing about API access.  </a:t>
            </a:r>
            <a:r>
              <a:rPr lang="en-US" sz="950" dirty="0">
                <a:solidFill>
                  <a:srgbClr val="1F2937"/>
                </a:solidFill>
                <a:latin typeface="Calibri" pitchFamily="34" charset="0"/>
                <a:ea typeface="Calibri" pitchFamily="34" charset="-122"/>
                <a:cs typeface="Calibri" pitchFamily="34" charset="-120"/>
              </a:rPr>
              <a:t>Decryption is transparent. kubectl get secret still returns the password.</a:t>
            </a:r>
            <a:endParaRPr lang="en-US" sz="95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grep now returns 0, but kubectl still shows the password. Both of those are correct.</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07</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Audit logging</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Everything you did in the last 75 minutes was written down. Go and find it</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HOW IT WORKS</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Four levels, and first match wins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An audit policy is an ordered list of rules. The first rule that matches a request decides how much of it gets recorded — and nothing else is consulted.</a:t>
            </a:r>
            <a:endParaRPr lang="en-US" sz="1300" dirty="0"/>
          </a:p>
        </p:txBody>
      </p:sp>
      <p:sp>
        <p:nvSpPr>
          <p:cNvPr id="6" name="lvl-0"/>
          <p:cNvSpPr/>
          <p:nvPr/>
        </p:nvSpPr>
        <p:spPr>
          <a:xfrm>
            <a:off x="502920" y="1700784"/>
            <a:ext cx="2645588" cy="1700784"/>
          </a:xfrm>
          <a:prstGeom prst="roundRect">
            <a:avLst>
              <a:gd name="adj" fmla="val 5376"/>
            </a:avLst>
          </a:prstGeom>
          <a:solidFill>
            <a:srgbClr val="FFFFFF"/>
          </a:solidFill>
          <a:ln w="12700">
            <a:solidFill>
              <a:srgbClr val="CFE3E2"/>
            </a:solidFill>
            <a:prstDash val="solid"/>
          </a:ln>
        </p:spPr>
        <p:txBody>
          <a:bodyPr/>
          <a:lstStyle/>
          <a:p>
            <a:endParaRPr lang="en-US"/>
          </a:p>
        </p:txBody>
      </p:sp>
      <p:sp>
        <p:nvSpPr>
          <p:cNvPr id="7" name="Text 4"/>
          <p:cNvSpPr txBox="1"/>
          <p:nvPr/>
        </p:nvSpPr>
        <p:spPr>
          <a:xfrm>
            <a:off x="667512" y="1810512"/>
            <a:ext cx="2316404" cy="365760"/>
          </a:xfrm>
          <a:prstGeom prst="rect">
            <a:avLst/>
          </a:prstGeom>
          <a:noFill/>
          <a:ln/>
        </p:spPr>
        <p:txBody>
          <a:bodyPr wrap="square" lIns="0" tIns="0" rIns="0" bIns="0" rtlCol="0" anchor="ctr"/>
          <a:lstStyle/>
          <a:p>
            <a:pPr marL="0" indent="0">
              <a:buNone/>
            </a:pPr>
            <a:r>
              <a:rPr lang="en-US" sz="1450" b="1" dirty="0">
                <a:solidFill>
                  <a:srgbClr val="4A5568"/>
                </a:solidFill>
                <a:latin typeface="Roboto Mono" pitchFamily="34" charset="0"/>
                <a:ea typeface="Roboto Mono" pitchFamily="34" charset="-122"/>
                <a:cs typeface="Roboto Mono" pitchFamily="34" charset="-120"/>
              </a:rPr>
              <a:t>None</a:t>
            </a:r>
            <a:endParaRPr lang="en-US" sz="1450" dirty="0"/>
          </a:p>
        </p:txBody>
      </p:sp>
      <p:sp>
        <p:nvSpPr>
          <p:cNvPr id="8" name="Text 5"/>
          <p:cNvSpPr txBox="1"/>
          <p:nvPr/>
        </p:nvSpPr>
        <p:spPr>
          <a:xfrm>
            <a:off x="667512" y="2194560"/>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Nothing is recorded</a:t>
            </a:r>
            <a:endParaRPr lang="en-US" sz="1050" dirty="0"/>
          </a:p>
        </p:txBody>
      </p:sp>
      <p:sp>
        <p:nvSpPr>
          <p:cNvPr id="9" name="Text 6"/>
          <p:cNvSpPr txBox="1"/>
          <p:nvPr/>
        </p:nvSpPr>
        <p:spPr>
          <a:xfrm>
            <a:off x="667512" y="2468880"/>
            <a:ext cx="2316404" cy="868680"/>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Use it first and use it a lot: controller chatter, kubelet reads, health endpoints, leases. Without these you drown.</a:t>
            </a:r>
            <a:endParaRPr lang="en-US" sz="1050" dirty="0"/>
          </a:p>
        </p:txBody>
      </p:sp>
      <p:sp>
        <p:nvSpPr>
          <p:cNvPr id="10" name="lvl-1"/>
          <p:cNvSpPr/>
          <p:nvPr/>
        </p:nvSpPr>
        <p:spPr>
          <a:xfrm>
            <a:off x="3349676" y="1700784"/>
            <a:ext cx="2645588" cy="1700784"/>
          </a:xfrm>
          <a:prstGeom prst="roundRect">
            <a:avLst>
              <a:gd name="adj" fmla="val 5376"/>
            </a:avLst>
          </a:prstGeom>
          <a:solidFill>
            <a:srgbClr val="FFFFFF"/>
          </a:solidFill>
          <a:ln w="12700">
            <a:solidFill>
              <a:srgbClr val="CFE3E2"/>
            </a:solidFill>
            <a:prstDash val="solid"/>
          </a:ln>
        </p:spPr>
        <p:txBody>
          <a:bodyPr/>
          <a:lstStyle/>
          <a:p>
            <a:endParaRPr lang="en-US"/>
          </a:p>
        </p:txBody>
      </p:sp>
      <p:sp>
        <p:nvSpPr>
          <p:cNvPr id="11" name="Text 8"/>
          <p:cNvSpPr txBox="1"/>
          <p:nvPr/>
        </p:nvSpPr>
        <p:spPr>
          <a:xfrm>
            <a:off x="3514268" y="1810512"/>
            <a:ext cx="2316404" cy="365760"/>
          </a:xfrm>
          <a:prstGeom prst="rect">
            <a:avLst/>
          </a:prstGeom>
          <a:noFill/>
          <a:ln/>
        </p:spPr>
        <p:txBody>
          <a:bodyPr wrap="square" lIns="0" tIns="0" rIns="0" bIns="0" rtlCol="0" anchor="ctr"/>
          <a:lstStyle/>
          <a:p>
            <a:pPr marL="0" indent="0">
              <a:buNone/>
            </a:pPr>
            <a:r>
              <a:rPr lang="en-US" sz="1450" b="1" dirty="0">
                <a:solidFill>
                  <a:srgbClr val="0B4F5C"/>
                </a:solidFill>
                <a:latin typeface="Roboto Mono" pitchFamily="34" charset="0"/>
                <a:ea typeface="Roboto Mono" pitchFamily="34" charset="-122"/>
                <a:cs typeface="Roboto Mono" pitchFamily="34" charset="-120"/>
              </a:rPr>
              <a:t>Metadata</a:t>
            </a:r>
            <a:endParaRPr lang="en-US" sz="1450" dirty="0"/>
          </a:p>
        </p:txBody>
      </p:sp>
      <p:sp>
        <p:nvSpPr>
          <p:cNvPr id="12" name="Text 9"/>
          <p:cNvSpPr txBox="1"/>
          <p:nvPr/>
        </p:nvSpPr>
        <p:spPr>
          <a:xfrm>
            <a:off x="3514268" y="2194560"/>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Who, when, what, from where</a:t>
            </a:r>
            <a:endParaRPr lang="en-US" sz="1050" dirty="0"/>
          </a:p>
        </p:txBody>
      </p:sp>
      <p:sp>
        <p:nvSpPr>
          <p:cNvPr id="13" name="Text 10"/>
          <p:cNvSpPr txBox="1"/>
          <p:nvPr/>
        </p:nvSpPr>
        <p:spPr>
          <a:xfrm>
            <a:off x="3514268" y="2468880"/>
            <a:ext cx="2316404" cy="868680"/>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User, verb, resource, namespace, name, source IP, response code. No bodies. The right level for secrets.</a:t>
            </a:r>
            <a:endParaRPr lang="en-US" sz="1050" dirty="0"/>
          </a:p>
        </p:txBody>
      </p:sp>
      <p:sp>
        <p:nvSpPr>
          <p:cNvPr id="14" name="lvl-2"/>
          <p:cNvSpPr/>
          <p:nvPr/>
        </p:nvSpPr>
        <p:spPr>
          <a:xfrm>
            <a:off x="6196432" y="1700784"/>
            <a:ext cx="2645588" cy="1700784"/>
          </a:xfrm>
          <a:prstGeom prst="roundRect">
            <a:avLst>
              <a:gd name="adj" fmla="val 5376"/>
            </a:avLst>
          </a:prstGeom>
          <a:solidFill>
            <a:srgbClr val="FFFFFF"/>
          </a:solidFill>
          <a:ln w="12700">
            <a:solidFill>
              <a:srgbClr val="CFE3E2"/>
            </a:solidFill>
            <a:prstDash val="solid"/>
          </a:ln>
        </p:spPr>
        <p:txBody>
          <a:bodyPr/>
          <a:lstStyle/>
          <a:p>
            <a:endParaRPr lang="en-US"/>
          </a:p>
        </p:txBody>
      </p:sp>
      <p:sp>
        <p:nvSpPr>
          <p:cNvPr id="15" name="Text 12"/>
          <p:cNvSpPr txBox="1"/>
          <p:nvPr/>
        </p:nvSpPr>
        <p:spPr>
          <a:xfrm>
            <a:off x="6361024" y="1810512"/>
            <a:ext cx="2316404" cy="365760"/>
          </a:xfrm>
          <a:prstGeom prst="rect">
            <a:avLst/>
          </a:prstGeom>
          <a:noFill/>
          <a:ln/>
        </p:spPr>
        <p:txBody>
          <a:bodyPr wrap="square" lIns="0" tIns="0" rIns="0" bIns="0" rtlCol="0" anchor="ctr"/>
          <a:lstStyle/>
          <a:p>
            <a:pPr marL="0" indent="0">
              <a:buNone/>
            </a:pPr>
            <a:r>
              <a:rPr lang="en-US" sz="1450" b="1" dirty="0">
                <a:solidFill>
                  <a:srgbClr val="0067C0"/>
                </a:solidFill>
                <a:latin typeface="Roboto Mono" pitchFamily="34" charset="0"/>
                <a:ea typeface="Roboto Mono" pitchFamily="34" charset="-122"/>
                <a:cs typeface="Roboto Mono" pitchFamily="34" charset="-120"/>
              </a:rPr>
              <a:t>Request</a:t>
            </a:r>
            <a:endParaRPr lang="en-US" sz="1450" dirty="0"/>
          </a:p>
        </p:txBody>
      </p:sp>
      <p:sp>
        <p:nvSpPr>
          <p:cNvPr id="16" name="Text 13"/>
          <p:cNvSpPr txBox="1"/>
          <p:nvPr/>
        </p:nvSpPr>
        <p:spPr>
          <a:xfrm>
            <a:off x="6361024" y="2194560"/>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Metadata + what was sent</a:t>
            </a:r>
            <a:endParaRPr lang="en-US" sz="1050" dirty="0"/>
          </a:p>
        </p:txBody>
      </p:sp>
      <p:sp>
        <p:nvSpPr>
          <p:cNvPr id="17" name="Text 14"/>
          <p:cNvSpPr txBox="1"/>
          <p:nvPr/>
        </p:nvSpPr>
        <p:spPr>
          <a:xfrm>
            <a:off x="6361024" y="2468880"/>
            <a:ext cx="2316404" cy="868680"/>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Lets you see the submitted object. Good for mutations where the spec is the interesting part.</a:t>
            </a:r>
            <a:endParaRPr lang="en-US" sz="1050" dirty="0"/>
          </a:p>
        </p:txBody>
      </p:sp>
      <p:sp>
        <p:nvSpPr>
          <p:cNvPr id="18" name="lvl-3"/>
          <p:cNvSpPr/>
          <p:nvPr/>
        </p:nvSpPr>
        <p:spPr>
          <a:xfrm>
            <a:off x="9043187" y="1700784"/>
            <a:ext cx="2645588" cy="1700784"/>
          </a:xfrm>
          <a:prstGeom prst="roundRect">
            <a:avLst>
              <a:gd name="adj" fmla="val 5376"/>
            </a:avLst>
          </a:prstGeom>
          <a:solidFill>
            <a:srgbClr val="FFFFFF"/>
          </a:solidFill>
          <a:ln w="12700">
            <a:solidFill>
              <a:srgbClr val="CFE3E2"/>
            </a:solidFill>
            <a:prstDash val="solid"/>
          </a:ln>
        </p:spPr>
        <p:txBody>
          <a:bodyPr/>
          <a:lstStyle/>
          <a:p>
            <a:endParaRPr lang="en-US"/>
          </a:p>
        </p:txBody>
      </p:sp>
      <p:sp>
        <p:nvSpPr>
          <p:cNvPr id="19" name="Text 16"/>
          <p:cNvSpPr txBox="1"/>
          <p:nvPr/>
        </p:nvSpPr>
        <p:spPr>
          <a:xfrm>
            <a:off x="9207779" y="1810512"/>
            <a:ext cx="2316404" cy="365760"/>
          </a:xfrm>
          <a:prstGeom prst="rect">
            <a:avLst/>
          </a:prstGeom>
          <a:noFill/>
          <a:ln/>
        </p:spPr>
        <p:txBody>
          <a:bodyPr wrap="square" lIns="0" tIns="0" rIns="0" bIns="0" rtlCol="0" anchor="ctr"/>
          <a:lstStyle/>
          <a:p>
            <a:pPr marL="0" indent="0">
              <a:buNone/>
            </a:pPr>
            <a:r>
              <a:rPr lang="en-US" sz="1450" b="1" dirty="0">
                <a:solidFill>
                  <a:srgbClr val="B3263B"/>
                </a:solidFill>
                <a:latin typeface="Roboto Mono" pitchFamily="34" charset="0"/>
                <a:ea typeface="Roboto Mono" pitchFamily="34" charset="-122"/>
                <a:cs typeface="Roboto Mono" pitchFamily="34" charset="-120"/>
              </a:rPr>
              <a:t>RequestResponse</a:t>
            </a:r>
            <a:endParaRPr lang="en-US" sz="1450" dirty="0"/>
          </a:p>
        </p:txBody>
      </p:sp>
      <p:sp>
        <p:nvSpPr>
          <p:cNvPr id="20" name="Text 17"/>
          <p:cNvSpPr txBox="1"/>
          <p:nvPr/>
        </p:nvSpPr>
        <p:spPr>
          <a:xfrm>
            <a:off x="9207779" y="2194560"/>
            <a:ext cx="2316404" cy="237744"/>
          </a:xfrm>
          <a:prstGeom prst="rect">
            <a:avLst/>
          </a:prstGeom>
          <a:noFill/>
          <a:ln/>
        </p:spPr>
        <p:txBody>
          <a:bodyPr wrap="square" lIns="0" tIns="0" rIns="0" bIns="0" rtlCol="0" anchor="ctr"/>
          <a:lstStyle/>
          <a:p>
            <a:pPr marL="0" indent="0">
              <a:buNone/>
            </a:pPr>
            <a:r>
              <a:rPr lang="en-US" sz="1050" i="1" dirty="0">
                <a:solidFill>
                  <a:srgbClr val="4A5568"/>
                </a:solidFill>
                <a:latin typeface="Calibri" pitchFamily="34" charset="0"/>
                <a:ea typeface="Calibri" pitchFamily="34" charset="-122"/>
                <a:cs typeface="Calibri" pitchFamily="34" charset="-120"/>
              </a:rPr>
              <a:t>Metadata + sent and returned</a:t>
            </a:r>
            <a:endParaRPr lang="en-US" sz="1050" dirty="0"/>
          </a:p>
        </p:txBody>
      </p:sp>
      <p:sp>
        <p:nvSpPr>
          <p:cNvPr id="21" name="Text 18"/>
          <p:cNvSpPr txBox="1"/>
          <p:nvPr/>
        </p:nvSpPr>
        <p:spPr>
          <a:xfrm>
            <a:off x="9207779" y="2468880"/>
            <a:ext cx="2316404" cy="868680"/>
          </a:xfrm>
          <a:prstGeom prst="rect">
            <a:avLst/>
          </a:prstGeom>
          <a:noFill/>
          <a:ln/>
        </p:spPr>
        <p:txBody>
          <a:bodyPr wrap="square" lIns="0" tIns="0" rIns="0" bIns="0" rtlCol="0" anchor="t"/>
          <a:lstStyle/>
          <a:p>
            <a:pPr marL="0" indent="0">
              <a:lnSpc>
                <a:spcPct val="112000"/>
              </a:lnSpc>
              <a:buNone/>
            </a:pPr>
            <a:r>
              <a:rPr lang="en-US" sz="1050" dirty="0">
                <a:solidFill>
                  <a:srgbClr val="1F2937"/>
                </a:solidFill>
                <a:latin typeface="Calibri" pitchFamily="34" charset="0"/>
                <a:ea typeface="Calibri" pitchFamily="34" charset="-122"/>
                <a:cs typeface="Calibri" pitchFamily="34" charset="-120"/>
              </a:rPr>
              <a:t>The full picture. Use on pods and RBAC changes. Never on secrets — you would log the credential.</a:t>
            </a:r>
            <a:endParaRPr lang="en-US" sz="1050" dirty="0"/>
          </a:p>
        </p:txBody>
      </p:sp>
      <p:sp>
        <p:nvSpPr>
          <p:cNvPr id="22" name="pill-bg"/>
          <p:cNvSpPr/>
          <p:nvPr/>
        </p:nvSpPr>
        <p:spPr>
          <a:xfrm>
            <a:off x="502920" y="3529584"/>
            <a:ext cx="4206240" cy="310896"/>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23" name="pill-text"/>
          <p:cNvSpPr txBox="1"/>
          <p:nvPr/>
        </p:nvSpPr>
        <p:spPr>
          <a:xfrm>
            <a:off x="502920" y="3529584"/>
            <a:ext cx="42062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audit/audit-policy.yaml  ·  order is everything</a:t>
            </a:r>
            <a:endParaRPr lang="en-US" sz="1150" dirty="0"/>
          </a:p>
        </p:txBody>
      </p:sp>
      <p:sp>
        <p:nvSpPr>
          <p:cNvPr id="24" name="code-bg"/>
          <p:cNvSpPr/>
          <p:nvPr/>
        </p:nvSpPr>
        <p:spPr>
          <a:xfrm>
            <a:off x="502920" y="3950208"/>
            <a:ext cx="6766560" cy="2392274"/>
          </a:xfrm>
          <a:prstGeom prst="roundRect">
            <a:avLst>
              <a:gd name="adj" fmla="val 2676"/>
            </a:avLst>
          </a:prstGeom>
          <a:solidFill>
            <a:srgbClr val="241E4E"/>
          </a:solidFill>
          <a:ln w="12700">
            <a:solidFill>
              <a:srgbClr val="241E4E"/>
            </a:solidFill>
            <a:prstDash val="solid"/>
          </a:ln>
        </p:spPr>
        <p:txBody>
          <a:bodyPr/>
          <a:lstStyle/>
          <a:p>
            <a:endParaRPr lang="en-US"/>
          </a:p>
        </p:txBody>
      </p:sp>
      <p:sp>
        <p:nvSpPr>
          <p:cNvPr id="25" name="code-text"/>
          <p:cNvSpPr txBox="1"/>
          <p:nvPr/>
        </p:nvSpPr>
        <p:spPr>
          <a:xfrm>
            <a:off x="667512" y="4087368"/>
            <a:ext cx="6437376" cy="2117954"/>
          </a:xfrm>
          <a:prstGeom prst="rect">
            <a:avLst/>
          </a:prstGeom>
          <a:noFill/>
          <a:ln/>
        </p:spPr>
        <p:txBody>
          <a:bodyPr wrap="square" lIns="0" tIns="0" rIns="0" bIns="0" rtlCol="0" anchor="t"/>
          <a:lstStyle/>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rules:</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1. drop the noise FIRST: controllers, kubelet reads, leases</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level: None</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users: ["system:kube-controller-manager", "system:kube-scheduler"]</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2. who touched a Secret — Metadata only, never the body</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level: Metadata</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resources: [{ group: "", resources: ["secrets"] }]</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3. pods in full: image, privileged, hostPath, exec</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level: RequestResponse</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verbs: ["create","update","patch","delete"]</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resources: [{ group: "", resources: ["pods","pods/exec"] }]</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4. catch-all LAST, or unmatched requests vanish</a:t>
            </a:r>
            <a:endParaRPr lang="en-US" sz="880" dirty="0"/>
          </a:p>
          <a:p>
            <a:pPr marL="0" indent="0">
              <a:lnSpc>
                <a:spcPct val="112000"/>
              </a:lnSpc>
              <a:buNone/>
            </a:pPr>
            <a:r>
              <a:rPr lang="en-US" sz="880" dirty="0">
                <a:solidFill>
                  <a:srgbClr val="E9EDF5"/>
                </a:solidFill>
                <a:latin typeface="Roboto Mono" pitchFamily="34" charset="0"/>
                <a:ea typeface="Roboto Mono" pitchFamily="34" charset="-122"/>
                <a:cs typeface="Roboto Mono" pitchFamily="34" charset="-120"/>
              </a:rPr>
              <a:t>  - level: Metadata</a:t>
            </a:r>
            <a:endParaRPr lang="en-US" sz="880" dirty="0"/>
          </a:p>
        </p:txBody>
      </p:sp>
      <p:sp>
        <p:nvSpPr>
          <p:cNvPr id="26" name="warn-0"/>
          <p:cNvSpPr/>
          <p:nvPr/>
        </p:nvSpPr>
        <p:spPr>
          <a:xfrm>
            <a:off x="7543800" y="3950208"/>
            <a:ext cx="4144975" cy="640080"/>
          </a:xfrm>
          <a:prstGeom prst="roundRect">
            <a:avLst>
              <a:gd name="adj" fmla="val 14286"/>
            </a:avLst>
          </a:prstGeom>
          <a:solidFill>
            <a:srgbClr val="FFFFFF"/>
          </a:solidFill>
          <a:ln w="12700">
            <a:solidFill>
              <a:srgbClr val="CFE3E2"/>
            </a:solidFill>
            <a:prstDash val="solid"/>
          </a:ln>
        </p:spPr>
        <p:txBody>
          <a:bodyPr/>
          <a:lstStyle/>
          <a:p>
            <a:endParaRPr lang="en-US"/>
          </a:p>
        </p:txBody>
      </p:sp>
      <p:sp>
        <p:nvSpPr>
          <p:cNvPr id="27" name="wd-0"/>
          <p:cNvSpPr/>
          <p:nvPr/>
        </p:nvSpPr>
        <p:spPr>
          <a:xfrm>
            <a:off x="7708392" y="4206240"/>
            <a:ext cx="128016" cy="128016"/>
          </a:xfrm>
          <a:prstGeom prst="ellipse">
            <a:avLst/>
          </a:prstGeom>
          <a:solidFill>
            <a:srgbClr val="9A5B0C"/>
          </a:solidFill>
          <a:ln w="12700">
            <a:solidFill>
              <a:srgbClr val="9A5B0C"/>
            </a:solidFill>
            <a:prstDash val="solid"/>
          </a:ln>
        </p:spPr>
        <p:txBody>
          <a:bodyPr/>
          <a:lstStyle/>
          <a:p>
            <a:endParaRPr lang="en-US"/>
          </a:p>
        </p:txBody>
      </p:sp>
      <p:sp>
        <p:nvSpPr>
          <p:cNvPr id="28" name="Text 25"/>
          <p:cNvSpPr txBox="1"/>
          <p:nvPr/>
        </p:nvSpPr>
        <p:spPr>
          <a:xfrm>
            <a:off x="7927848" y="3995928"/>
            <a:ext cx="3596335" cy="548640"/>
          </a:xfrm>
          <a:prstGeom prst="rect">
            <a:avLst/>
          </a:prstGeom>
          <a:noFill/>
          <a:ln/>
        </p:spPr>
        <p:txBody>
          <a:bodyPr wrap="square" lIns="0" tIns="0" rIns="0" bIns="0" rtlCol="0" anchor="ctr"/>
          <a:lstStyle/>
          <a:p>
            <a:pPr marL="0" indent="0">
              <a:lnSpc>
                <a:spcPct val="108000"/>
              </a:lnSpc>
              <a:buNone/>
            </a:pPr>
            <a:r>
              <a:rPr lang="en-US" sz="950" b="1" dirty="0">
                <a:solidFill>
                  <a:srgbClr val="9A5B0C"/>
                </a:solidFill>
                <a:latin typeface="Calibri" pitchFamily="34" charset="0"/>
                <a:ea typeface="Calibri" pitchFamily="34" charset="-122"/>
                <a:cs typeface="Calibri" pitchFamily="34" charset="-120"/>
              </a:rPr>
              <a:t>First match wins.  </a:t>
            </a:r>
            <a:r>
              <a:rPr lang="en-US" sz="950" dirty="0">
                <a:solidFill>
                  <a:srgbClr val="1F2937"/>
                </a:solidFill>
                <a:latin typeface="Calibri" pitchFamily="34" charset="0"/>
                <a:ea typeface="Calibri" pitchFamily="34" charset="-122"/>
                <a:cs typeface="Calibri" pitchFamily="34" charset="-120"/>
              </a:rPr>
              <a:t>Rules are evaluated in order and the first match decides. Put None rules at the top, catch-all at the bottom.</a:t>
            </a:r>
            <a:endParaRPr lang="en-US" sz="950" dirty="0"/>
          </a:p>
        </p:txBody>
      </p:sp>
      <p:sp>
        <p:nvSpPr>
          <p:cNvPr id="29" name="warn-1"/>
          <p:cNvSpPr/>
          <p:nvPr/>
        </p:nvSpPr>
        <p:spPr>
          <a:xfrm>
            <a:off x="7543800" y="4681728"/>
            <a:ext cx="4144975" cy="640080"/>
          </a:xfrm>
          <a:prstGeom prst="roundRect">
            <a:avLst>
              <a:gd name="adj" fmla="val 14286"/>
            </a:avLst>
          </a:prstGeom>
          <a:solidFill>
            <a:srgbClr val="FFFFFF"/>
          </a:solidFill>
          <a:ln w="12700">
            <a:solidFill>
              <a:srgbClr val="CFE3E2"/>
            </a:solidFill>
            <a:prstDash val="solid"/>
          </a:ln>
        </p:spPr>
        <p:txBody>
          <a:bodyPr/>
          <a:lstStyle/>
          <a:p>
            <a:endParaRPr lang="en-US"/>
          </a:p>
        </p:txBody>
      </p:sp>
      <p:sp>
        <p:nvSpPr>
          <p:cNvPr id="30" name="wd-1"/>
          <p:cNvSpPr/>
          <p:nvPr/>
        </p:nvSpPr>
        <p:spPr>
          <a:xfrm>
            <a:off x="7708392" y="4937760"/>
            <a:ext cx="128016" cy="128016"/>
          </a:xfrm>
          <a:prstGeom prst="ellipse">
            <a:avLst/>
          </a:prstGeom>
          <a:solidFill>
            <a:srgbClr val="B3263B"/>
          </a:solidFill>
          <a:ln w="12700">
            <a:solidFill>
              <a:srgbClr val="B3263B"/>
            </a:solidFill>
            <a:prstDash val="solid"/>
          </a:ln>
        </p:spPr>
        <p:txBody>
          <a:bodyPr/>
          <a:lstStyle/>
          <a:p>
            <a:endParaRPr lang="en-US"/>
          </a:p>
        </p:txBody>
      </p:sp>
      <p:sp>
        <p:nvSpPr>
          <p:cNvPr id="31" name="Text 28"/>
          <p:cNvSpPr txBox="1"/>
          <p:nvPr/>
        </p:nvSpPr>
        <p:spPr>
          <a:xfrm>
            <a:off x="7927848" y="4727448"/>
            <a:ext cx="3596335" cy="548640"/>
          </a:xfrm>
          <a:prstGeom prst="rect">
            <a:avLst/>
          </a:prstGeom>
          <a:noFill/>
          <a:ln/>
        </p:spPr>
        <p:txBody>
          <a:bodyPr wrap="square" lIns="0" tIns="0" rIns="0" bIns="0" rtlCol="0" anchor="ctr"/>
          <a:lstStyle/>
          <a:p>
            <a:pPr marL="0" indent="0">
              <a:lnSpc>
                <a:spcPct val="108000"/>
              </a:lnSpc>
              <a:buNone/>
            </a:pPr>
            <a:r>
              <a:rPr lang="en-US" sz="950" b="1" dirty="0">
                <a:solidFill>
                  <a:srgbClr val="B3263B"/>
                </a:solidFill>
                <a:latin typeface="Calibri" pitchFamily="34" charset="0"/>
                <a:ea typeface="Calibri" pitchFamily="34" charset="-122"/>
                <a:cs typeface="Calibri" pitchFamily="34" charset="-120"/>
              </a:rPr>
              <a:t>No catch-all, no log.  </a:t>
            </a:r>
            <a:r>
              <a:rPr lang="en-US" sz="950" dirty="0">
                <a:solidFill>
                  <a:srgbClr val="1F2937"/>
                </a:solidFill>
                <a:latin typeface="Calibri" pitchFamily="34" charset="0"/>
                <a:ea typeface="Calibri" pitchFamily="34" charset="-122"/>
                <a:cs typeface="Calibri" pitchFamily="34" charset="-120"/>
              </a:rPr>
              <a:t>A request that matches no rule is not recorded at all. Omitting the final Metadata rule silently loses everything you did not name.</a:t>
            </a:r>
            <a:endParaRPr lang="en-US" sz="950" dirty="0"/>
          </a:p>
        </p:txBody>
      </p:sp>
      <p:sp>
        <p:nvSpPr>
          <p:cNvPr id="32" name="warn-2"/>
          <p:cNvSpPr/>
          <p:nvPr/>
        </p:nvSpPr>
        <p:spPr>
          <a:xfrm>
            <a:off x="7543800" y="5413248"/>
            <a:ext cx="4144975" cy="640080"/>
          </a:xfrm>
          <a:prstGeom prst="roundRect">
            <a:avLst>
              <a:gd name="adj" fmla="val 14286"/>
            </a:avLst>
          </a:prstGeom>
          <a:solidFill>
            <a:srgbClr val="FFFFFF"/>
          </a:solidFill>
          <a:ln w="12700">
            <a:solidFill>
              <a:srgbClr val="CFE3E2"/>
            </a:solidFill>
            <a:prstDash val="solid"/>
          </a:ln>
        </p:spPr>
        <p:txBody>
          <a:bodyPr/>
          <a:lstStyle/>
          <a:p>
            <a:endParaRPr lang="en-US"/>
          </a:p>
        </p:txBody>
      </p:sp>
      <p:sp>
        <p:nvSpPr>
          <p:cNvPr id="33" name="wd-2"/>
          <p:cNvSpPr/>
          <p:nvPr/>
        </p:nvSpPr>
        <p:spPr>
          <a:xfrm>
            <a:off x="7708392" y="5669280"/>
            <a:ext cx="128016" cy="128016"/>
          </a:xfrm>
          <a:prstGeom prst="ellipse">
            <a:avLst/>
          </a:prstGeom>
          <a:solidFill>
            <a:srgbClr val="B3263B"/>
          </a:solidFill>
          <a:ln w="12700">
            <a:solidFill>
              <a:srgbClr val="B3263B"/>
            </a:solidFill>
            <a:prstDash val="solid"/>
          </a:ln>
        </p:spPr>
        <p:txBody>
          <a:bodyPr/>
          <a:lstStyle/>
          <a:p>
            <a:endParaRPr lang="en-US"/>
          </a:p>
        </p:txBody>
      </p:sp>
      <p:sp>
        <p:nvSpPr>
          <p:cNvPr id="34" name="Text 31"/>
          <p:cNvSpPr txBox="1"/>
          <p:nvPr/>
        </p:nvSpPr>
        <p:spPr>
          <a:xfrm>
            <a:off x="7927848" y="5458968"/>
            <a:ext cx="3596335" cy="548640"/>
          </a:xfrm>
          <a:prstGeom prst="rect">
            <a:avLst/>
          </a:prstGeom>
          <a:noFill/>
          <a:ln/>
        </p:spPr>
        <p:txBody>
          <a:bodyPr wrap="square" lIns="0" tIns="0" rIns="0" bIns="0" rtlCol="0" anchor="ctr"/>
          <a:lstStyle/>
          <a:p>
            <a:pPr marL="0" indent="0">
              <a:lnSpc>
                <a:spcPct val="108000"/>
              </a:lnSpc>
              <a:buNone/>
            </a:pPr>
            <a:r>
              <a:rPr lang="en-US" sz="950" b="1" dirty="0">
                <a:solidFill>
                  <a:srgbClr val="B3263B"/>
                </a:solidFill>
                <a:latin typeface="Calibri" pitchFamily="34" charset="0"/>
                <a:ea typeface="Calibri" pitchFamily="34" charset="-122"/>
                <a:cs typeface="Calibri" pitchFamily="34" charset="-120"/>
              </a:rPr>
              <a:t>Never log secret bodies.  </a:t>
            </a:r>
            <a:r>
              <a:rPr lang="en-US" sz="950" dirty="0">
                <a:solidFill>
                  <a:srgbClr val="1F2937"/>
                </a:solidFill>
                <a:latin typeface="Calibri" pitchFamily="34" charset="0"/>
                <a:ea typeface="Calibri" pitchFamily="34" charset="-122"/>
                <a:cs typeface="Calibri" pitchFamily="34" charset="-120"/>
              </a:rPr>
              <a:t>Request or RequestResponse on secrets writes the credential into the log — and logs get shipped, indexed and widely read.</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AUDIT · STEP 24</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Find your own container escape in the log</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Because we logged pods at RequestResponse, the full spec you submitted is in there — including the line that made it dangerous.</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708785"/>
          </a:xfrm>
          <a:prstGeom prst="roundRect">
            <a:avLst>
              <a:gd name="adj" fmla="val 3746"/>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434465"/>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APISERVER=kube-apiserver-k8s-security</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kubectl logs -n kube-system $APISERVER --since=90m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 grep '"resource":"pods"' | grep '"verb":"create"'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 tail -1 \</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 jq '{user: .user.username, pod: .objectRef.name,</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priv: .requestObject.spec.containers[0]</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.securityContext.privileged,</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hostPID: .requestObject.spec.hostPID}'</a:t>
            </a:r>
            <a:endParaRPr lang="en-US" sz="850" dirty="0"/>
          </a:p>
        </p:txBody>
      </p:sp>
      <p:sp>
        <p:nvSpPr>
          <p:cNvPr id="9" name="pill-bg"/>
          <p:cNvSpPr/>
          <p:nvPr/>
        </p:nvSpPr>
        <p:spPr>
          <a:xfrm>
            <a:off x="502920" y="4031361"/>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4031361"/>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451985"/>
            <a:ext cx="6903720" cy="1483360"/>
          </a:xfrm>
          <a:prstGeom prst="roundRect">
            <a:avLst>
              <a:gd name="adj" fmla="val 4315"/>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589145"/>
            <a:ext cx="6574536" cy="1209040"/>
          </a:xfrm>
          <a:prstGeom prst="rect">
            <a:avLst/>
          </a:prstGeom>
          <a:noFill/>
          <a:ln/>
        </p:spPr>
        <p:txBody>
          <a:bodyPr wrap="square" lIns="0" tIns="0" rIns="0" bIns="0" rtlCol="0" anchor="t"/>
          <a:lstStyle/>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"user": "minikube-user",</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  "pod": "escape",</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  "priv": true,</a:t>
            </a:r>
            <a:endParaRPr lang="en-US" sz="800" dirty="0"/>
          </a:p>
          <a:p>
            <a:pPr marL="0" indent="0">
              <a:lnSpc>
                <a:spcPct val="112000"/>
              </a:lnSpc>
              <a:buNone/>
            </a:pPr>
            <a:r>
              <a:rPr lang="en-US" sz="800" dirty="0">
                <a:solidFill>
                  <a:srgbClr val="FF9BA6"/>
                </a:solidFill>
                <a:latin typeface="Roboto Mono" pitchFamily="34" charset="0"/>
                <a:ea typeface="Roboto Mono" pitchFamily="34" charset="-122"/>
                <a:cs typeface="Roboto Mono" pitchFamily="34" charset="-120"/>
              </a:rPr>
              <a:t>  "hostPID": true</a:t>
            </a: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a:t>
            </a:r>
            <a:endParaRPr lang="en-US" sz="800" dirty="0"/>
          </a:p>
          <a:p>
            <a:pPr marL="0" indent="0">
              <a:lnSpc>
                <a:spcPct val="112000"/>
              </a:lnSpc>
              <a:buNone/>
            </a:pPr>
            <a:endParaRPr lang="en-US" sz="800" dirty="0"/>
          </a:p>
          <a:p>
            <a:pPr marL="0" indent="0">
              <a:lnSpc>
                <a:spcPct val="112000"/>
              </a:lnSpc>
              <a:buNone/>
            </a:pPr>
            <a:r>
              <a:rPr lang="en-US" sz="800" dirty="0">
                <a:solidFill>
                  <a:srgbClr val="E9EDF5"/>
                </a:solidFill>
                <a:latin typeface="Roboto Mono" pitchFamily="34" charset="0"/>
                <a:ea typeface="Roboto Mono" pitchFamily="34" charset="-122"/>
                <a:cs typeface="Roboto Mono" pitchFamily="34" charset="-120"/>
              </a:rPr>
              <a:t># Your attack: attributed, timestamped, searchable.</a:t>
            </a:r>
            <a:endParaRPr lang="en-US" sz="80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828800" cy="310896"/>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15" name="pill-text"/>
          <p:cNvSpPr txBox="1"/>
          <p:nvPr/>
        </p:nvSpPr>
        <p:spPr>
          <a:xfrm>
            <a:off x="7863840" y="1847088"/>
            <a:ext cx="182880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Why you can see this</a:t>
            </a:r>
            <a:endParaRPr lang="en-US" sz="1150" dirty="0"/>
          </a:p>
        </p:txBody>
      </p:sp>
      <p:sp>
        <p:nvSpPr>
          <p:cNvPr id="16" name="sdot-0"/>
          <p:cNvSpPr/>
          <p:nvPr/>
        </p:nvSpPr>
        <p:spPr>
          <a:xfrm>
            <a:off x="7882128" y="2414016"/>
            <a:ext cx="128016" cy="128016"/>
          </a:xfrm>
          <a:prstGeom prst="ellipse">
            <a:avLst/>
          </a:prstGeom>
          <a:solidFill>
            <a:srgbClr val="0F7B45"/>
          </a:solidFill>
          <a:ln w="12700">
            <a:solidFill>
              <a:srgbClr val="0F7B45"/>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F7B45"/>
                </a:solidFill>
                <a:latin typeface="Calibri" pitchFamily="34" charset="0"/>
                <a:ea typeface="Calibri" pitchFamily="34" charset="-122"/>
                <a:cs typeface="Calibri" pitchFamily="34" charset="-120"/>
              </a:rPr>
              <a:t>The policy logs pods at RequestResponse,  </a:t>
            </a:r>
            <a:r>
              <a:rPr lang="en-US" sz="1000" dirty="0">
                <a:solidFill>
                  <a:srgbClr val="1F2937"/>
                </a:solidFill>
                <a:latin typeface="Calibri" pitchFamily="34" charset="0"/>
                <a:ea typeface="Calibri" pitchFamily="34" charset="-122"/>
                <a:cs typeface="Calibri" pitchFamily="34" charset="-120"/>
              </a:rPr>
              <a:t>so the whole submitted spec is in the record — not just the fact that a pod was made.</a:t>
            </a:r>
            <a:endParaRPr lang="en-US" sz="1000" dirty="0"/>
          </a:p>
        </p:txBody>
      </p:sp>
      <p:sp>
        <p:nvSpPr>
          <p:cNvPr id="18" name="sdot-1"/>
          <p:cNvSpPr/>
          <p:nvPr/>
        </p:nvSpPr>
        <p:spPr>
          <a:xfrm>
            <a:off x="7882128" y="3262122"/>
            <a:ext cx="128016" cy="128016"/>
          </a:xfrm>
          <a:prstGeom prst="ellipse">
            <a:avLst/>
          </a:prstGeom>
          <a:solidFill>
            <a:srgbClr val="0B4F5C"/>
          </a:solidFill>
          <a:ln w="12700">
            <a:solidFill>
              <a:srgbClr val="0B4F5C"/>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B4F5C"/>
                </a:solidFill>
                <a:latin typeface="Calibri" pitchFamily="34" charset="0"/>
                <a:ea typeface="Calibri" pitchFamily="34" charset="-122"/>
                <a:cs typeface="Calibri" pitchFamily="34" charset="-120"/>
              </a:rPr>
              <a:t>At Metadata level  </a:t>
            </a:r>
            <a:r>
              <a:rPr lang="en-US" sz="1000" dirty="0">
                <a:solidFill>
                  <a:srgbClr val="1F2937"/>
                </a:solidFill>
                <a:latin typeface="Calibri" pitchFamily="34" charset="0"/>
                <a:ea typeface="Calibri" pitchFamily="34" charset="-122"/>
                <a:cs typeface="Calibri" pitchFamily="34" charset="-120"/>
              </a:rPr>
              <a:t>you would know somebody created a pod called escape, but not that it was privileged.</a:t>
            </a:r>
            <a:endParaRPr lang="en-US" sz="1000" dirty="0"/>
          </a:p>
        </p:txBody>
      </p:sp>
      <p:sp>
        <p:nvSpPr>
          <p:cNvPr id="20" name="sdot-2"/>
          <p:cNvSpPr/>
          <p:nvPr/>
        </p:nvSpPr>
        <p:spPr>
          <a:xfrm>
            <a:off x="7882128" y="4110228"/>
            <a:ext cx="128016" cy="128016"/>
          </a:xfrm>
          <a:prstGeom prst="ellipse">
            <a:avLst/>
          </a:prstGeom>
          <a:solidFill>
            <a:srgbClr val="4C3FA3"/>
          </a:solidFill>
          <a:ln w="12700">
            <a:solidFill>
              <a:srgbClr val="4C3FA3"/>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4C3FA3"/>
                </a:solidFill>
                <a:latin typeface="Calibri" pitchFamily="34" charset="0"/>
                <a:ea typeface="Calibri" pitchFamily="34" charset="-122"/>
                <a:cs typeface="Calibri" pitchFamily="34" charset="-120"/>
              </a:rPr>
              <a:t>That is the trade-off audit policies manage:  </a:t>
            </a:r>
            <a:r>
              <a:rPr lang="en-US" sz="1000" dirty="0">
                <a:solidFill>
                  <a:srgbClr val="1F2937"/>
                </a:solidFill>
                <a:latin typeface="Calibri" pitchFamily="34" charset="0"/>
                <a:ea typeface="Calibri" pitchFamily="34" charset="-122"/>
                <a:cs typeface="Calibri" pitchFamily="34" charset="-120"/>
              </a:rPr>
              <a:t>detail versus volume. You cannot log everything at full fidelity.</a:t>
            </a:r>
            <a:endParaRPr lang="en-US" sz="1000" dirty="0"/>
          </a:p>
        </p:txBody>
      </p:sp>
      <p:sp>
        <p:nvSpPr>
          <p:cNvPr id="22" name="sdot-3"/>
          <p:cNvSpPr/>
          <p:nvPr/>
        </p:nvSpPr>
        <p:spPr>
          <a:xfrm>
            <a:off x="7882128" y="4958334"/>
            <a:ext cx="128016" cy="128016"/>
          </a:xfrm>
          <a:prstGeom prst="ellipse">
            <a:avLst/>
          </a:prstGeom>
          <a:solidFill>
            <a:srgbClr val="9A5B0C"/>
          </a:solidFill>
          <a:ln w="12700">
            <a:solidFill>
              <a:srgbClr val="9A5B0C"/>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9A5B0C"/>
                </a:solidFill>
                <a:latin typeface="Calibri" pitchFamily="34" charset="0"/>
                <a:ea typeface="Calibri" pitchFamily="34" charset="-122"/>
                <a:cs typeface="Calibri" pitchFamily="34" charset="-120"/>
              </a:rPr>
              <a:t>No jq installed?  </a:t>
            </a:r>
            <a:r>
              <a:rPr lang="en-US" sz="1000" dirty="0">
                <a:solidFill>
                  <a:srgbClr val="1F2937"/>
                </a:solidFill>
                <a:latin typeface="Calibri" pitchFamily="34" charset="0"/>
                <a:ea typeface="Calibri" pitchFamily="34" charset="-122"/>
                <a:cs typeface="Calibri" pitchFamily="34" charset="-120"/>
              </a:rPr>
              <a:t>Drop the jq and just grep for privileged — the point survives.</a:t>
            </a:r>
            <a:endParaRPr lang="en-US" sz="100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You can see your own attack pod, with privileged: true, named and attributed to you.</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AUDIT · STEP 25</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Who read the secret?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question you will actually be asked at 2am during an incident. Metadata level answers it without ever recording the value.</a:t>
            </a:r>
            <a:endParaRPr lang="en-US" sz="1300" dirty="0"/>
          </a:p>
        </p:txBody>
      </p:sp>
      <p:sp>
        <p:nvSpPr>
          <p:cNvPr id="5" name="pill-bg"/>
          <p:cNvSpPr/>
          <p:nvPr/>
        </p:nvSpPr>
        <p:spPr>
          <a:xfrm>
            <a:off x="502920" y="1664208"/>
            <a:ext cx="1188720" cy="310896"/>
          </a:xfrm>
          <a:prstGeom prst="roundRect">
            <a:avLst>
              <a:gd name="adj" fmla="val 50000"/>
            </a:avLst>
          </a:prstGeom>
          <a:solidFill>
            <a:srgbClr val="1F2A44"/>
          </a:solidFill>
          <a:ln w="12700">
            <a:solidFill>
              <a:srgbClr val="1F2A44"/>
            </a:solidFill>
            <a:prstDash val="solid"/>
          </a:ln>
        </p:spPr>
        <p:txBody>
          <a:bodyPr/>
          <a:lstStyle/>
          <a:p>
            <a:endParaRPr lang="en-US"/>
          </a:p>
        </p:txBody>
      </p:sp>
      <p:sp>
        <p:nvSpPr>
          <p:cNvPr id="6" name="pill-text"/>
          <p:cNvSpPr txBox="1"/>
          <p:nvPr/>
        </p:nvSpPr>
        <p:spPr>
          <a:xfrm>
            <a:off x="502920" y="1664208"/>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Run this</a:t>
            </a:r>
            <a:endParaRPr lang="en-US" sz="1150" dirty="0"/>
          </a:p>
        </p:txBody>
      </p:sp>
      <p:sp>
        <p:nvSpPr>
          <p:cNvPr id="7" name="code-bg"/>
          <p:cNvSpPr/>
          <p:nvPr/>
        </p:nvSpPr>
        <p:spPr>
          <a:xfrm>
            <a:off x="502920" y="2084832"/>
            <a:ext cx="6903720" cy="1465326"/>
          </a:xfrm>
          <a:prstGeom prst="roundRect">
            <a:avLst>
              <a:gd name="adj" fmla="val 4368"/>
            </a:avLst>
          </a:prstGeom>
          <a:solidFill>
            <a:srgbClr val="1B1537"/>
          </a:solidFill>
          <a:ln w="12700">
            <a:solidFill>
              <a:srgbClr val="1B1537"/>
            </a:solidFill>
            <a:prstDash val="solid"/>
          </a:ln>
        </p:spPr>
        <p:txBody>
          <a:bodyPr/>
          <a:lstStyle/>
          <a:p>
            <a:endParaRPr lang="en-US"/>
          </a:p>
        </p:txBody>
      </p:sp>
      <p:sp>
        <p:nvSpPr>
          <p:cNvPr id="8" name="code-text"/>
          <p:cNvSpPr txBox="1"/>
          <p:nvPr/>
        </p:nvSpPr>
        <p:spPr>
          <a:xfrm>
            <a:off x="667512" y="2221992"/>
            <a:ext cx="6574536" cy="1191006"/>
          </a:xfrm>
          <a:prstGeom prst="rect">
            <a:avLst/>
          </a:prstGeom>
          <a:noFill/>
          <a:ln/>
        </p:spPr>
        <p:txBody>
          <a:bodyPr wrap="square" lIns="0" tIns="0" rIns="0" bIns="0" rtlCol="0" anchor="t"/>
          <a:lstStyle/>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kubectl logs -n kube-system $APISERVER --since=90m \</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grep '"kind":"Event"' \</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grep '"resource":"secrets"' \</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tail -5 \</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 jq -c '{t: .requestReceivedTimestamp, user: .user.username,</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verb: .verb, name: .objectRef.name,</a:t>
            </a:r>
            <a:endParaRPr lang="en-US" sz="900" dirty="0"/>
          </a:p>
          <a:p>
            <a:pPr marL="0" indent="0">
              <a:lnSpc>
                <a:spcPct val="112000"/>
              </a:lnSpc>
              <a:buNone/>
            </a:pPr>
            <a:r>
              <a:rPr lang="en-US" sz="900" dirty="0">
                <a:solidFill>
                  <a:srgbClr val="E9EDF5"/>
                </a:solidFill>
                <a:latin typeface="Roboto Mono" pitchFamily="34" charset="0"/>
                <a:ea typeface="Roboto Mono" pitchFamily="34" charset="-122"/>
                <a:cs typeface="Roboto Mono" pitchFamily="34" charset="-120"/>
              </a:rPr>
              <a:t>            ns: .objectRef.namespace, code: .responseStatus.code}'</a:t>
            </a:r>
            <a:endParaRPr lang="en-US" sz="900" dirty="0"/>
          </a:p>
        </p:txBody>
      </p:sp>
      <p:sp>
        <p:nvSpPr>
          <p:cNvPr id="9" name="pill-bg"/>
          <p:cNvSpPr/>
          <p:nvPr/>
        </p:nvSpPr>
        <p:spPr>
          <a:xfrm>
            <a:off x="502920" y="3787902"/>
            <a:ext cx="1753819" cy="310896"/>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10" name="pill-text"/>
          <p:cNvSpPr txBox="1"/>
          <p:nvPr/>
        </p:nvSpPr>
        <p:spPr>
          <a:xfrm>
            <a:off x="502920" y="3787902"/>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you should see</a:t>
            </a:r>
            <a:endParaRPr lang="en-US" sz="1150" dirty="0"/>
          </a:p>
        </p:txBody>
      </p:sp>
      <p:sp>
        <p:nvSpPr>
          <p:cNvPr id="11" name="code-bg"/>
          <p:cNvSpPr/>
          <p:nvPr/>
        </p:nvSpPr>
        <p:spPr>
          <a:xfrm>
            <a:off x="502920" y="4208526"/>
            <a:ext cx="6903720" cy="1555496"/>
          </a:xfrm>
          <a:prstGeom prst="roundRect">
            <a:avLst>
              <a:gd name="adj" fmla="val 4115"/>
            </a:avLst>
          </a:prstGeom>
          <a:solidFill>
            <a:srgbClr val="0E2430"/>
          </a:solidFill>
          <a:ln w="12700">
            <a:solidFill>
              <a:srgbClr val="0E2430"/>
            </a:solidFill>
            <a:prstDash val="solid"/>
          </a:ln>
        </p:spPr>
        <p:txBody>
          <a:bodyPr/>
          <a:lstStyle/>
          <a:p>
            <a:endParaRPr lang="en-US"/>
          </a:p>
        </p:txBody>
      </p:sp>
      <p:sp>
        <p:nvSpPr>
          <p:cNvPr id="12" name="code-text"/>
          <p:cNvSpPr txBox="1"/>
          <p:nvPr/>
        </p:nvSpPr>
        <p:spPr>
          <a:xfrm>
            <a:off x="667512" y="4345686"/>
            <a:ext cx="6574536" cy="1281176"/>
          </a:xfrm>
          <a:prstGeom prst="rect">
            <a:avLst/>
          </a:prstGeom>
          <a:noFill/>
          <a:ln/>
        </p:spPr>
        <p:txBody>
          <a:bodyPr wrap="square" lIns="0" tIns="0" rIns="0" bIns="0" rtlCol="0" anchor="t"/>
          <a:lstStyle/>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{"t":"2026-10-22T18:41:07Z","user":"minikube-user",</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"verb":"get","name":"bravo-db","ns":"team-bravo","code":200}</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{"t":"2026-10-22T18:39:55Z",</a:t>
            </a: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"user":"system:serviceaccount:team-alpha:default",</a:t>
            </a:r>
            <a:endParaRPr lang="en-US" sz="850" dirty="0"/>
          </a:p>
          <a:p>
            <a:pPr marL="0" indent="0">
              <a:lnSpc>
                <a:spcPct val="112000"/>
              </a:lnSpc>
              <a:buNone/>
            </a:pPr>
            <a:r>
              <a:rPr lang="en-US" sz="850" dirty="0">
                <a:solidFill>
                  <a:srgbClr val="8BE3AE"/>
                </a:solidFill>
                <a:latin typeface="Roboto Mono" pitchFamily="34" charset="0"/>
                <a:ea typeface="Roboto Mono" pitchFamily="34" charset="-122"/>
                <a:cs typeface="Roboto Mono" pitchFamily="34" charset="-120"/>
              </a:rPr>
              <a:t> "verb":"list","ns":"team-bravo","code":403}  &lt;- denied</a:t>
            </a:r>
            <a:endParaRPr lang="en-US" sz="850" dirty="0"/>
          </a:p>
          <a:p>
            <a:pPr marL="0" indent="0">
              <a:lnSpc>
                <a:spcPct val="112000"/>
              </a:lnSpc>
              <a:buNone/>
            </a:pPr>
            <a:endParaRPr lang="en-US" sz="850" dirty="0"/>
          </a:p>
          <a:p>
            <a:pPr marL="0" indent="0">
              <a:lnSpc>
                <a:spcPct val="112000"/>
              </a:lnSpc>
              <a:buNone/>
            </a:pPr>
            <a:r>
              <a:rPr lang="en-US" sz="850" dirty="0">
                <a:solidFill>
                  <a:srgbClr val="E9EDF5"/>
                </a:solidFill>
                <a:latin typeface="Roboto Mono" pitchFamily="34" charset="0"/>
                <a:ea typeface="Roboto Mono" pitchFamily="34" charset="-122"/>
                <a:cs typeface="Roboto Mono" pitchFamily="34" charset="-120"/>
              </a:rPr>
              <a:t># No password anywhere in the log. By design.</a:t>
            </a:r>
            <a:endParaRPr lang="en-US" sz="850" dirty="0"/>
          </a:p>
        </p:txBody>
      </p:sp>
      <p:sp>
        <p:nvSpPr>
          <p:cNvPr id="13" name="side-card"/>
          <p:cNvSpPr/>
          <p:nvPr/>
        </p:nvSpPr>
        <p:spPr>
          <a:xfrm>
            <a:off x="7680960" y="1664208"/>
            <a:ext cx="4007815" cy="4215384"/>
          </a:xfrm>
          <a:prstGeom prst="roundRect">
            <a:avLst>
              <a:gd name="adj" fmla="val 2282"/>
            </a:avLst>
          </a:prstGeom>
          <a:solidFill>
            <a:srgbClr val="FFFFFF"/>
          </a:solidFill>
          <a:ln w="12700">
            <a:solidFill>
              <a:srgbClr val="CFE3E2"/>
            </a:solidFill>
            <a:prstDash val="solid"/>
          </a:ln>
        </p:spPr>
        <p:txBody>
          <a:bodyPr/>
          <a:lstStyle/>
          <a:p>
            <a:endParaRPr lang="en-US"/>
          </a:p>
        </p:txBody>
      </p:sp>
      <p:sp>
        <p:nvSpPr>
          <p:cNvPr id="14" name="pill-bg"/>
          <p:cNvSpPr/>
          <p:nvPr/>
        </p:nvSpPr>
        <p:spPr>
          <a:xfrm>
            <a:off x="7863840" y="1847088"/>
            <a:ext cx="1753819" cy="310896"/>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15" name="pill-text"/>
          <p:cNvSpPr txBox="1"/>
          <p:nvPr/>
        </p:nvSpPr>
        <p:spPr>
          <a:xfrm>
            <a:off x="7863840" y="1847088"/>
            <a:ext cx="1753819"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this gives you</a:t>
            </a:r>
            <a:endParaRPr lang="en-US" sz="1150" dirty="0"/>
          </a:p>
        </p:txBody>
      </p:sp>
      <p:sp>
        <p:nvSpPr>
          <p:cNvPr id="16" name="sdot-0"/>
          <p:cNvSpPr/>
          <p:nvPr/>
        </p:nvSpPr>
        <p:spPr>
          <a:xfrm>
            <a:off x="7882128" y="2414016"/>
            <a:ext cx="128016" cy="128016"/>
          </a:xfrm>
          <a:prstGeom prst="ellipse">
            <a:avLst/>
          </a:prstGeom>
          <a:solidFill>
            <a:srgbClr val="0F7B45"/>
          </a:solidFill>
          <a:ln w="12700">
            <a:solidFill>
              <a:srgbClr val="0F7B45"/>
            </a:solidFill>
            <a:prstDash val="solid"/>
          </a:ln>
        </p:spPr>
        <p:txBody>
          <a:bodyPr/>
          <a:lstStyle/>
          <a:p>
            <a:endParaRPr lang="en-US"/>
          </a:p>
        </p:txBody>
      </p:sp>
      <p:sp>
        <p:nvSpPr>
          <p:cNvPr id="17" name="sitem-0"/>
          <p:cNvSpPr txBox="1"/>
          <p:nvPr/>
        </p:nvSpPr>
        <p:spPr>
          <a:xfrm>
            <a:off x="8101584" y="2340864"/>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F7B45"/>
                </a:solidFill>
                <a:latin typeface="Calibri" pitchFamily="34" charset="0"/>
                <a:ea typeface="Calibri" pitchFamily="34" charset="-122"/>
                <a:cs typeface="Calibri" pitchFamily="34" charset="-120"/>
              </a:rPr>
              <a:t>Identity, time, source IP, outcome.  </a:t>
            </a:r>
            <a:r>
              <a:rPr lang="en-US" sz="1000" dirty="0">
                <a:solidFill>
                  <a:srgbClr val="1F2937"/>
                </a:solidFill>
                <a:latin typeface="Calibri" pitchFamily="34" charset="0"/>
                <a:ea typeface="Calibri" pitchFamily="34" charset="-122"/>
                <a:cs typeface="Calibri" pitchFamily="34" charset="-120"/>
              </a:rPr>
              <a:t>Enough to answer 'who read it and when' without storing the value itself.</a:t>
            </a:r>
            <a:endParaRPr lang="en-US" sz="1000" dirty="0"/>
          </a:p>
        </p:txBody>
      </p:sp>
      <p:sp>
        <p:nvSpPr>
          <p:cNvPr id="18" name="sdot-1"/>
          <p:cNvSpPr/>
          <p:nvPr/>
        </p:nvSpPr>
        <p:spPr>
          <a:xfrm>
            <a:off x="7882128" y="3262122"/>
            <a:ext cx="128016" cy="128016"/>
          </a:xfrm>
          <a:prstGeom prst="ellipse">
            <a:avLst/>
          </a:prstGeom>
          <a:solidFill>
            <a:srgbClr val="0B4F5C"/>
          </a:solidFill>
          <a:ln w="12700">
            <a:solidFill>
              <a:srgbClr val="0B4F5C"/>
            </a:solidFill>
            <a:prstDash val="solid"/>
          </a:ln>
        </p:spPr>
        <p:txBody>
          <a:bodyPr/>
          <a:lstStyle/>
          <a:p>
            <a:endParaRPr lang="en-US"/>
          </a:p>
        </p:txBody>
      </p:sp>
      <p:sp>
        <p:nvSpPr>
          <p:cNvPr id="19" name="sitem-1"/>
          <p:cNvSpPr txBox="1"/>
          <p:nvPr/>
        </p:nvSpPr>
        <p:spPr>
          <a:xfrm>
            <a:off x="8101584" y="3188970"/>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0B4F5C"/>
                </a:solidFill>
                <a:latin typeface="Calibri" pitchFamily="34" charset="0"/>
                <a:ea typeface="Calibri" pitchFamily="34" charset="-122"/>
                <a:cs typeface="Calibri" pitchFamily="34" charset="-120"/>
              </a:rPr>
              <a:t>The 403s are the interesting ones.  </a:t>
            </a:r>
            <a:r>
              <a:rPr lang="en-US" sz="1000" dirty="0">
                <a:solidFill>
                  <a:srgbClr val="1F2937"/>
                </a:solidFill>
                <a:latin typeface="Calibri" pitchFamily="34" charset="0"/>
                <a:ea typeface="Calibri" pitchFamily="34" charset="-122"/>
                <a:cs typeface="Calibri" pitchFamily="34" charset="-120"/>
              </a:rPr>
              <a:t>A burst of denials from one ServiceAccount is somebody probing. Successes are normal; patterns of failure are the signal.</a:t>
            </a:r>
            <a:endParaRPr lang="en-US" sz="1000" dirty="0"/>
          </a:p>
        </p:txBody>
      </p:sp>
      <p:sp>
        <p:nvSpPr>
          <p:cNvPr id="20" name="sdot-2"/>
          <p:cNvSpPr/>
          <p:nvPr/>
        </p:nvSpPr>
        <p:spPr>
          <a:xfrm>
            <a:off x="7882128" y="4110228"/>
            <a:ext cx="128016" cy="128016"/>
          </a:xfrm>
          <a:prstGeom prst="ellipse">
            <a:avLst/>
          </a:prstGeom>
          <a:solidFill>
            <a:srgbClr val="4C3FA3"/>
          </a:solidFill>
          <a:ln w="12700">
            <a:solidFill>
              <a:srgbClr val="4C3FA3"/>
            </a:solidFill>
            <a:prstDash val="solid"/>
          </a:ln>
        </p:spPr>
        <p:txBody>
          <a:bodyPr/>
          <a:lstStyle/>
          <a:p>
            <a:endParaRPr lang="en-US"/>
          </a:p>
        </p:txBody>
      </p:sp>
      <p:sp>
        <p:nvSpPr>
          <p:cNvPr id="21" name="sitem-2"/>
          <p:cNvSpPr txBox="1"/>
          <p:nvPr/>
        </p:nvSpPr>
        <p:spPr>
          <a:xfrm>
            <a:off x="8101584" y="4037076"/>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4C3FA3"/>
                </a:solidFill>
                <a:latin typeface="Calibri" pitchFamily="34" charset="0"/>
                <a:ea typeface="Calibri" pitchFamily="34" charset="-122"/>
                <a:cs typeface="Calibri" pitchFamily="34" charset="-120"/>
              </a:rPr>
              <a:t>Your own probe pod is in there,  </a:t>
            </a:r>
            <a:r>
              <a:rPr lang="en-US" sz="1000" dirty="0">
                <a:solidFill>
                  <a:srgbClr val="1F2937"/>
                </a:solidFill>
                <a:latin typeface="Calibri" pitchFamily="34" charset="0"/>
                <a:ea typeface="Calibri" pitchFamily="34" charset="-122"/>
                <a:cs typeface="Calibri" pitchFamily="34" charset="-120"/>
              </a:rPr>
              <a:t>from §04 step 15, denied. You generated your own detection data today.</a:t>
            </a:r>
            <a:endParaRPr lang="en-US" sz="1000" dirty="0"/>
          </a:p>
        </p:txBody>
      </p:sp>
      <p:sp>
        <p:nvSpPr>
          <p:cNvPr id="22" name="sdot-3"/>
          <p:cNvSpPr/>
          <p:nvPr/>
        </p:nvSpPr>
        <p:spPr>
          <a:xfrm>
            <a:off x="7882128" y="4958334"/>
            <a:ext cx="128016" cy="128016"/>
          </a:xfrm>
          <a:prstGeom prst="ellipse">
            <a:avLst/>
          </a:prstGeom>
          <a:solidFill>
            <a:srgbClr val="9A5B0C"/>
          </a:solidFill>
          <a:ln w="12700">
            <a:solidFill>
              <a:srgbClr val="9A5B0C"/>
            </a:solidFill>
            <a:prstDash val="solid"/>
          </a:ln>
        </p:spPr>
        <p:txBody>
          <a:bodyPr/>
          <a:lstStyle/>
          <a:p>
            <a:endParaRPr lang="en-US"/>
          </a:p>
        </p:txBody>
      </p:sp>
      <p:sp>
        <p:nvSpPr>
          <p:cNvPr id="23" name="sitem-3"/>
          <p:cNvSpPr txBox="1"/>
          <p:nvPr/>
        </p:nvSpPr>
        <p:spPr>
          <a:xfrm>
            <a:off x="8101584" y="4885182"/>
            <a:ext cx="3386023" cy="793242"/>
          </a:xfrm>
          <a:prstGeom prst="rect">
            <a:avLst/>
          </a:prstGeom>
          <a:noFill/>
          <a:ln/>
        </p:spPr>
        <p:txBody>
          <a:bodyPr wrap="square" lIns="0" tIns="0" rIns="0" bIns="0" rtlCol="0" anchor="t"/>
          <a:lstStyle/>
          <a:p>
            <a:pPr marL="0" indent="0">
              <a:lnSpc>
                <a:spcPct val="112000"/>
              </a:lnSpc>
              <a:buNone/>
            </a:pPr>
            <a:r>
              <a:rPr lang="en-US" sz="1000" b="1" dirty="0">
                <a:solidFill>
                  <a:srgbClr val="9A5B0C"/>
                </a:solidFill>
                <a:latin typeface="Calibri" pitchFamily="34" charset="0"/>
                <a:ea typeface="Calibri" pitchFamily="34" charset="-122"/>
                <a:cs typeface="Calibri" pitchFamily="34" charset="-120"/>
              </a:rPr>
              <a:t>This is what you alert on.  </a:t>
            </a:r>
            <a:r>
              <a:rPr lang="en-US" sz="1000" dirty="0">
                <a:solidFill>
                  <a:srgbClr val="1F2937"/>
                </a:solidFill>
                <a:latin typeface="Calibri" pitchFamily="34" charset="0"/>
                <a:ea typeface="Calibri" pitchFamily="34" charset="-122"/>
                <a:cs typeface="Calibri" pitchFamily="34" charset="-120"/>
              </a:rPr>
              <a:t>Not every secret read — just unusual ones: new identity, odd hour, unusual volume, repeated denials.</a:t>
            </a:r>
            <a:endParaRPr lang="en-US" sz="1000" dirty="0"/>
          </a:p>
        </p:txBody>
      </p:sp>
      <p:sp>
        <p:nvSpPr>
          <p:cNvPr id="24" name="checkpoint-bg"/>
          <p:cNvSpPr/>
          <p:nvPr/>
        </p:nvSpPr>
        <p:spPr>
          <a:xfrm>
            <a:off x="502920" y="6062472"/>
            <a:ext cx="11185855" cy="457200"/>
          </a:xfrm>
          <a:prstGeom prst="roundRect">
            <a:avLst>
              <a:gd name="adj" fmla="val 16000"/>
            </a:avLst>
          </a:prstGeom>
          <a:solidFill>
            <a:srgbClr val="E6F6EE"/>
          </a:solidFill>
          <a:ln w="12700">
            <a:solidFill>
              <a:srgbClr val="BCE3CE"/>
            </a:solidFill>
            <a:prstDash val="solid"/>
          </a:ln>
        </p:spPr>
        <p:txBody>
          <a:bodyPr/>
          <a:lstStyle/>
          <a:p>
            <a:endParaRPr lang="en-US"/>
          </a:p>
        </p:txBody>
      </p:sp>
      <p:sp>
        <p:nvSpPr>
          <p:cNvPr id="25" name="checkpoint-text"/>
          <p:cNvSpPr txBox="1"/>
          <p:nvPr/>
        </p:nvSpPr>
        <p:spPr>
          <a:xfrm>
            <a:off x="704088" y="6062472"/>
            <a:ext cx="10783519" cy="457200"/>
          </a:xfrm>
          <a:prstGeom prst="rect">
            <a:avLst/>
          </a:prstGeom>
          <a:noFill/>
          <a:ln/>
        </p:spPr>
        <p:txBody>
          <a:bodyPr wrap="square" lIns="0" tIns="0" rIns="0" bIns="0" rtlCol="0" anchor="ctr"/>
          <a:lstStyle/>
          <a:p>
            <a:pPr marL="0" indent="0">
              <a:buNone/>
            </a:pPr>
            <a:r>
              <a:rPr lang="en-US" sz="1250" b="1" dirty="0">
                <a:solidFill>
                  <a:srgbClr val="0F7B45"/>
                </a:solidFill>
                <a:latin typeface="Calibri" pitchFamily="34" charset="0"/>
                <a:ea typeface="Calibri" pitchFamily="34" charset="-122"/>
                <a:cs typeface="Calibri" pitchFamily="34" charset="-120"/>
              </a:rPr>
              <a:t>✓  Checkpoint:  </a:t>
            </a:r>
            <a:r>
              <a:rPr lang="en-US" sz="1250" dirty="0">
                <a:solidFill>
                  <a:srgbClr val="1F2937"/>
                </a:solidFill>
                <a:latin typeface="Calibri" pitchFamily="34" charset="0"/>
                <a:ea typeface="Calibri" pitchFamily="34" charset="-122"/>
                <a:cs typeface="Calibri" pitchFamily="34" charset="-120"/>
              </a:rPr>
              <a:t>You can see both a successful read and the 403 from the probe pod in §04 — and no password anywhere.</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SECTION 07 RECAP</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What this looks like when it is real</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 log nobody reads is not a control. These are the four things that turn it into one.</a:t>
            </a:r>
            <a:endParaRPr lang="en-US" sz="1300" dirty="0"/>
          </a:p>
        </p:txBody>
      </p:sp>
      <p:sp>
        <p:nvSpPr>
          <p:cNvPr id="6" name="grid-card-0"/>
          <p:cNvSpPr/>
          <p:nvPr/>
        </p:nvSpPr>
        <p:spPr>
          <a:xfrm>
            <a:off x="502920" y="1664208"/>
            <a:ext cx="2645588" cy="2743200"/>
          </a:xfrm>
          <a:prstGeom prst="roundRect">
            <a:avLst>
              <a:gd name="adj" fmla="val 3456"/>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8" name="gh-0"/>
          <p:cNvSpPr txBox="1"/>
          <p:nvPr/>
        </p:nvSpPr>
        <p:spPr>
          <a:xfrm>
            <a:off x="932688" y="1810512"/>
            <a:ext cx="2032940"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Ship it off the node</a:t>
            </a:r>
            <a:endParaRPr lang="en-US" sz="1300" dirty="0"/>
          </a:p>
        </p:txBody>
      </p:sp>
      <p:sp>
        <p:nvSpPr>
          <p:cNvPr id="9" name="gb-0"/>
          <p:cNvSpPr txBox="1"/>
          <p:nvPr/>
        </p:nvSpPr>
        <p:spPr>
          <a:xfrm>
            <a:off x="685800" y="2176272"/>
            <a:ext cx="2279828" cy="2084832"/>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An attacker with root on the node can delete the log that records them getting root on the node — and you did exactly that today.</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Stream it to a SIEM or write-once storage the cluster's own credentials cannot reach.</a:t>
            </a:r>
            <a:endParaRPr lang="en-US" sz="1100" dirty="0"/>
          </a:p>
        </p:txBody>
      </p:sp>
      <p:sp>
        <p:nvSpPr>
          <p:cNvPr id="10" name="grid-card-1"/>
          <p:cNvSpPr/>
          <p:nvPr/>
        </p:nvSpPr>
        <p:spPr>
          <a:xfrm>
            <a:off x="3349676" y="1664208"/>
            <a:ext cx="2645588" cy="2743200"/>
          </a:xfrm>
          <a:prstGeom prst="roundRect">
            <a:avLst>
              <a:gd name="adj" fmla="val 3456"/>
            </a:avLst>
          </a:prstGeom>
          <a:solidFill>
            <a:srgbClr val="FFFFFF"/>
          </a:solidFill>
          <a:ln w="12700">
            <a:solidFill>
              <a:srgbClr val="CFE3E2"/>
            </a:solidFill>
            <a:prstDash val="solid"/>
          </a:ln>
        </p:spPr>
        <p:txBody>
          <a:bodyPr/>
          <a:lstStyle/>
          <a:p>
            <a:endParaRPr lang="en-US"/>
          </a:p>
        </p:txBody>
      </p:sp>
      <p:sp>
        <p:nvSpPr>
          <p:cNvPr id="11" name="dot-1"/>
          <p:cNvSpPr/>
          <p:nvPr/>
        </p:nvSpPr>
        <p:spPr>
          <a:xfrm>
            <a:off x="3532556" y="1883664"/>
            <a:ext cx="155448" cy="155448"/>
          </a:xfrm>
          <a:prstGeom prst="ellipse">
            <a:avLst/>
          </a:prstGeom>
          <a:solidFill>
            <a:srgbClr val="9A5B0C"/>
          </a:solidFill>
          <a:ln w="12700">
            <a:solidFill>
              <a:srgbClr val="9A5B0C"/>
            </a:solidFill>
            <a:prstDash val="solid"/>
          </a:ln>
        </p:spPr>
        <p:txBody>
          <a:bodyPr/>
          <a:lstStyle/>
          <a:p>
            <a:endParaRPr lang="en-US"/>
          </a:p>
        </p:txBody>
      </p:sp>
      <p:sp>
        <p:nvSpPr>
          <p:cNvPr id="12" name="gh-1"/>
          <p:cNvSpPr txBox="1"/>
          <p:nvPr/>
        </p:nvSpPr>
        <p:spPr>
          <a:xfrm>
            <a:off x="3779444" y="1810512"/>
            <a:ext cx="2032940"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Alert on four things</a:t>
            </a:r>
            <a:endParaRPr lang="en-US" sz="1300" dirty="0"/>
          </a:p>
        </p:txBody>
      </p:sp>
      <p:sp>
        <p:nvSpPr>
          <p:cNvPr id="13" name="gb-1"/>
          <p:cNvSpPr txBox="1"/>
          <p:nvPr/>
        </p:nvSpPr>
        <p:spPr>
          <a:xfrm>
            <a:off x="3532556" y="2176272"/>
            <a:ext cx="2279828" cy="2084832"/>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exec into a production pod · any change to ClusterRoleBindings · successful anonymous requests · a spike in 403s from one identity.</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Alerts that fire constantly get muted, and then you have none.</a:t>
            </a:r>
            <a:endParaRPr lang="en-US" sz="1100" dirty="0"/>
          </a:p>
        </p:txBody>
      </p:sp>
      <p:sp>
        <p:nvSpPr>
          <p:cNvPr id="14" name="grid-card-2"/>
          <p:cNvSpPr/>
          <p:nvPr/>
        </p:nvSpPr>
        <p:spPr>
          <a:xfrm>
            <a:off x="6196432" y="1664208"/>
            <a:ext cx="2645588" cy="2743200"/>
          </a:xfrm>
          <a:prstGeom prst="roundRect">
            <a:avLst>
              <a:gd name="adj" fmla="val 3456"/>
            </a:avLst>
          </a:prstGeom>
          <a:solidFill>
            <a:srgbClr val="FFFFFF"/>
          </a:solidFill>
          <a:ln w="12700">
            <a:solidFill>
              <a:srgbClr val="CFE3E2"/>
            </a:solidFill>
            <a:prstDash val="solid"/>
          </a:ln>
        </p:spPr>
        <p:txBody>
          <a:bodyPr/>
          <a:lstStyle/>
          <a:p>
            <a:endParaRPr lang="en-US"/>
          </a:p>
        </p:txBody>
      </p:sp>
      <p:sp>
        <p:nvSpPr>
          <p:cNvPr id="15" name="dot-2"/>
          <p:cNvSpPr/>
          <p:nvPr/>
        </p:nvSpPr>
        <p:spPr>
          <a:xfrm>
            <a:off x="6379312" y="1883664"/>
            <a:ext cx="155448" cy="155448"/>
          </a:xfrm>
          <a:prstGeom prst="ellipse">
            <a:avLst/>
          </a:prstGeom>
          <a:solidFill>
            <a:srgbClr val="4C3FA3"/>
          </a:solidFill>
          <a:ln w="12700">
            <a:solidFill>
              <a:srgbClr val="4C3FA3"/>
            </a:solidFill>
            <a:prstDash val="solid"/>
          </a:ln>
        </p:spPr>
        <p:txBody>
          <a:bodyPr/>
          <a:lstStyle/>
          <a:p>
            <a:endParaRPr lang="en-US"/>
          </a:p>
        </p:txBody>
      </p:sp>
      <p:sp>
        <p:nvSpPr>
          <p:cNvPr id="16" name="gh-2"/>
          <p:cNvSpPr txBox="1"/>
          <p:nvPr/>
        </p:nvSpPr>
        <p:spPr>
          <a:xfrm>
            <a:off x="6626200" y="1810512"/>
            <a:ext cx="2032940" cy="310896"/>
          </a:xfrm>
          <a:prstGeom prst="rect">
            <a:avLst/>
          </a:prstGeom>
          <a:noFill/>
          <a:ln/>
        </p:spPr>
        <p:txBody>
          <a:bodyPr wrap="square" lIns="0" tIns="0" rIns="0" bIns="0" rtlCol="0" anchor="t"/>
          <a:lstStyle/>
          <a:p>
            <a:pPr marL="0" indent="0">
              <a:buNone/>
            </a:pPr>
            <a:r>
              <a:rPr lang="en-US" sz="1300" b="1" dirty="0">
                <a:solidFill>
                  <a:srgbClr val="4C3FA3"/>
                </a:solidFill>
                <a:latin typeface="Calibri" pitchFamily="34" charset="0"/>
                <a:ea typeface="Calibri" pitchFamily="34" charset="-122"/>
                <a:cs typeface="Calibri" pitchFamily="34" charset="-120"/>
              </a:rPr>
              <a:t>Not runtime detection</a:t>
            </a:r>
            <a:endParaRPr lang="en-US" sz="1300" dirty="0"/>
          </a:p>
        </p:txBody>
      </p:sp>
      <p:sp>
        <p:nvSpPr>
          <p:cNvPr id="17" name="gb-2"/>
          <p:cNvSpPr txBox="1"/>
          <p:nvPr/>
        </p:nvSpPr>
        <p:spPr>
          <a:xfrm>
            <a:off x="6379312" y="2176272"/>
            <a:ext cx="2279828" cy="2084832"/>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The audit log only sees the Kubernetes API. A reverse shell inside a container never touches the API server, so it never appears here.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Falco or Tetragon watch syscalls. You need both layers.</a:t>
            </a:r>
            <a:endParaRPr lang="en-US" sz="1100" dirty="0"/>
          </a:p>
        </p:txBody>
      </p:sp>
      <p:sp>
        <p:nvSpPr>
          <p:cNvPr id="18" name="grid-card-3"/>
          <p:cNvSpPr/>
          <p:nvPr/>
        </p:nvSpPr>
        <p:spPr>
          <a:xfrm>
            <a:off x="9043187" y="1664208"/>
            <a:ext cx="2645588" cy="2743200"/>
          </a:xfrm>
          <a:prstGeom prst="roundRect">
            <a:avLst>
              <a:gd name="adj" fmla="val 3456"/>
            </a:avLst>
          </a:prstGeom>
          <a:solidFill>
            <a:srgbClr val="FFFFFF"/>
          </a:solidFill>
          <a:ln w="12700">
            <a:solidFill>
              <a:srgbClr val="CFE3E2"/>
            </a:solidFill>
            <a:prstDash val="solid"/>
          </a:ln>
        </p:spPr>
        <p:txBody>
          <a:bodyPr/>
          <a:lstStyle/>
          <a:p>
            <a:endParaRPr lang="en-US"/>
          </a:p>
        </p:txBody>
      </p:sp>
      <p:sp>
        <p:nvSpPr>
          <p:cNvPr id="19" name="dot-3"/>
          <p:cNvSpPr/>
          <p:nvPr/>
        </p:nvSpPr>
        <p:spPr>
          <a:xfrm>
            <a:off x="9226067" y="1883664"/>
            <a:ext cx="155448" cy="155448"/>
          </a:xfrm>
          <a:prstGeom prst="ellipse">
            <a:avLst/>
          </a:prstGeom>
          <a:solidFill>
            <a:srgbClr val="0B4F5C"/>
          </a:solidFill>
          <a:ln w="12700">
            <a:solidFill>
              <a:srgbClr val="0B4F5C"/>
            </a:solidFill>
            <a:prstDash val="solid"/>
          </a:ln>
        </p:spPr>
        <p:txBody>
          <a:bodyPr/>
          <a:lstStyle/>
          <a:p>
            <a:endParaRPr lang="en-US"/>
          </a:p>
        </p:txBody>
      </p:sp>
      <p:sp>
        <p:nvSpPr>
          <p:cNvPr id="20" name="gh-3"/>
          <p:cNvSpPr txBox="1"/>
          <p:nvPr/>
        </p:nvSpPr>
        <p:spPr>
          <a:xfrm>
            <a:off x="9472955" y="1810512"/>
            <a:ext cx="2032940"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Keep it for a year</a:t>
            </a:r>
            <a:endParaRPr lang="en-US" sz="1300" dirty="0"/>
          </a:p>
        </p:txBody>
      </p:sp>
      <p:sp>
        <p:nvSpPr>
          <p:cNvPr id="21" name="gb-3"/>
          <p:cNvSpPr txBox="1"/>
          <p:nvPr/>
        </p:nvSpPr>
        <p:spPr>
          <a:xfrm>
            <a:off x="9226067" y="2176272"/>
            <a:ext cx="2279828" cy="2084832"/>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Breaches are typically found months after they start. Thirty days of retention often means the answer is simply gone.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Aim for a year on control-plane audit.</a:t>
            </a:r>
            <a:endParaRPr lang="en-US" sz="1100" dirty="0"/>
          </a:p>
        </p:txBody>
      </p:sp>
      <p:sp>
        <p:nvSpPr>
          <p:cNvPr id="22" name="cloud-note"/>
          <p:cNvSpPr/>
          <p:nvPr/>
        </p:nvSpPr>
        <p:spPr>
          <a:xfrm>
            <a:off x="502920" y="4709160"/>
            <a:ext cx="11185855" cy="868680"/>
          </a:xfrm>
          <a:prstGeom prst="roundRect">
            <a:avLst>
              <a:gd name="adj" fmla="val 10526"/>
            </a:avLst>
          </a:prstGeom>
          <a:solidFill>
            <a:srgbClr val="E6F6EE"/>
          </a:solidFill>
          <a:ln w="12700">
            <a:solidFill>
              <a:srgbClr val="BCE3CE"/>
            </a:solidFill>
            <a:prstDash val="solid"/>
          </a:ln>
        </p:spPr>
        <p:txBody>
          <a:bodyPr/>
          <a:lstStyle/>
          <a:p>
            <a:endParaRPr lang="en-US"/>
          </a:p>
        </p:txBody>
      </p:sp>
      <p:sp>
        <p:nvSpPr>
          <p:cNvPr id="23" name="Text 20"/>
          <p:cNvSpPr txBox="1"/>
          <p:nvPr/>
        </p:nvSpPr>
        <p:spPr>
          <a:xfrm>
            <a:off x="758952" y="4709160"/>
            <a:ext cx="10673791" cy="868680"/>
          </a:xfrm>
          <a:prstGeom prst="rect">
            <a:avLst/>
          </a:prstGeom>
          <a:noFill/>
          <a:ln/>
        </p:spPr>
        <p:txBody>
          <a:bodyPr wrap="square" lIns="0" tIns="0" rIns="0" bIns="0" rtlCol="0" anchor="ctr"/>
          <a:lstStyle/>
          <a:p>
            <a:pPr marL="0" indent="0">
              <a:lnSpc>
                <a:spcPct val="114000"/>
              </a:lnSpc>
              <a:buNone/>
            </a:pPr>
            <a:r>
              <a:rPr lang="en-US" sz="1200" b="1" dirty="0">
                <a:solidFill>
                  <a:srgbClr val="0F7B45"/>
                </a:solidFill>
                <a:latin typeface="Calibri" pitchFamily="34" charset="0"/>
                <a:ea typeface="Calibri" pitchFamily="34" charset="-122"/>
                <a:cs typeface="Calibri" pitchFamily="34" charset="-120"/>
              </a:rPr>
              <a:t>In the cloud:  </a:t>
            </a:r>
            <a:r>
              <a:rPr lang="en-US" sz="1200" dirty="0">
                <a:solidFill>
                  <a:srgbClr val="1F2937"/>
                </a:solidFill>
                <a:latin typeface="Calibri" pitchFamily="34" charset="0"/>
                <a:ea typeface="Calibri" pitchFamily="34" charset="-122"/>
                <a:cs typeface="Calibri" pitchFamily="34" charset="-120"/>
              </a:rPr>
              <a:t>EKS, GKE and AKS all offer managed control-plane audit logging that streams into CloudWatch, Cloud Logging or Azure Monitor — no policy file to stage and no API server flags to set. On EKS it is off by default and somebody has to turn it on. Checking whether it is enabled is a genuinely useful thing to do in your first week on a platform team.</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640080" y="1783080"/>
            <a:ext cx="10908792" cy="1371600"/>
          </a:xfrm>
          <a:prstGeom prst="rect">
            <a:avLst/>
          </a:prstGeom>
          <a:noFill/>
          <a:ln/>
        </p:spPr>
        <p:txBody>
          <a:bodyPr wrap="square" lIns="0" tIns="0" rIns="0" bIns="0" rtlCol="0" anchor="ctr"/>
          <a:lstStyle/>
          <a:p>
            <a:pPr marL="0" indent="0" algn="ctr">
              <a:buNone/>
            </a:pPr>
            <a:r>
              <a:rPr lang="en-US" sz="9600" b="1" dirty="0">
                <a:solidFill>
                  <a:srgbClr val="A9A2D8"/>
                </a:solidFill>
                <a:latin typeface="Arvo" pitchFamily="34" charset="0"/>
                <a:ea typeface="Arvo" pitchFamily="34" charset="-122"/>
                <a:cs typeface="Arvo" pitchFamily="34" charset="-120"/>
              </a:rPr>
              <a:t>08</a:t>
            </a:r>
            <a:endParaRPr lang="en-US" sz="9600" dirty="0"/>
          </a:p>
        </p:txBody>
      </p:sp>
      <p:sp>
        <p:nvSpPr>
          <p:cNvPr id="3" name="Text 1"/>
          <p:cNvSpPr txBox="1"/>
          <p:nvPr/>
        </p:nvSpPr>
        <p:spPr>
          <a:xfrm>
            <a:off x="640080" y="3154680"/>
            <a:ext cx="10908792" cy="713232"/>
          </a:xfrm>
          <a:prstGeom prst="rect">
            <a:avLst/>
          </a:prstGeom>
          <a:noFill/>
          <a:ln/>
        </p:spPr>
        <p:txBody>
          <a:bodyPr wrap="square" lIns="0" tIns="0" rIns="0" bIns="0" rtlCol="0" anchor="ctr"/>
          <a:lstStyle/>
          <a:p>
            <a:pPr marL="0" indent="0" algn="ctr">
              <a:buNone/>
            </a:pPr>
            <a:r>
              <a:rPr lang="en-US" sz="3800" b="1" dirty="0">
                <a:solidFill>
                  <a:srgbClr val="FFFFFF"/>
                </a:solidFill>
                <a:latin typeface="Arvo" pitchFamily="34" charset="0"/>
                <a:ea typeface="Arvo" pitchFamily="34" charset="-122"/>
                <a:cs typeface="Arvo" pitchFamily="34" charset="-120"/>
              </a:rPr>
              <a:t>Wrap-up</a:t>
            </a:r>
            <a:endParaRPr lang="en-US" sz="3800" dirty="0"/>
          </a:p>
        </p:txBody>
      </p:sp>
      <p:sp>
        <p:nvSpPr>
          <p:cNvPr id="4" name="Text 2"/>
          <p:cNvSpPr txBox="1"/>
          <p:nvPr/>
        </p:nvSpPr>
        <p:spPr>
          <a:xfrm>
            <a:off x="1645920" y="3931920"/>
            <a:ext cx="8897112" cy="365760"/>
          </a:xfrm>
          <a:prstGeom prst="rect">
            <a:avLst/>
          </a:prstGeom>
          <a:noFill/>
          <a:ln/>
        </p:spPr>
        <p:txBody>
          <a:bodyPr wrap="square" lIns="0" tIns="0" rIns="0" bIns="0" rtlCol="0" anchor="ctr"/>
          <a:lstStyle/>
          <a:p>
            <a:pPr marL="0" indent="0" algn="ctr">
              <a:buNone/>
            </a:pPr>
            <a:r>
              <a:rPr lang="en-US" sz="1400" dirty="0">
                <a:solidFill>
                  <a:srgbClr val="D8D2F0"/>
                </a:solidFill>
                <a:latin typeface="Calibri" pitchFamily="34" charset="0"/>
                <a:ea typeface="Calibri" pitchFamily="34" charset="-122"/>
                <a:cs typeface="Calibri" pitchFamily="34" charset="-120"/>
              </a:rPr>
              <a:t>What you just did, what breaks, and where to go next</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TODAY → INDUSTRY</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Everything you typed has a real equivalent</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Same ideas, same commands, bigger cluster. This is the actual job description of a platform security engineer.</a:t>
            </a:r>
            <a:endParaRPr lang="en-US" sz="1300" dirty="0"/>
          </a:p>
        </p:txBody>
      </p:sp>
      <p:sp>
        <p:nvSpPr>
          <p:cNvPr id="6" name="hdr"/>
          <p:cNvSpPr/>
          <p:nvPr/>
        </p:nvSpPr>
        <p:spPr>
          <a:xfrm>
            <a:off x="502920" y="1664208"/>
            <a:ext cx="11185855" cy="347472"/>
          </a:xfrm>
          <a:prstGeom prst="roundRect">
            <a:avLst>
              <a:gd name="adj" fmla="val 26316"/>
            </a:avLst>
          </a:prstGeom>
          <a:solidFill>
            <a:srgbClr val="E8F3F2"/>
          </a:solidFill>
          <a:ln w="12700">
            <a:solidFill>
              <a:srgbClr val="CFE3E2"/>
            </a:solidFill>
            <a:prstDash val="solid"/>
          </a:ln>
        </p:spPr>
        <p:txBody>
          <a:bodyPr/>
          <a:lstStyle/>
          <a:p>
            <a:endParaRPr lang="en-US"/>
          </a:p>
        </p:txBody>
      </p:sp>
      <p:sp>
        <p:nvSpPr>
          <p:cNvPr id="7" name="Text 4"/>
          <p:cNvSpPr txBox="1"/>
          <p:nvPr/>
        </p:nvSpPr>
        <p:spPr>
          <a:xfrm>
            <a:off x="758952" y="1664208"/>
            <a:ext cx="5120640" cy="347472"/>
          </a:xfrm>
          <a:prstGeom prst="rect">
            <a:avLst/>
          </a:prstGeom>
          <a:noFill/>
          <a:ln/>
        </p:spPr>
        <p:txBody>
          <a:bodyPr wrap="square" lIns="0" tIns="0" rIns="0" bIns="0" rtlCol="0" anchor="ctr"/>
          <a:lstStyle/>
          <a:p>
            <a:pPr marL="0" indent="0">
              <a:buNone/>
            </a:pPr>
            <a:r>
              <a:rPr lang="en-US" sz="1100" b="1" kern="0" spc="100" dirty="0">
                <a:solidFill>
                  <a:srgbClr val="0B4F5C"/>
                </a:solidFill>
                <a:latin typeface="Calibri" pitchFamily="34" charset="0"/>
                <a:ea typeface="Calibri" pitchFamily="34" charset="-122"/>
                <a:cs typeface="Calibri" pitchFamily="34" charset="-120"/>
              </a:rPr>
              <a:t>Today, on your laptop</a:t>
            </a:r>
            <a:endParaRPr lang="en-US" sz="1100" dirty="0"/>
          </a:p>
        </p:txBody>
      </p:sp>
      <p:sp>
        <p:nvSpPr>
          <p:cNvPr id="8" name="Text 5"/>
          <p:cNvSpPr txBox="1"/>
          <p:nvPr/>
        </p:nvSpPr>
        <p:spPr>
          <a:xfrm>
            <a:off x="6263640" y="1664208"/>
            <a:ext cx="5120640" cy="347472"/>
          </a:xfrm>
          <a:prstGeom prst="rect">
            <a:avLst/>
          </a:prstGeom>
          <a:noFill/>
          <a:ln/>
        </p:spPr>
        <p:txBody>
          <a:bodyPr wrap="square" lIns="0" tIns="0" rIns="0" bIns="0" rtlCol="0" anchor="ctr"/>
          <a:lstStyle/>
          <a:p>
            <a:pPr marL="0" indent="0">
              <a:buNone/>
            </a:pPr>
            <a:r>
              <a:rPr lang="en-US" sz="1100" b="1" kern="0" spc="100" dirty="0">
                <a:solidFill>
                  <a:srgbClr val="0B4F5C"/>
                </a:solidFill>
                <a:latin typeface="Calibri" pitchFamily="34" charset="0"/>
                <a:ea typeface="Calibri" pitchFamily="34" charset="-122"/>
                <a:cs typeface="Calibri" pitchFamily="34" charset="-120"/>
              </a:rPr>
              <a:t>In a real company</a:t>
            </a:r>
            <a:endParaRPr lang="en-US" sz="1100" dirty="0"/>
          </a:p>
        </p:txBody>
      </p:sp>
      <p:sp>
        <p:nvSpPr>
          <p:cNvPr id="9" name="ti-0"/>
          <p:cNvSpPr/>
          <p:nvPr/>
        </p:nvSpPr>
        <p:spPr>
          <a:xfrm>
            <a:off x="502920" y="2048256"/>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10" name="tib-0"/>
          <p:cNvSpPr/>
          <p:nvPr/>
        </p:nvSpPr>
        <p:spPr>
          <a:xfrm>
            <a:off x="502920" y="2048256"/>
            <a:ext cx="73152" cy="457200"/>
          </a:xfrm>
          <a:prstGeom prst="roundRect">
            <a:avLst>
              <a:gd name="adj" fmla="val 50000"/>
            </a:avLst>
          </a:prstGeom>
          <a:solidFill>
            <a:srgbClr val="B3263B"/>
          </a:solidFill>
          <a:ln w="12700">
            <a:solidFill>
              <a:srgbClr val="B3263B"/>
            </a:solidFill>
            <a:prstDash val="solid"/>
          </a:ln>
        </p:spPr>
        <p:txBody>
          <a:bodyPr/>
          <a:lstStyle/>
          <a:p>
            <a:endParaRPr lang="en-US"/>
          </a:p>
        </p:txBody>
      </p:sp>
      <p:sp>
        <p:nvSpPr>
          <p:cNvPr id="11" name="Text 8"/>
          <p:cNvSpPr txBox="1"/>
          <p:nvPr/>
        </p:nvSpPr>
        <p:spPr>
          <a:xfrm>
            <a:off x="758952" y="2048256"/>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You escaped a container with privileged + hostPath</a:t>
            </a:r>
            <a:endParaRPr lang="en-US" sz="1050" dirty="0"/>
          </a:p>
        </p:txBody>
      </p:sp>
      <p:sp>
        <p:nvSpPr>
          <p:cNvPr id="12" name="Text 9"/>
          <p:cNvSpPr txBox="1"/>
          <p:nvPr/>
        </p:nvSpPr>
        <p:spPr>
          <a:xfrm>
            <a:off x="5989320" y="2048256"/>
            <a:ext cx="274320" cy="457200"/>
          </a:xfrm>
          <a:prstGeom prst="rect">
            <a:avLst/>
          </a:prstGeom>
          <a:noFill/>
          <a:ln/>
        </p:spPr>
        <p:txBody>
          <a:bodyPr wrap="square" lIns="0" tIns="0" rIns="0" bIns="0" rtlCol="0" anchor="ctr"/>
          <a:lstStyle/>
          <a:p>
            <a:pPr marL="0" indent="0" algn="ctr">
              <a:buNone/>
            </a:pPr>
            <a:r>
              <a:rPr lang="en-US" sz="1200" b="1" dirty="0">
                <a:solidFill>
                  <a:srgbClr val="B3263B"/>
                </a:solidFill>
                <a:latin typeface="Calibri" pitchFamily="34" charset="0"/>
                <a:ea typeface="Calibri" pitchFamily="34" charset="-122"/>
                <a:cs typeface="Calibri" pitchFamily="34" charset="-120"/>
              </a:rPr>
              <a:t>→</a:t>
            </a:r>
            <a:endParaRPr lang="en-US" sz="1200" dirty="0"/>
          </a:p>
        </p:txBody>
      </p:sp>
      <p:sp>
        <p:nvSpPr>
          <p:cNvPr id="13" name="Text 10"/>
          <p:cNvSpPr txBox="1"/>
          <p:nvPr/>
        </p:nvSpPr>
        <p:spPr>
          <a:xfrm>
            <a:off x="6263640" y="2048256"/>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The CVE write-up and the incident review you will read in your first month on call</a:t>
            </a:r>
            <a:endParaRPr lang="en-US" sz="1100" dirty="0"/>
          </a:p>
        </p:txBody>
      </p:sp>
      <p:sp>
        <p:nvSpPr>
          <p:cNvPr id="14" name="ti-1"/>
          <p:cNvSpPr/>
          <p:nvPr/>
        </p:nvSpPr>
        <p:spPr>
          <a:xfrm>
            <a:off x="502920" y="2562149"/>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15" name="tib-1"/>
          <p:cNvSpPr/>
          <p:nvPr/>
        </p:nvSpPr>
        <p:spPr>
          <a:xfrm>
            <a:off x="502920" y="2562149"/>
            <a:ext cx="73152" cy="457200"/>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16" name="Text 13"/>
          <p:cNvSpPr txBox="1"/>
          <p:nvPr/>
        </p:nvSpPr>
        <p:spPr>
          <a:xfrm>
            <a:off x="758952" y="2562149"/>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kubectl label ns pod-security.kubernetes.io/enforce=restricted</a:t>
            </a:r>
            <a:endParaRPr lang="en-US" sz="1050" dirty="0"/>
          </a:p>
        </p:txBody>
      </p:sp>
      <p:sp>
        <p:nvSpPr>
          <p:cNvPr id="17" name="Text 14"/>
          <p:cNvSpPr txBox="1"/>
          <p:nvPr/>
        </p:nvSpPr>
        <p:spPr>
          <a:xfrm>
            <a:off x="5989320" y="2562149"/>
            <a:ext cx="274320" cy="457200"/>
          </a:xfrm>
          <a:prstGeom prst="rect">
            <a:avLst/>
          </a:prstGeom>
          <a:noFill/>
          <a:ln/>
        </p:spPr>
        <p:txBody>
          <a:bodyPr wrap="square" lIns="0" tIns="0" rIns="0" bIns="0" rtlCol="0" anchor="ctr"/>
          <a:lstStyle/>
          <a:p>
            <a:pPr marL="0" indent="0" algn="ctr">
              <a:buNone/>
            </a:pPr>
            <a:r>
              <a:rPr lang="en-US" sz="1200" b="1" dirty="0">
                <a:solidFill>
                  <a:srgbClr val="0F7B45"/>
                </a:solidFill>
                <a:latin typeface="Calibri" pitchFamily="34" charset="0"/>
                <a:ea typeface="Calibri" pitchFamily="34" charset="-122"/>
                <a:cs typeface="Calibri" pitchFamily="34" charset="-120"/>
              </a:rPr>
              <a:t>→</a:t>
            </a:r>
            <a:endParaRPr lang="en-US" sz="1200" dirty="0"/>
          </a:p>
        </p:txBody>
      </p:sp>
      <p:sp>
        <p:nvSpPr>
          <p:cNvPr id="18" name="Text 15"/>
          <p:cNvSpPr txBox="1"/>
          <p:nvPr/>
        </p:nvSpPr>
        <p:spPr>
          <a:xfrm>
            <a:off x="6263640" y="2562149"/>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The one-line baseline applied to every namespace on the cluster, cluster-wide</a:t>
            </a:r>
            <a:endParaRPr lang="en-US" sz="1100" dirty="0"/>
          </a:p>
        </p:txBody>
      </p:sp>
      <p:sp>
        <p:nvSpPr>
          <p:cNvPr id="19" name="ti-2"/>
          <p:cNvSpPr/>
          <p:nvPr/>
        </p:nvSpPr>
        <p:spPr>
          <a:xfrm>
            <a:off x="502920" y="3076042"/>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20" name="tib-2"/>
          <p:cNvSpPr/>
          <p:nvPr/>
        </p:nvSpPr>
        <p:spPr>
          <a:xfrm>
            <a:off x="502920" y="3076042"/>
            <a:ext cx="73152" cy="457200"/>
          </a:xfrm>
          <a:prstGeom prst="roundRect">
            <a:avLst>
              <a:gd name="adj" fmla="val 50000"/>
            </a:avLst>
          </a:prstGeom>
          <a:solidFill>
            <a:srgbClr val="4C3FA3"/>
          </a:solidFill>
          <a:ln w="12700">
            <a:solidFill>
              <a:srgbClr val="4C3FA3"/>
            </a:solidFill>
            <a:prstDash val="solid"/>
          </a:ln>
        </p:spPr>
        <p:txBody>
          <a:bodyPr/>
          <a:lstStyle/>
          <a:p>
            <a:endParaRPr lang="en-US"/>
          </a:p>
        </p:txBody>
      </p:sp>
      <p:sp>
        <p:nvSpPr>
          <p:cNvPr id="21" name="Text 18"/>
          <p:cNvSpPr txBox="1"/>
          <p:nvPr/>
        </p:nvSpPr>
        <p:spPr>
          <a:xfrm>
            <a:off x="758952" y="3076042"/>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Kubewarden policy in monitor, then protect</a:t>
            </a:r>
            <a:endParaRPr lang="en-US" sz="1050" dirty="0"/>
          </a:p>
        </p:txBody>
      </p:sp>
      <p:sp>
        <p:nvSpPr>
          <p:cNvPr id="22" name="Text 19"/>
          <p:cNvSpPr txBox="1"/>
          <p:nvPr/>
        </p:nvSpPr>
        <p:spPr>
          <a:xfrm>
            <a:off x="5989320" y="3076042"/>
            <a:ext cx="274320" cy="457200"/>
          </a:xfrm>
          <a:prstGeom prst="rect">
            <a:avLst/>
          </a:prstGeom>
          <a:noFill/>
          <a:ln/>
        </p:spPr>
        <p:txBody>
          <a:bodyPr wrap="square" lIns="0" tIns="0" rIns="0" bIns="0" rtlCol="0" anchor="ctr"/>
          <a:lstStyle/>
          <a:p>
            <a:pPr marL="0" indent="0" algn="ctr">
              <a:buNone/>
            </a:pPr>
            <a:r>
              <a:rPr lang="en-US" sz="1200" b="1" dirty="0">
                <a:solidFill>
                  <a:srgbClr val="4C3FA3"/>
                </a:solidFill>
                <a:latin typeface="Calibri" pitchFamily="34" charset="0"/>
                <a:ea typeface="Calibri" pitchFamily="34" charset="-122"/>
                <a:cs typeface="Calibri" pitchFamily="34" charset="-120"/>
              </a:rPr>
              <a:t>→</a:t>
            </a:r>
            <a:endParaRPr lang="en-US" sz="1200" dirty="0"/>
          </a:p>
        </p:txBody>
      </p:sp>
      <p:sp>
        <p:nvSpPr>
          <p:cNvPr id="23" name="Text 20"/>
          <p:cNvSpPr txBox="1"/>
          <p:nvPr/>
        </p:nvSpPr>
        <p:spPr>
          <a:xfrm>
            <a:off x="6263640" y="3076042"/>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A quarter-long policy rollout: collect violations, chase the owning teams, then enforce</a:t>
            </a:r>
            <a:endParaRPr lang="en-US" sz="1100" dirty="0"/>
          </a:p>
        </p:txBody>
      </p:sp>
      <p:sp>
        <p:nvSpPr>
          <p:cNvPr id="24" name="ti-3"/>
          <p:cNvSpPr/>
          <p:nvPr/>
        </p:nvSpPr>
        <p:spPr>
          <a:xfrm>
            <a:off x="502920" y="3589934"/>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25" name="tib-3"/>
          <p:cNvSpPr/>
          <p:nvPr/>
        </p:nvSpPr>
        <p:spPr>
          <a:xfrm>
            <a:off x="502920" y="3589934"/>
            <a:ext cx="73152" cy="457200"/>
          </a:xfrm>
          <a:prstGeom prst="roundRect">
            <a:avLst>
              <a:gd name="adj" fmla="val 50000"/>
            </a:avLst>
          </a:prstGeom>
          <a:solidFill>
            <a:srgbClr val="0067C0"/>
          </a:solidFill>
          <a:ln w="12700">
            <a:solidFill>
              <a:srgbClr val="0067C0"/>
            </a:solidFill>
            <a:prstDash val="solid"/>
          </a:ln>
        </p:spPr>
        <p:txBody>
          <a:bodyPr/>
          <a:lstStyle/>
          <a:p>
            <a:endParaRPr lang="en-US"/>
          </a:p>
        </p:txBody>
      </p:sp>
      <p:sp>
        <p:nvSpPr>
          <p:cNvPr id="26" name="Text 23"/>
          <p:cNvSpPr txBox="1"/>
          <p:nvPr/>
        </p:nvSpPr>
        <p:spPr>
          <a:xfrm>
            <a:off x="758952" y="3589934"/>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Role + RoleBinding scoped to one namespace</a:t>
            </a:r>
            <a:endParaRPr lang="en-US" sz="1050" dirty="0"/>
          </a:p>
        </p:txBody>
      </p:sp>
      <p:sp>
        <p:nvSpPr>
          <p:cNvPr id="27" name="Text 24"/>
          <p:cNvSpPr txBox="1"/>
          <p:nvPr/>
        </p:nvSpPr>
        <p:spPr>
          <a:xfrm>
            <a:off x="5989320" y="3589934"/>
            <a:ext cx="274320" cy="457200"/>
          </a:xfrm>
          <a:prstGeom prst="rect">
            <a:avLst/>
          </a:prstGeom>
          <a:noFill/>
          <a:ln/>
        </p:spPr>
        <p:txBody>
          <a:bodyPr wrap="square" lIns="0" tIns="0" rIns="0" bIns="0" rtlCol="0" anchor="ctr"/>
          <a:lstStyle/>
          <a:p>
            <a:pPr marL="0" indent="0" algn="ctr">
              <a:buNone/>
            </a:pPr>
            <a:r>
              <a:rPr lang="en-US" sz="1200" b="1" dirty="0">
                <a:solidFill>
                  <a:srgbClr val="0067C0"/>
                </a:solidFill>
                <a:latin typeface="Calibri" pitchFamily="34" charset="0"/>
                <a:ea typeface="Calibri" pitchFamily="34" charset="-122"/>
                <a:cs typeface="Calibri" pitchFamily="34" charset="-120"/>
              </a:rPr>
              <a:t>→</a:t>
            </a:r>
            <a:endParaRPr lang="en-US" sz="1200" dirty="0"/>
          </a:p>
        </p:txBody>
      </p:sp>
      <p:sp>
        <p:nvSpPr>
          <p:cNvPr id="28" name="Text 25"/>
          <p:cNvSpPr txBox="1"/>
          <p:nvPr/>
        </p:nvSpPr>
        <p:spPr>
          <a:xfrm>
            <a:off x="6263640" y="3589934"/>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A ClusterRole defined once and bound into each of a hundred tenant namespaces</a:t>
            </a:r>
            <a:endParaRPr lang="en-US" sz="1100" dirty="0"/>
          </a:p>
        </p:txBody>
      </p:sp>
      <p:sp>
        <p:nvSpPr>
          <p:cNvPr id="29" name="ti-4"/>
          <p:cNvSpPr/>
          <p:nvPr/>
        </p:nvSpPr>
        <p:spPr>
          <a:xfrm>
            <a:off x="502920" y="4103827"/>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30" name="tib-4"/>
          <p:cNvSpPr/>
          <p:nvPr/>
        </p:nvSpPr>
        <p:spPr>
          <a:xfrm>
            <a:off x="502920" y="4103827"/>
            <a:ext cx="73152" cy="457200"/>
          </a:xfrm>
          <a:prstGeom prst="roundRect">
            <a:avLst>
              <a:gd name="adj" fmla="val 50000"/>
            </a:avLst>
          </a:prstGeom>
          <a:solidFill>
            <a:srgbClr val="0067C0"/>
          </a:solidFill>
          <a:ln w="12700">
            <a:solidFill>
              <a:srgbClr val="0067C0"/>
            </a:solidFill>
            <a:prstDash val="solid"/>
          </a:ln>
        </p:spPr>
        <p:txBody>
          <a:bodyPr/>
          <a:lstStyle/>
          <a:p>
            <a:endParaRPr lang="en-US"/>
          </a:p>
        </p:txBody>
      </p:sp>
      <p:sp>
        <p:nvSpPr>
          <p:cNvPr id="31" name="Text 28"/>
          <p:cNvSpPr txBox="1"/>
          <p:nvPr/>
        </p:nvSpPr>
        <p:spPr>
          <a:xfrm>
            <a:off x="758952" y="4103827"/>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kubectl auth can-i --list --as=...</a:t>
            </a:r>
            <a:endParaRPr lang="en-US" sz="1050" dirty="0"/>
          </a:p>
        </p:txBody>
      </p:sp>
      <p:sp>
        <p:nvSpPr>
          <p:cNvPr id="32" name="Text 29"/>
          <p:cNvSpPr txBox="1"/>
          <p:nvPr/>
        </p:nvSpPr>
        <p:spPr>
          <a:xfrm>
            <a:off x="5989320" y="4103827"/>
            <a:ext cx="274320" cy="457200"/>
          </a:xfrm>
          <a:prstGeom prst="rect">
            <a:avLst/>
          </a:prstGeom>
          <a:noFill/>
          <a:ln/>
        </p:spPr>
        <p:txBody>
          <a:bodyPr wrap="square" lIns="0" tIns="0" rIns="0" bIns="0" rtlCol="0" anchor="ctr"/>
          <a:lstStyle/>
          <a:p>
            <a:pPr marL="0" indent="0" algn="ctr">
              <a:buNone/>
            </a:pPr>
            <a:r>
              <a:rPr lang="en-US" sz="1200" b="1" dirty="0">
                <a:solidFill>
                  <a:srgbClr val="0067C0"/>
                </a:solidFill>
                <a:latin typeface="Calibri" pitchFamily="34" charset="0"/>
                <a:ea typeface="Calibri" pitchFamily="34" charset="-122"/>
                <a:cs typeface="Calibri" pitchFamily="34" charset="-120"/>
              </a:rPr>
              <a:t>→</a:t>
            </a:r>
            <a:endParaRPr lang="en-US" sz="1200" dirty="0"/>
          </a:p>
        </p:txBody>
      </p:sp>
      <p:sp>
        <p:nvSpPr>
          <p:cNvPr id="33" name="Text 30"/>
          <p:cNvSpPr txBox="1"/>
          <p:nvPr/>
        </p:nvSpPr>
        <p:spPr>
          <a:xfrm>
            <a:off x="6263640" y="4103827"/>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The access review somebody runs every quarter, and the CI check that fails on wildcards</a:t>
            </a:r>
            <a:endParaRPr lang="en-US" sz="1100" dirty="0"/>
          </a:p>
        </p:txBody>
      </p:sp>
      <p:sp>
        <p:nvSpPr>
          <p:cNvPr id="34" name="ti-5"/>
          <p:cNvSpPr/>
          <p:nvPr/>
        </p:nvSpPr>
        <p:spPr>
          <a:xfrm>
            <a:off x="502920" y="4617720"/>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35" name="tib-5"/>
          <p:cNvSpPr/>
          <p:nvPr/>
        </p:nvSpPr>
        <p:spPr>
          <a:xfrm>
            <a:off x="502920" y="4617720"/>
            <a:ext cx="73152" cy="457200"/>
          </a:xfrm>
          <a:prstGeom prst="roundRect">
            <a:avLst>
              <a:gd name="adj" fmla="val 50000"/>
            </a:avLst>
          </a:prstGeom>
          <a:solidFill>
            <a:srgbClr val="0B4F5C"/>
          </a:solidFill>
          <a:ln w="12700">
            <a:solidFill>
              <a:srgbClr val="0B4F5C"/>
            </a:solidFill>
            <a:prstDash val="solid"/>
          </a:ln>
        </p:spPr>
        <p:txBody>
          <a:bodyPr/>
          <a:lstStyle/>
          <a:p>
            <a:endParaRPr lang="en-US"/>
          </a:p>
        </p:txBody>
      </p:sp>
      <p:sp>
        <p:nvSpPr>
          <p:cNvPr id="36" name="Text 33"/>
          <p:cNvSpPr txBox="1"/>
          <p:nvPr/>
        </p:nvSpPr>
        <p:spPr>
          <a:xfrm>
            <a:off x="758952" y="4617720"/>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default-deny NetworkPolicy, then allow back</a:t>
            </a:r>
            <a:endParaRPr lang="en-US" sz="1050" dirty="0"/>
          </a:p>
        </p:txBody>
      </p:sp>
      <p:sp>
        <p:nvSpPr>
          <p:cNvPr id="37" name="Text 34"/>
          <p:cNvSpPr txBox="1"/>
          <p:nvPr/>
        </p:nvSpPr>
        <p:spPr>
          <a:xfrm>
            <a:off x="5989320" y="4617720"/>
            <a:ext cx="274320" cy="457200"/>
          </a:xfrm>
          <a:prstGeom prst="rect">
            <a:avLst/>
          </a:prstGeom>
          <a:noFill/>
          <a:ln/>
        </p:spPr>
        <p:txBody>
          <a:bodyPr wrap="square" lIns="0" tIns="0" rIns="0" bIns="0" rtlCol="0" anchor="ctr"/>
          <a:lstStyle/>
          <a:p>
            <a:pPr marL="0" indent="0" algn="ctr">
              <a:buNone/>
            </a:pPr>
            <a:r>
              <a:rPr lang="en-US" sz="1200" b="1" dirty="0">
                <a:solidFill>
                  <a:srgbClr val="0B4F5C"/>
                </a:solidFill>
                <a:latin typeface="Calibri" pitchFamily="34" charset="0"/>
                <a:ea typeface="Calibri" pitchFamily="34" charset="-122"/>
                <a:cs typeface="Calibri" pitchFamily="34" charset="-120"/>
              </a:rPr>
              <a:t>→</a:t>
            </a:r>
            <a:endParaRPr lang="en-US" sz="1200" dirty="0"/>
          </a:p>
        </p:txBody>
      </p:sp>
      <p:sp>
        <p:nvSpPr>
          <p:cNvPr id="38" name="Text 35"/>
          <p:cNvSpPr txBox="1"/>
          <p:nvPr/>
        </p:nvSpPr>
        <p:spPr>
          <a:xfrm>
            <a:off x="6263640" y="4617720"/>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Zero-trust networking, or a service mesh doing the same thing with mutual TLS</a:t>
            </a:r>
            <a:endParaRPr lang="en-US" sz="1100" dirty="0"/>
          </a:p>
        </p:txBody>
      </p:sp>
      <p:sp>
        <p:nvSpPr>
          <p:cNvPr id="39" name="ti-6"/>
          <p:cNvSpPr/>
          <p:nvPr/>
        </p:nvSpPr>
        <p:spPr>
          <a:xfrm>
            <a:off x="502920" y="5131613"/>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40" name="tib-6"/>
          <p:cNvSpPr/>
          <p:nvPr/>
        </p:nvSpPr>
        <p:spPr>
          <a:xfrm>
            <a:off x="502920" y="5131613"/>
            <a:ext cx="73152" cy="457200"/>
          </a:xfrm>
          <a:prstGeom prst="roundRect">
            <a:avLst>
              <a:gd name="adj" fmla="val 50000"/>
            </a:avLst>
          </a:prstGeom>
          <a:solidFill>
            <a:srgbClr val="9A5B0C"/>
          </a:solidFill>
          <a:ln w="12700">
            <a:solidFill>
              <a:srgbClr val="9A5B0C"/>
            </a:solidFill>
            <a:prstDash val="solid"/>
          </a:ln>
        </p:spPr>
        <p:txBody>
          <a:bodyPr/>
          <a:lstStyle/>
          <a:p>
            <a:endParaRPr lang="en-US"/>
          </a:p>
        </p:txBody>
      </p:sp>
      <p:sp>
        <p:nvSpPr>
          <p:cNvPr id="41" name="Text 38"/>
          <p:cNvSpPr txBox="1"/>
          <p:nvPr/>
        </p:nvSpPr>
        <p:spPr>
          <a:xfrm>
            <a:off x="758952" y="5131613"/>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grep the password out of the etcd file</a:t>
            </a:r>
            <a:endParaRPr lang="en-US" sz="1050" dirty="0"/>
          </a:p>
        </p:txBody>
      </p:sp>
      <p:sp>
        <p:nvSpPr>
          <p:cNvPr id="42" name="Text 39"/>
          <p:cNvSpPr txBox="1"/>
          <p:nvPr/>
        </p:nvSpPr>
        <p:spPr>
          <a:xfrm>
            <a:off x="5989320" y="5131613"/>
            <a:ext cx="274320" cy="457200"/>
          </a:xfrm>
          <a:prstGeom prst="rect">
            <a:avLst/>
          </a:prstGeom>
          <a:noFill/>
          <a:ln/>
        </p:spPr>
        <p:txBody>
          <a:bodyPr wrap="square" lIns="0" tIns="0" rIns="0" bIns="0" rtlCol="0" anchor="ctr"/>
          <a:lstStyle/>
          <a:p>
            <a:pPr marL="0" indent="0" algn="ctr">
              <a:buNone/>
            </a:pPr>
            <a:r>
              <a:rPr lang="en-US" sz="1200" b="1" dirty="0">
                <a:solidFill>
                  <a:srgbClr val="9A5B0C"/>
                </a:solidFill>
                <a:latin typeface="Calibri" pitchFamily="34" charset="0"/>
                <a:ea typeface="Calibri" pitchFamily="34" charset="-122"/>
                <a:cs typeface="Calibri" pitchFamily="34" charset="-120"/>
              </a:rPr>
              <a:t>→</a:t>
            </a:r>
            <a:endParaRPr lang="en-US" sz="1200" dirty="0"/>
          </a:p>
        </p:txBody>
      </p:sp>
      <p:sp>
        <p:nvSpPr>
          <p:cNvPr id="43" name="Text 40"/>
          <p:cNvSpPr txBox="1"/>
          <p:nvPr/>
        </p:nvSpPr>
        <p:spPr>
          <a:xfrm>
            <a:off x="6263640" y="5131613"/>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The reason etcd backups are encrypted and why KMS providers exist</a:t>
            </a:r>
            <a:endParaRPr lang="en-US" sz="1100" dirty="0"/>
          </a:p>
        </p:txBody>
      </p:sp>
      <p:sp>
        <p:nvSpPr>
          <p:cNvPr id="44" name="ti-7"/>
          <p:cNvSpPr/>
          <p:nvPr/>
        </p:nvSpPr>
        <p:spPr>
          <a:xfrm>
            <a:off x="502920" y="5645506"/>
            <a:ext cx="11185855" cy="457200"/>
          </a:xfrm>
          <a:prstGeom prst="roundRect">
            <a:avLst>
              <a:gd name="adj" fmla="val 20000"/>
            </a:avLst>
          </a:prstGeom>
          <a:solidFill>
            <a:srgbClr val="FFFFFF"/>
          </a:solidFill>
          <a:ln w="12700">
            <a:solidFill>
              <a:srgbClr val="CFE3E2"/>
            </a:solidFill>
            <a:prstDash val="solid"/>
          </a:ln>
        </p:spPr>
        <p:txBody>
          <a:bodyPr/>
          <a:lstStyle/>
          <a:p>
            <a:endParaRPr lang="en-US"/>
          </a:p>
        </p:txBody>
      </p:sp>
      <p:sp>
        <p:nvSpPr>
          <p:cNvPr id="45" name="tib-7"/>
          <p:cNvSpPr/>
          <p:nvPr/>
        </p:nvSpPr>
        <p:spPr>
          <a:xfrm>
            <a:off x="502920" y="5645506"/>
            <a:ext cx="73152" cy="457200"/>
          </a:xfrm>
          <a:prstGeom prst="roundRect">
            <a:avLst>
              <a:gd name="adj" fmla="val 50000"/>
            </a:avLst>
          </a:prstGeom>
          <a:solidFill>
            <a:srgbClr val="0F7B45"/>
          </a:solidFill>
          <a:ln w="12700">
            <a:solidFill>
              <a:srgbClr val="0F7B45"/>
            </a:solidFill>
            <a:prstDash val="solid"/>
          </a:ln>
        </p:spPr>
        <p:txBody>
          <a:bodyPr/>
          <a:lstStyle/>
          <a:p>
            <a:endParaRPr lang="en-US"/>
          </a:p>
        </p:txBody>
      </p:sp>
      <p:sp>
        <p:nvSpPr>
          <p:cNvPr id="46" name="Text 43"/>
          <p:cNvSpPr txBox="1"/>
          <p:nvPr/>
        </p:nvSpPr>
        <p:spPr>
          <a:xfrm>
            <a:off x="758952" y="5645506"/>
            <a:ext cx="5257800" cy="457200"/>
          </a:xfrm>
          <a:prstGeom prst="rect">
            <a:avLst/>
          </a:prstGeom>
          <a:noFill/>
          <a:ln/>
        </p:spPr>
        <p:txBody>
          <a:bodyPr wrap="square" lIns="0" tIns="0" rIns="0" bIns="0" rtlCol="0" anchor="ctr"/>
          <a:lstStyle/>
          <a:p>
            <a:pPr marL="0" indent="0">
              <a:buNone/>
            </a:pPr>
            <a:r>
              <a:rPr lang="en-US" sz="1050" dirty="0">
                <a:solidFill>
                  <a:srgbClr val="1B1537"/>
                </a:solidFill>
                <a:latin typeface="Roboto Mono" pitchFamily="34" charset="0"/>
                <a:ea typeface="Roboto Mono" pitchFamily="34" charset="-122"/>
                <a:cs typeface="Roboto Mono" pitchFamily="34" charset="-120"/>
              </a:rPr>
              <a:t>kubectl logs the API server and grep for Events</a:t>
            </a:r>
            <a:endParaRPr lang="en-US" sz="1050" dirty="0"/>
          </a:p>
        </p:txBody>
      </p:sp>
      <p:sp>
        <p:nvSpPr>
          <p:cNvPr id="47" name="Text 44"/>
          <p:cNvSpPr txBox="1"/>
          <p:nvPr/>
        </p:nvSpPr>
        <p:spPr>
          <a:xfrm>
            <a:off x="5989320" y="5645506"/>
            <a:ext cx="274320" cy="457200"/>
          </a:xfrm>
          <a:prstGeom prst="rect">
            <a:avLst/>
          </a:prstGeom>
          <a:noFill/>
          <a:ln/>
        </p:spPr>
        <p:txBody>
          <a:bodyPr wrap="square" lIns="0" tIns="0" rIns="0" bIns="0" rtlCol="0" anchor="ctr"/>
          <a:lstStyle/>
          <a:p>
            <a:pPr marL="0" indent="0" algn="ctr">
              <a:buNone/>
            </a:pPr>
            <a:r>
              <a:rPr lang="en-US" sz="1200" b="1" dirty="0">
                <a:solidFill>
                  <a:srgbClr val="0F7B45"/>
                </a:solidFill>
                <a:latin typeface="Calibri" pitchFamily="34" charset="0"/>
                <a:ea typeface="Calibri" pitchFamily="34" charset="-122"/>
                <a:cs typeface="Calibri" pitchFamily="34" charset="-120"/>
              </a:rPr>
              <a:t>→</a:t>
            </a:r>
            <a:endParaRPr lang="en-US" sz="1200" dirty="0"/>
          </a:p>
        </p:txBody>
      </p:sp>
      <p:sp>
        <p:nvSpPr>
          <p:cNvPr id="48" name="Text 45"/>
          <p:cNvSpPr txBox="1"/>
          <p:nvPr/>
        </p:nvSpPr>
        <p:spPr>
          <a:xfrm>
            <a:off x="6263640" y="5645506"/>
            <a:ext cx="5303520" cy="45720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Audit events streamed to a SIEM, retained a year, with four alerts that actually fire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TROUBLESHOOTING · CLUSTER</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When the cluster will not come up</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Almost always one of three things: memory, the audit policy, or a stale file in ~/.minikube/files.</a:t>
            </a:r>
            <a:endParaRPr lang="en-US" sz="1300" dirty="0"/>
          </a:p>
        </p:txBody>
      </p:sp>
      <p:sp>
        <p:nvSpPr>
          <p:cNvPr id="6" name="grid-card-0"/>
          <p:cNvSpPr/>
          <p:nvPr/>
        </p:nvSpPr>
        <p:spPr>
          <a:xfrm>
            <a:off x="502920" y="1664208"/>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8" name="gh-0"/>
          <p:cNvSpPr txBox="1"/>
          <p:nvPr/>
        </p:nvSpPr>
        <p:spPr>
          <a:xfrm>
            <a:off x="932688" y="1810512"/>
            <a:ext cx="2981858" cy="530352"/>
          </a:xfrm>
          <a:prstGeom prst="rect">
            <a:avLst/>
          </a:prstGeom>
          <a:noFill/>
          <a:ln/>
        </p:spPr>
        <p:txBody>
          <a:bodyPr wrap="square" lIns="0" tIns="0" rIns="0" bIns="0" rtlCol="0" anchor="t"/>
          <a:lstStyle/>
          <a:p>
            <a:pPr marL="0" indent="0">
              <a:buNone/>
            </a:pPr>
            <a:r>
              <a:rPr lang="en-US" sz="1150" b="1" dirty="0">
                <a:solidFill>
                  <a:srgbClr val="B3263B"/>
                </a:solidFill>
                <a:latin typeface="Calibri" pitchFamily="34" charset="0"/>
                <a:ea typeface="Calibri" pitchFamily="34" charset="-122"/>
                <a:cs typeface="Calibri" pitchFamily="34" charset="-120"/>
              </a:rPr>
              <a:t>“Requested memory allocation … is more than your system limit”</a:t>
            </a:r>
            <a:endParaRPr lang="en-US" sz="1150" dirty="0"/>
          </a:p>
        </p:txBody>
      </p:sp>
      <p:sp>
        <p:nvSpPr>
          <p:cNvPr id="9" name="gb-0"/>
          <p:cNvSpPr txBox="1"/>
          <p:nvPr/>
        </p:nvSpPr>
        <p:spPr>
          <a:xfrm>
            <a:off x="685800" y="2395728"/>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Docker Desktop has less RAM than you asked minikube for. Settings → Resources → Memory → 6 GB → Apply &amp; Restart. On Windows, set it in %UserProfile%\.wslconfig then run wsl --shutdown.</a:t>
            </a:r>
            <a:endParaRPr lang="en-US" sz="950" dirty="0"/>
          </a:p>
        </p:txBody>
      </p:sp>
      <p:sp>
        <p:nvSpPr>
          <p:cNvPr id="10" name="grid-card-1"/>
          <p:cNvSpPr/>
          <p:nvPr/>
        </p:nvSpPr>
        <p:spPr>
          <a:xfrm>
            <a:off x="4298594" y="1664208"/>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12" name="gh-1"/>
          <p:cNvSpPr txBox="1"/>
          <p:nvPr/>
        </p:nvSpPr>
        <p:spPr>
          <a:xfrm>
            <a:off x="4728362" y="1810512"/>
            <a:ext cx="2981858" cy="530352"/>
          </a:xfrm>
          <a:prstGeom prst="rect">
            <a:avLst/>
          </a:prstGeom>
          <a:noFill/>
          <a:ln/>
        </p:spPr>
        <p:txBody>
          <a:bodyPr wrap="square" lIns="0" tIns="0" rIns="0" bIns="0" rtlCol="0" anchor="t"/>
          <a:lstStyle/>
          <a:p>
            <a:pPr marL="0" indent="0">
              <a:buNone/>
            </a:pPr>
            <a:r>
              <a:rPr lang="en-US" sz="1150" b="1" dirty="0">
                <a:solidFill>
                  <a:srgbClr val="B3263B"/>
                </a:solidFill>
                <a:latin typeface="Calibri" pitchFamily="34" charset="0"/>
                <a:ea typeface="Calibri" pitchFamily="34" charset="-122"/>
                <a:cs typeface="Calibri" pitchFamily="34" charset="-120"/>
              </a:rPr>
              <a:t>Hangs on “Waiting for apiserver”, then times out</a:t>
            </a:r>
            <a:endParaRPr lang="en-US" sz="1150" dirty="0"/>
          </a:p>
        </p:txBody>
      </p:sp>
      <p:sp>
        <p:nvSpPr>
          <p:cNvPr id="13" name="gb-1"/>
          <p:cNvSpPr txBox="1"/>
          <p:nvPr/>
        </p:nvSpPr>
        <p:spPr>
          <a:xfrm>
            <a:off x="4481474" y="2395728"/>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Almost always the audit policy. The API server cannot start, so there is nothing for kubectl to talk to. Read the real error with crictl (speaker notes), or go straight to the parking brake below.</a:t>
            </a:r>
            <a:endParaRPr lang="en-US" sz="950" dirty="0"/>
          </a:p>
        </p:txBody>
      </p:sp>
      <p:sp>
        <p:nvSpPr>
          <p:cNvPr id="14" name="grid-card-2"/>
          <p:cNvSpPr/>
          <p:nvPr/>
        </p:nvSpPr>
        <p:spPr>
          <a:xfrm>
            <a:off x="8094269" y="1664208"/>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83664"/>
            <a:ext cx="155448" cy="155448"/>
          </a:xfrm>
          <a:prstGeom prst="ellipse">
            <a:avLst/>
          </a:prstGeom>
          <a:solidFill>
            <a:srgbClr val="9A5B0C"/>
          </a:solidFill>
          <a:ln w="12700">
            <a:solidFill>
              <a:srgbClr val="9A5B0C"/>
            </a:solidFill>
            <a:prstDash val="solid"/>
          </a:ln>
        </p:spPr>
        <p:txBody>
          <a:bodyPr/>
          <a:lstStyle/>
          <a:p>
            <a:endParaRPr lang="en-US"/>
          </a:p>
        </p:txBody>
      </p:sp>
      <p:sp>
        <p:nvSpPr>
          <p:cNvPr id="16" name="gh-2"/>
          <p:cNvSpPr txBox="1"/>
          <p:nvPr/>
        </p:nvSpPr>
        <p:spPr>
          <a:xfrm>
            <a:off x="8524037" y="1810512"/>
            <a:ext cx="2981858" cy="530352"/>
          </a:xfrm>
          <a:prstGeom prst="rect">
            <a:avLst/>
          </a:prstGeom>
          <a:noFill/>
          <a:ln/>
        </p:spPr>
        <p:txBody>
          <a:bodyPr wrap="square" lIns="0" tIns="0" rIns="0" bIns="0" rtlCol="0" anchor="t"/>
          <a:lstStyle/>
          <a:p>
            <a:pPr marL="0" indent="0">
              <a:buNone/>
            </a:pPr>
            <a:r>
              <a:rPr lang="en-US" sz="1150" b="1" dirty="0">
                <a:solidFill>
                  <a:srgbClr val="9A5B0C"/>
                </a:solidFill>
                <a:latin typeface="Calibri" pitchFamily="34" charset="0"/>
                <a:ea typeface="Calibri" pitchFamily="34" charset="-122"/>
                <a:cs typeface="Calibri" pitchFamily="34" charset="-120"/>
              </a:rPr>
              <a:t>“The connection to the server … was refused”</a:t>
            </a:r>
            <a:endParaRPr lang="en-US" sz="1150" dirty="0"/>
          </a:p>
        </p:txBody>
      </p:sp>
      <p:sp>
        <p:nvSpPr>
          <p:cNvPr id="17" name="gb-2"/>
          <p:cNvSpPr txBox="1"/>
          <p:nvPr/>
        </p:nvSpPr>
        <p:spPr>
          <a:xfrm>
            <a:off x="8277149" y="2395728"/>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Same cause: the API server is down or still starting. If you just ran minikube start, wait 60 seconds. If it never recovers, it is the audit config.</a:t>
            </a:r>
            <a:endParaRPr lang="en-US" sz="950" dirty="0"/>
          </a:p>
        </p:txBody>
      </p:sp>
      <p:sp>
        <p:nvSpPr>
          <p:cNvPr id="18" name="grid-card-3"/>
          <p:cNvSpPr/>
          <p:nvPr/>
        </p:nvSpPr>
        <p:spPr>
          <a:xfrm>
            <a:off x="502920" y="3419856"/>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3639312"/>
            <a:ext cx="155448" cy="155448"/>
          </a:xfrm>
          <a:prstGeom prst="ellipse">
            <a:avLst/>
          </a:prstGeom>
          <a:solidFill>
            <a:srgbClr val="9A5B0C"/>
          </a:solidFill>
          <a:ln w="12700">
            <a:solidFill>
              <a:srgbClr val="9A5B0C"/>
            </a:solidFill>
            <a:prstDash val="solid"/>
          </a:ln>
        </p:spPr>
        <p:txBody>
          <a:bodyPr/>
          <a:lstStyle/>
          <a:p>
            <a:endParaRPr lang="en-US"/>
          </a:p>
        </p:txBody>
      </p:sp>
      <p:sp>
        <p:nvSpPr>
          <p:cNvPr id="20" name="gh-3"/>
          <p:cNvSpPr txBox="1"/>
          <p:nvPr/>
        </p:nvSpPr>
        <p:spPr>
          <a:xfrm>
            <a:off x="932688" y="3566160"/>
            <a:ext cx="2981858" cy="530352"/>
          </a:xfrm>
          <a:prstGeom prst="rect">
            <a:avLst/>
          </a:prstGeom>
          <a:noFill/>
          <a:ln/>
        </p:spPr>
        <p:txBody>
          <a:bodyPr wrap="square" lIns="0" tIns="0" rIns="0" bIns="0" rtlCol="0" anchor="t"/>
          <a:lstStyle/>
          <a:p>
            <a:pPr marL="0" indent="0">
              <a:buNone/>
            </a:pPr>
            <a:r>
              <a:rPr lang="en-US" sz="1150" b="1" dirty="0">
                <a:solidFill>
                  <a:srgbClr val="9A5B0C"/>
                </a:solidFill>
                <a:latin typeface="Calibri" pitchFamily="34" charset="0"/>
                <a:ea typeface="Calibri" pitchFamily="34" charset="-122"/>
                <a:cs typeface="Calibri" pitchFamily="34" charset="-120"/>
              </a:rPr>
              <a:t>Deleted the cluster and it is STILL broken</a:t>
            </a:r>
            <a:endParaRPr lang="en-US" sz="1150" dirty="0"/>
          </a:p>
        </p:txBody>
      </p:sp>
      <p:sp>
        <p:nvSpPr>
          <p:cNvPr id="21" name="gb-3"/>
          <p:cNvSpPr txBox="1"/>
          <p:nvPr/>
        </p:nvSpPr>
        <p:spPr>
          <a:xfrm>
            <a:off x="685800" y="4151376"/>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A bad file in ~/.minikube/files is re-copied into every new cluster on every start. minikube delete does not remove it. Delete the staged audit-policy.yaml and re-copy a clean one from the repo.</a:t>
            </a:r>
            <a:endParaRPr lang="en-US" sz="950" dirty="0"/>
          </a:p>
        </p:txBody>
      </p:sp>
      <p:sp>
        <p:nvSpPr>
          <p:cNvPr id="22" name="grid-card-4"/>
          <p:cNvSpPr/>
          <p:nvPr/>
        </p:nvSpPr>
        <p:spPr>
          <a:xfrm>
            <a:off x="4298594" y="3419856"/>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3639312"/>
            <a:ext cx="155448" cy="155448"/>
          </a:xfrm>
          <a:prstGeom prst="ellipse">
            <a:avLst/>
          </a:prstGeom>
          <a:solidFill>
            <a:srgbClr val="0B4F5C"/>
          </a:solidFill>
          <a:ln w="12700">
            <a:solidFill>
              <a:srgbClr val="0B4F5C"/>
            </a:solidFill>
            <a:prstDash val="solid"/>
          </a:ln>
        </p:spPr>
        <p:txBody>
          <a:bodyPr/>
          <a:lstStyle/>
          <a:p>
            <a:endParaRPr lang="en-US"/>
          </a:p>
        </p:txBody>
      </p:sp>
      <p:sp>
        <p:nvSpPr>
          <p:cNvPr id="24" name="gh-4"/>
          <p:cNvSpPr txBox="1"/>
          <p:nvPr/>
        </p:nvSpPr>
        <p:spPr>
          <a:xfrm>
            <a:off x="4728362" y="3566160"/>
            <a:ext cx="2981858" cy="530352"/>
          </a:xfrm>
          <a:prstGeom prst="rect">
            <a:avLst/>
          </a:prstGeom>
          <a:noFill/>
          <a:ln/>
        </p:spPr>
        <p:txBody>
          <a:bodyPr wrap="square" lIns="0" tIns="0" rIns="0" bIns="0" rtlCol="0" anchor="t"/>
          <a:lstStyle/>
          <a:p>
            <a:pPr marL="0" indent="0">
              <a:buNone/>
            </a:pPr>
            <a:r>
              <a:rPr lang="en-US" sz="1150" b="1" dirty="0">
                <a:solidFill>
                  <a:srgbClr val="0B4F5C"/>
                </a:solidFill>
                <a:latin typeface="Calibri" pitchFamily="34" charset="0"/>
                <a:ea typeface="Calibri" pitchFamily="34" charset="-122"/>
                <a:cs typeface="Calibri" pitchFamily="34" charset="-120"/>
              </a:rPr>
              <a:t>Node stuck NotReady</a:t>
            </a:r>
            <a:endParaRPr lang="en-US" sz="1150" dirty="0"/>
          </a:p>
        </p:txBody>
      </p:sp>
      <p:sp>
        <p:nvSpPr>
          <p:cNvPr id="25" name="gb-4"/>
          <p:cNvSpPr txBox="1"/>
          <p:nvPr/>
        </p:nvSpPr>
        <p:spPr>
          <a:xfrm>
            <a:off x="4481474" y="4151376"/>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Calico has not finished starting. Expected for the first few minutes. kubectl get pods -A | grep calico. If calico-node is 0/1, try: kubectl -n kube-system set env ds/calico-node IP_AUTODETECTION_METHOD=interface=eth0</a:t>
            </a:r>
            <a:endParaRPr lang="en-US" sz="950" dirty="0"/>
          </a:p>
        </p:txBody>
      </p:sp>
      <p:sp>
        <p:nvSpPr>
          <p:cNvPr id="26" name="grid-card-5"/>
          <p:cNvSpPr/>
          <p:nvPr/>
        </p:nvSpPr>
        <p:spPr>
          <a:xfrm>
            <a:off x="8094269" y="3419856"/>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3639312"/>
            <a:ext cx="155448" cy="155448"/>
          </a:xfrm>
          <a:prstGeom prst="ellipse">
            <a:avLst/>
          </a:prstGeom>
          <a:solidFill>
            <a:srgbClr val="0B4F5C"/>
          </a:solidFill>
          <a:ln w="12700">
            <a:solidFill>
              <a:srgbClr val="0B4F5C"/>
            </a:solidFill>
            <a:prstDash val="solid"/>
          </a:ln>
        </p:spPr>
        <p:txBody>
          <a:bodyPr/>
          <a:lstStyle/>
          <a:p>
            <a:endParaRPr lang="en-US"/>
          </a:p>
        </p:txBody>
      </p:sp>
      <p:sp>
        <p:nvSpPr>
          <p:cNvPr id="28" name="gh-5"/>
          <p:cNvSpPr txBox="1"/>
          <p:nvPr/>
        </p:nvSpPr>
        <p:spPr>
          <a:xfrm>
            <a:off x="8524037" y="3566160"/>
            <a:ext cx="2981858" cy="530352"/>
          </a:xfrm>
          <a:prstGeom prst="rect">
            <a:avLst/>
          </a:prstGeom>
          <a:noFill/>
          <a:ln/>
        </p:spPr>
        <p:txBody>
          <a:bodyPr wrap="square" lIns="0" tIns="0" rIns="0" bIns="0" rtlCol="0" anchor="t"/>
          <a:lstStyle/>
          <a:p>
            <a:pPr marL="0" indent="0">
              <a:buNone/>
            </a:pPr>
            <a:r>
              <a:rPr lang="en-US" sz="1150" b="1" dirty="0">
                <a:solidFill>
                  <a:srgbClr val="0B4F5C"/>
                </a:solidFill>
                <a:latin typeface="Calibri" pitchFamily="34" charset="0"/>
                <a:ea typeface="Calibri" pitchFamily="34" charset="-122"/>
                <a:cs typeface="Calibri" pitchFamily="34" charset="-120"/>
              </a:rPr>
              <a:t>Pods stuck Pending, helm --wait times out</a:t>
            </a:r>
            <a:endParaRPr lang="en-US" sz="1150" dirty="0"/>
          </a:p>
        </p:txBody>
      </p:sp>
      <p:sp>
        <p:nvSpPr>
          <p:cNvPr id="29" name="gb-5"/>
          <p:cNvSpPr txBox="1"/>
          <p:nvPr/>
        </p:nvSpPr>
        <p:spPr>
          <a:xfrm>
            <a:off x="8277149" y="4151376"/>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Out of memory. This is where a 4 GB cluster gives up. Close Chrome and Slack, raise the Docker Desktop limit, or reduce the policy server to one replica.</a:t>
            </a:r>
            <a:endParaRPr lang="en-US" sz="950" dirty="0"/>
          </a:p>
        </p:txBody>
      </p:sp>
      <p:sp>
        <p:nvSpPr>
          <p:cNvPr id="30" name="brake"/>
          <p:cNvSpPr/>
          <p:nvPr/>
        </p:nvSpPr>
        <p:spPr>
          <a:xfrm>
            <a:off x="502920" y="5138928"/>
            <a:ext cx="11185855" cy="868680"/>
          </a:xfrm>
          <a:prstGeom prst="roundRect">
            <a:avLst>
              <a:gd name="adj" fmla="val 10526"/>
            </a:avLst>
          </a:prstGeom>
          <a:solidFill>
            <a:srgbClr val="1B1537"/>
          </a:solidFill>
          <a:ln w="12700">
            <a:solidFill>
              <a:srgbClr val="1B1537"/>
            </a:solidFill>
            <a:prstDash val="solid"/>
          </a:ln>
        </p:spPr>
        <p:txBody>
          <a:bodyPr/>
          <a:lstStyle/>
          <a:p>
            <a:endParaRPr lang="en-US"/>
          </a:p>
        </p:txBody>
      </p:sp>
      <p:sp>
        <p:nvSpPr>
          <p:cNvPr id="31" name="Text 28"/>
          <p:cNvSpPr txBox="1"/>
          <p:nvPr/>
        </p:nvSpPr>
        <p:spPr>
          <a:xfrm>
            <a:off x="731520" y="5230368"/>
            <a:ext cx="10728655" cy="237744"/>
          </a:xfrm>
          <a:prstGeom prst="rect">
            <a:avLst/>
          </a:prstGeom>
          <a:noFill/>
          <a:ln/>
        </p:spPr>
        <p:txBody>
          <a:bodyPr wrap="square" lIns="0" tIns="0" rIns="0" bIns="0" rtlCol="0" anchor="ctr"/>
          <a:lstStyle/>
          <a:p>
            <a:pPr marL="0" indent="0">
              <a:buNone/>
            </a:pPr>
            <a:r>
              <a:rPr lang="en-US" sz="1050" b="1" kern="0" spc="80" dirty="0">
                <a:solidFill>
                  <a:srgbClr val="8BE3AE"/>
                </a:solidFill>
                <a:latin typeface="Calibri" pitchFamily="34" charset="0"/>
                <a:ea typeface="Calibri" pitchFamily="34" charset="-122"/>
                <a:cs typeface="Calibri" pitchFamily="34" charset="-120"/>
              </a:rPr>
              <a:t>THE PARKING BRAKE — recovers a crash-looping API server in 30 seconds, no rebuild</a:t>
            </a:r>
            <a:endParaRPr lang="en-US" sz="1050" dirty="0"/>
          </a:p>
        </p:txBody>
      </p:sp>
      <p:sp>
        <p:nvSpPr>
          <p:cNvPr id="32" name="Text 29"/>
          <p:cNvSpPr txBox="1"/>
          <p:nvPr/>
        </p:nvSpPr>
        <p:spPr>
          <a:xfrm>
            <a:off x="731520" y="5513832"/>
            <a:ext cx="10728655" cy="457200"/>
          </a:xfrm>
          <a:prstGeom prst="rect">
            <a:avLst/>
          </a:prstGeom>
          <a:noFill/>
          <a:ln/>
        </p:spPr>
        <p:txBody>
          <a:bodyPr wrap="square" lIns="0" tIns="0" rIns="0" bIns="0" rtlCol="0" anchor="ctr"/>
          <a:lstStyle/>
          <a:p>
            <a:pPr marL="0" indent="0">
              <a:buNone/>
            </a:pPr>
            <a:r>
              <a:rPr lang="en-US" sz="1200" dirty="0">
                <a:solidFill>
                  <a:srgbClr val="E9EDF5"/>
                </a:solidFill>
                <a:latin typeface="Roboto Mono" pitchFamily="34" charset="0"/>
                <a:ea typeface="Roboto Mono" pitchFamily="34" charset="-122"/>
                <a:cs typeface="Roboto Mono" pitchFamily="34" charset="-120"/>
              </a:rPr>
              <a:t>minikube ssh -p k8s-security -- 'sudo sed -i "/--audit-/d" /etc/kubernetes/manifests/kube-apiserver.yaml'</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TROUBLESHOOTING · POLICY, NETWORK, AUDIT</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When a control does nothing</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recurring theme of today. Every one of these looks like it is working.</a:t>
            </a:r>
            <a:endParaRPr lang="en-US" sz="1300" dirty="0"/>
          </a:p>
        </p:txBody>
      </p:sp>
      <p:sp>
        <p:nvSpPr>
          <p:cNvPr id="6" name="grid-card-0"/>
          <p:cNvSpPr/>
          <p:nvPr/>
        </p:nvSpPr>
        <p:spPr>
          <a:xfrm>
            <a:off x="502920" y="1664208"/>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8" name="gh-0"/>
          <p:cNvSpPr txBox="1"/>
          <p:nvPr/>
        </p:nvSpPr>
        <p:spPr>
          <a:xfrm>
            <a:off x="932688" y="1810512"/>
            <a:ext cx="2981858" cy="530352"/>
          </a:xfrm>
          <a:prstGeom prst="rect">
            <a:avLst/>
          </a:prstGeom>
          <a:noFill/>
          <a:ln/>
        </p:spPr>
        <p:txBody>
          <a:bodyPr wrap="square" lIns="0" tIns="0" rIns="0" bIns="0" rtlCol="0" anchor="t"/>
          <a:lstStyle/>
          <a:p>
            <a:pPr marL="0" indent="0">
              <a:buNone/>
            </a:pPr>
            <a:r>
              <a:rPr lang="en-US" sz="1150" b="1" dirty="0">
                <a:solidFill>
                  <a:srgbClr val="B3263B"/>
                </a:solidFill>
                <a:latin typeface="Calibri" pitchFamily="34" charset="0"/>
                <a:ea typeface="Calibri" pitchFamily="34" charset="-122"/>
                <a:cs typeface="Calibri" pitchFamily="34" charset="-120"/>
              </a:rPr>
              <a:t>NetworkPolicy applies but nothing is blocked</a:t>
            </a:r>
            <a:endParaRPr lang="en-US" sz="1150" dirty="0"/>
          </a:p>
        </p:txBody>
      </p:sp>
      <p:sp>
        <p:nvSpPr>
          <p:cNvPr id="9" name="gb-0"/>
          <p:cNvSpPr txBox="1"/>
          <p:nvPr/>
        </p:nvSpPr>
        <p:spPr>
          <a:xfrm>
            <a:off x="685800" y="2395728"/>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The CNI has no policy engine. minikube's default and several cloud defaults provide connectivity only. There is no warning anywhere. Check: did you start with --cni=calico? Test: run the curl and confirm it times out.</a:t>
            </a:r>
            <a:endParaRPr lang="en-US" sz="950" dirty="0"/>
          </a:p>
        </p:txBody>
      </p:sp>
      <p:sp>
        <p:nvSpPr>
          <p:cNvPr id="10" name="grid-card-1"/>
          <p:cNvSpPr/>
          <p:nvPr/>
        </p:nvSpPr>
        <p:spPr>
          <a:xfrm>
            <a:off x="4298594" y="1664208"/>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83664"/>
            <a:ext cx="155448" cy="155448"/>
          </a:xfrm>
          <a:prstGeom prst="ellipse">
            <a:avLst/>
          </a:prstGeom>
          <a:solidFill>
            <a:srgbClr val="B3263B"/>
          </a:solidFill>
          <a:ln w="12700">
            <a:solidFill>
              <a:srgbClr val="B3263B"/>
            </a:solidFill>
            <a:prstDash val="solid"/>
          </a:ln>
        </p:spPr>
        <p:txBody>
          <a:bodyPr/>
          <a:lstStyle/>
          <a:p>
            <a:endParaRPr lang="en-US"/>
          </a:p>
        </p:txBody>
      </p:sp>
      <p:sp>
        <p:nvSpPr>
          <p:cNvPr id="12" name="gh-1"/>
          <p:cNvSpPr txBox="1"/>
          <p:nvPr/>
        </p:nvSpPr>
        <p:spPr>
          <a:xfrm>
            <a:off x="4728362" y="1810512"/>
            <a:ext cx="2981858" cy="530352"/>
          </a:xfrm>
          <a:prstGeom prst="rect">
            <a:avLst/>
          </a:prstGeom>
          <a:noFill/>
          <a:ln/>
        </p:spPr>
        <p:txBody>
          <a:bodyPr wrap="square" lIns="0" tIns="0" rIns="0" bIns="0" rtlCol="0" anchor="t"/>
          <a:lstStyle/>
          <a:p>
            <a:pPr marL="0" indent="0">
              <a:buNone/>
            </a:pPr>
            <a:r>
              <a:rPr lang="en-US" sz="1150" b="1" dirty="0">
                <a:solidFill>
                  <a:srgbClr val="B3263B"/>
                </a:solidFill>
                <a:latin typeface="Calibri" pitchFamily="34" charset="0"/>
                <a:ea typeface="Calibri" pitchFamily="34" charset="-122"/>
                <a:cs typeface="Calibri" pitchFamily="34" charset="-120"/>
              </a:rPr>
              <a:t>Kubewarden policy is “active” but blocks nothing</a:t>
            </a:r>
            <a:endParaRPr lang="en-US" sz="1150" dirty="0"/>
          </a:p>
        </p:txBody>
      </p:sp>
      <p:sp>
        <p:nvSpPr>
          <p:cNvPr id="13" name="gb-1"/>
          <p:cNvSpPr txBox="1"/>
          <p:nvPr/>
        </p:nvSpPr>
        <p:spPr>
          <a:xfrm>
            <a:off x="4481474" y="2395728"/>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Usually a mis-keyed settings block — several policies ignore unknown keys rather than erroring. Check the schema with: kwctl inspect registry://ghcr.io/kubewarden/policies/&lt;name&gt;:latest. Then test the deny.</a:t>
            </a:r>
            <a:endParaRPr lang="en-US" sz="950" dirty="0"/>
          </a:p>
        </p:txBody>
      </p:sp>
      <p:sp>
        <p:nvSpPr>
          <p:cNvPr id="14" name="grid-card-2"/>
          <p:cNvSpPr/>
          <p:nvPr/>
        </p:nvSpPr>
        <p:spPr>
          <a:xfrm>
            <a:off x="8094269" y="1664208"/>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83664"/>
            <a:ext cx="155448" cy="155448"/>
          </a:xfrm>
          <a:prstGeom prst="ellipse">
            <a:avLst/>
          </a:prstGeom>
          <a:solidFill>
            <a:srgbClr val="9A5B0C"/>
          </a:solidFill>
          <a:ln w="12700">
            <a:solidFill>
              <a:srgbClr val="9A5B0C"/>
            </a:solidFill>
            <a:prstDash val="solid"/>
          </a:ln>
        </p:spPr>
        <p:txBody>
          <a:bodyPr/>
          <a:lstStyle/>
          <a:p>
            <a:endParaRPr lang="en-US"/>
          </a:p>
        </p:txBody>
      </p:sp>
      <p:sp>
        <p:nvSpPr>
          <p:cNvPr id="16" name="gh-2"/>
          <p:cNvSpPr txBox="1"/>
          <p:nvPr/>
        </p:nvSpPr>
        <p:spPr>
          <a:xfrm>
            <a:off x="8524037" y="1810512"/>
            <a:ext cx="2981858" cy="530352"/>
          </a:xfrm>
          <a:prstGeom prst="rect">
            <a:avLst/>
          </a:prstGeom>
          <a:noFill/>
          <a:ln/>
        </p:spPr>
        <p:txBody>
          <a:bodyPr wrap="square" lIns="0" tIns="0" rIns="0" bIns="0" rtlCol="0" anchor="t"/>
          <a:lstStyle/>
          <a:p>
            <a:pPr marL="0" indent="0">
              <a:buNone/>
            </a:pPr>
            <a:r>
              <a:rPr lang="en-US" sz="1150" b="1" dirty="0">
                <a:solidFill>
                  <a:srgbClr val="9A5B0C"/>
                </a:solidFill>
                <a:latin typeface="Calibri" pitchFamily="34" charset="0"/>
                <a:ea typeface="Calibri" pitchFamily="34" charset="-122"/>
                <a:cs typeface="Calibri" pitchFamily="34" charset="-120"/>
              </a:rPr>
              <a:t>Policy stuck pending / unschedulable</a:t>
            </a:r>
            <a:endParaRPr lang="en-US" sz="1150" dirty="0"/>
          </a:p>
        </p:txBody>
      </p:sp>
      <p:sp>
        <p:nvSpPr>
          <p:cNvPr id="17" name="gb-2"/>
          <p:cNvSpPr txBox="1"/>
          <p:nvPr/>
        </p:nvSpPr>
        <p:spPr>
          <a:xfrm>
            <a:off x="8277149" y="2395728"/>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The policy server is still pulling the Wasm module, or cannot reach the registry. kubectl describe clusteradmissionpolicy &lt;name&gt; and read the bottom. kubectl get pods -n kubewarden.</a:t>
            </a:r>
            <a:endParaRPr lang="en-US" sz="950" dirty="0"/>
          </a:p>
        </p:txBody>
      </p:sp>
      <p:sp>
        <p:nvSpPr>
          <p:cNvPr id="18" name="grid-card-3"/>
          <p:cNvSpPr/>
          <p:nvPr/>
        </p:nvSpPr>
        <p:spPr>
          <a:xfrm>
            <a:off x="502920" y="3419856"/>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3639312"/>
            <a:ext cx="155448" cy="155448"/>
          </a:xfrm>
          <a:prstGeom prst="ellipse">
            <a:avLst/>
          </a:prstGeom>
          <a:solidFill>
            <a:srgbClr val="B3263B"/>
          </a:solidFill>
          <a:ln w="12700">
            <a:solidFill>
              <a:srgbClr val="B3263B"/>
            </a:solidFill>
            <a:prstDash val="solid"/>
          </a:ln>
        </p:spPr>
        <p:txBody>
          <a:bodyPr/>
          <a:lstStyle/>
          <a:p>
            <a:endParaRPr lang="en-US"/>
          </a:p>
        </p:txBody>
      </p:sp>
      <p:sp>
        <p:nvSpPr>
          <p:cNvPr id="20" name="gh-3"/>
          <p:cNvSpPr txBox="1"/>
          <p:nvPr/>
        </p:nvSpPr>
        <p:spPr>
          <a:xfrm>
            <a:off x="932688" y="3566160"/>
            <a:ext cx="2981858" cy="530352"/>
          </a:xfrm>
          <a:prstGeom prst="rect">
            <a:avLst/>
          </a:prstGeom>
          <a:noFill/>
          <a:ln/>
        </p:spPr>
        <p:txBody>
          <a:bodyPr wrap="square" lIns="0" tIns="0" rIns="0" bIns="0" rtlCol="0" anchor="t"/>
          <a:lstStyle/>
          <a:p>
            <a:pPr marL="0" indent="0">
              <a:buNone/>
            </a:pPr>
            <a:r>
              <a:rPr lang="en-US" sz="1150" b="1" dirty="0">
                <a:solidFill>
                  <a:srgbClr val="B3263B"/>
                </a:solidFill>
                <a:latin typeface="Calibri" pitchFamily="34" charset="0"/>
                <a:ea typeface="Calibri" pitchFamily="34" charset="-122"/>
                <a:cs typeface="Calibri" pitchFamily="34" charset="-120"/>
              </a:rPr>
              <a:t>Encryption at rest config looks on, data is plaintext</a:t>
            </a:r>
            <a:endParaRPr lang="en-US" sz="1150" dirty="0"/>
          </a:p>
        </p:txBody>
      </p:sp>
      <p:sp>
        <p:nvSpPr>
          <p:cNvPr id="21" name="gb-3"/>
          <p:cNvSpPr txBox="1"/>
          <p:nvPr/>
        </p:nvSpPr>
        <p:spPr>
          <a:xfrm>
            <a:off x="685800" y="4151376"/>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identity is listed first in the providers list. The first provider is used for writes, and identity means no encryption. It must be last.</a:t>
            </a:r>
            <a:endParaRPr lang="en-US" sz="950" dirty="0"/>
          </a:p>
        </p:txBody>
      </p:sp>
      <p:sp>
        <p:nvSpPr>
          <p:cNvPr id="22" name="grid-card-4"/>
          <p:cNvSpPr/>
          <p:nvPr/>
        </p:nvSpPr>
        <p:spPr>
          <a:xfrm>
            <a:off x="4298594" y="3419856"/>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3639312"/>
            <a:ext cx="155448" cy="155448"/>
          </a:xfrm>
          <a:prstGeom prst="ellipse">
            <a:avLst/>
          </a:prstGeom>
          <a:solidFill>
            <a:srgbClr val="9A5B0C"/>
          </a:solidFill>
          <a:ln w="12700">
            <a:solidFill>
              <a:srgbClr val="9A5B0C"/>
            </a:solidFill>
            <a:prstDash val="solid"/>
          </a:ln>
        </p:spPr>
        <p:txBody>
          <a:bodyPr/>
          <a:lstStyle/>
          <a:p>
            <a:endParaRPr lang="en-US"/>
          </a:p>
        </p:txBody>
      </p:sp>
      <p:sp>
        <p:nvSpPr>
          <p:cNvPr id="24" name="gh-4"/>
          <p:cNvSpPr txBox="1"/>
          <p:nvPr/>
        </p:nvSpPr>
        <p:spPr>
          <a:xfrm>
            <a:off x="4728362" y="3566160"/>
            <a:ext cx="2981858" cy="530352"/>
          </a:xfrm>
          <a:prstGeom prst="rect">
            <a:avLst/>
          </a:prstGeom>
          <a:noFill/>
          <a:ln/>
        </p:spPr>
        <p:txBody>
          <a:bodyPr wrap="square" lIns="0" tIns="0" rIns="0" bIns="0" rtlCol="0" anchor="t"/>
          <a:lstStyle/>
          <a:p>
            <a:pPr marL="0" indent="0">
              <a:buNone/>
            </a:pPr>
            <a:r>
              <a:rPr lang="en-US" sz="1150" b="1" dirty="0">
                <a:solidFill>
                  <a:srgbClr val="9A5B0C"/>
                </a:solidFill>
                <a:latin typeface="Calibri" pitchFamily="34" charset="0"/>
                <a:ea typeface="Calibri" pitchFamily="34" charset="-122"/>
                <a:cs typeface="Calibri" pitchFamily="34" charset="-120"/>
              </a:rPr>
              <a:t>Everything in the namespace broke after an egress policy</a:t>
            </a:r>
            <a:endParaRPr lang="en-US" sz="1150" dirty="0"/>
          </a:p>
        </p:txBody>
      </p:sp>
      <p:sp>
        <p:nvSpPr>
          <p:cNvPr id="25" name="gb-4"/>
          <p:cNvSpPr txBox="1"/>
          <p:nvPr/>
        </p:nvSpPr>
        <p:spPr>
          <a:xfrm>
            <a:off x="4481474" y="4151376"/>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You denied DNS. CoreDNS is just another pod. Allow UDP and TCP port 53 to kube-system. The error says “name resolution failed”, which sends people hunting a DNS bug.</a:t>
            </a:r>
            <a:endParaRPr lang="en-US" sz="950" dirty="0"/>
          </a:p>
        </p:txBody>
      </p:sp>
      <p:sp>
        <p:nvSpPr>
          <p:cNvPr id="26" name="grid-card-5"/>
          <p:cNvSpPr/>
          <p:nvPr/>
        </p:nvSpPr>
        <p:spPr>
          <a:xfrm>
            <a:off x="8094269" y="3419856"/>
            <a:ext cx="3594506" cy="1554480"/>
          </a:xfrm>
          <a:prstGeom prst="roundRect">
            <a:avLst>
              <a:gd name="adj" fmla="val 588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3639312"/>
            <a:ext cx="155448" cy="155448"/>
          </a:xfrm>
          <a:prstGeom prst="ellipse">
            <a:avLst/>
          </a:prstGeom>
          <a:solidFill>
            <a:srgbClr val="0B4F5C"/>
          </a:solidFill>
          <a:ln w="12700">
            <a:solidFill>
              <a:srgbClr val="0B4F5C"/>
            </a:solidFill>
            <a:prstDash val="solid"/>
          </a:ln>
        </p:spPr>
        <p:txBody>
          <a:bodyPr/>
          <a:lstStyle/>
          <a:p>
            <a:endParaRPr lang="en-US"/>
          </a:p>
        </p:txBody>
      </p:sp>
      <p:sp>
        <p:nvSpPr>
          <p:cNvPr id="28" name="gh-5"/>
          <p:cNvSpPr txBox="1"/>
          <p:nvPr/>
        </p:nvSpPr>
        <p:spPr>
          <a:xfrm>
            <a:off x="8524037" y="3566160"/>
            <a:ext cx="2981858" cy="530352"/>
          </a:xfrm>
          <a:prstGeom prst="rect">
            <a:avLst/>
          </a:prstGeom>
          <a:noFill/>
          <a:ln/>
        </p:spPr>
        <p:txBody>
          <a:bodyPr wrap="square" lIns="0" tIns="0" rIns="0" bIns="0" rtlCol="0" anchor="t"/>
          <a:lstStyle/>
          <a:p>
            <a:pPr marL="0" indent="0">
              <a:buNone/>
            </a:pPr>
            <a:r>
              <a:rPr lang="en-US" sz="1150" b="1" dirty="0">
                <a:solidFill>
                  <a:srgbClr val="0B4F5C"/>
                </a:solidFill>
                <a:latin typeface="Calibri" pitchFamily="34" charset="0"/>
                <a:ea typeface="Calibri" pitchFamily="34" charset="-122"/>
                <a:cs typeface="Calibri" pitchFamily="34" charset="-120"/>
              </a:rPr>
              <a:t>Audit log is empty</a:t>
            </a:r>
            <a:endParaRPr lang="en-US" sz="1150" dirty="0"/>
          </a:p>
        </p:txBody>
      </p:sp>
      <p:sp>
        <p:nvSpPr>
          <p:cNvPr id="29" name="gb-5"/>
          <p:cNvSpPr txBox="1"/>
          <p:nvPr/>
        </p:nvSpPr>
        <p:spPr>
          <a:xfrm>
            <a:off x="8277149" y="4151376"/>
            <a:ext cx="3228746" cy="676656"/>
          </a:xfrm>
          <a:prstGeom prst="rect">
            <a:avLst/>
          </a:prstGeom>
          <a:noFill/>
          <a:ln/>
        </p:spPr>
        <p:txBody>
          <a:bodyPr wrap="square" lIns="0" tIns="0" rIns="0" bIns="0" rtlCol="0" anchor="t"/>
          <a:lstStyle/>
          <a:p>
            <a:pPr marL="0" indent="0">
              <a:lnSpc>
                <a:spcPct val="114000"/>
              </a:lnSpc>
              <a:buNone/>
            </a:pPr>
            <a:r>
              <a:rPr lang="en-US" sz="950" dirty="0">
                <a:solidFill>
                  <a:srgbClr val="1F2937"/>
                </a:solidFill>
                <a:latin typeface="Calibri" pitchFamily="34" charset="0"/>
                <a:ea typeface="Calibri" pitchFamily="34" charset="-122"/>
                <a:cs typeface="Calibri" pitchFamily="34" charset="-120"/>
              </a:rPr>
              <a:t>Confirm the flags actually landed: kubectl -n kube-system get pod kube-apiserver-k8s-security -o jsonpath='{.spec.containers[0].command}' | tr ',' '\n' | grep audit — then check your policy has a catch-all rule at the end.</a:t>
            </a:r>
            <a:endParaRPr lang="en-US" sz="950" dirty="0"/>
          </a:p>
        </p:txBody>
      </p:sp>
      <p:sp>
        <p:nvSpPr>
          <p:cNvPr id="30" name="theme"/>
          <p:cNvSpPr/>
          <p:nvPr/>
        </p:nvSpPr>
        <p:spPr>
          <a:xfrm>
            <a:off x="502920" y="5138928"/>
            <a:ext cx="11185855" cy="868680"/>
          </a:xfrm>
          <a:prstGeom prst="roundRect">
            <a:avLst>
              <a:gd name="adj" fmla="val 10526"/>
            </a:avLst>
          </a:prstGeom>
          <a:solidFill>
            <a:srgbClr val="FBEAEC"/>
          </a:solidFill>
          <a:ln w="12700">
            <a:solidFill>
              <a:srgbClr val="E8B9C0"/>
            </a:solidFill>
            <a:prstDash val="solid"/>
          </a:ln>
        </p:spPr>
        <p:txBody>
          <a:bodyPr/>
          <a:lstStyle/>
          <a:p>
            <a:endParaRPr lang="en-US"/>
          </a:p>
        </p:txBody>
      </p:sp>
      <p:sp>
        <p:nvSpPr>
          <p:cNvPr id="31" name="Text 28"/>
          <p:cNvSpPr txBox="1"/>
          <p:nvPr/>
        </p:nvSpPr>
        <p:spPr>
          <a:xfrm>
            <a:off x="758952" y="5138928"/>
            <a:ext cx="10673791" cy="868680"/>
          </a:xfrm>
          <a:prstGeom prst="rect">
            <a:avLst/>
          </a:prstGeom>
          <a:noFill/>
          <a:ln/>
        </p:spPr>
        <p:txBody>
          <a:bodyPr wrap="square" lIns="0" tIns="0" rIns="0" bIns="0" rtlCol="0" anchor="ctr"/>
          <a:lstStyle/>
          <a:p>
            <a:pPr marL="0" indent="0">
              <a:lnSpc>
                <a:spcPct val="114000"/>
              </a:lnSpc>
              <a:buNone/>
            </a:pPr>
            <a:r>
              <a:rPr lang="en-US" sz="1250" b="1" dirty="0">
                <a:solidFill>
                  <a:srgbClr val="B3263B"/>
                </a:solidFill>
                <a:latin typeface="Calibri" pitchFamily="34" charset="0"/>
                <a:ea typeface="Calibri" pitchFamily="34" charset="-122"/>
                <a:cs typeface="Calibri" pitchFamily="34" charset="-120"/>
              </a:rPr>
              <a:t>Every failure on this slide looks identical to success.  </a:t>
            </a:r>
            <a:r>
              <a:rPr lang="en-US" sz="1250" dirty="0">
                <a:solidFill>
                  <a:srgbClr val="1F2937"/>
                </a:solidFill>
                <a:latin typeface="Calibri" pitchFamily="34" charset="0"/>
                <a:ea typeface="Calibri" pitchFamily="34" charset="-122"/>
                <a:cs typeface="Calibri" pitchFamily="34" charset="-120"/>
              </a:rPr>
              <a:t>No error, no warning, no status field. The only defense is to test the negative case — apply the control, then run the attack again and confirm it fails. Do it in CI, not once by hand on the day you set it up.</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eyebrow"/>
          <p:cNvSpPr txBox="1"/>
          <p:nvPr/>
        </p:nvSpPr>
        <p:spPr>
          <a:xfrm>
            <a:off x="502920" y="274320"/>
            <a:ext cx="11185855" cy="219456"/>
          </a:xfrm>
          <a:prstGeom prst="rect">
            <a:avLst/>
          </a:prstGeom>
          <a:noFill/>
          <a:ln/>
        </p:spPr>
        <p:txBody>
          <a:bodyPr wrap="square" lIns="0" tIns="0" rIns="0" bIns="0" rtlCol="0" anchor="ctr"/>
          <a:lstStyle/>
          <a:p>
            <a:pPr marL="0" indent="0">
              <a:buNone/>
            </a:pPr>
            <a:r>
              <a:rPr lang="en-US" sz="1050" b="1" kern="0" spc="140" dirty="0">
                <a:solidFill>
                  <a:srgbClr val="0B4F5C"/>
                </a:solidFill>
                <a:latin typeface="Calibri" pitchFamily="34" charset="0"/>
                <a:ea typeface="Calibri" pitchFamily="34" charset="-122"/>
                <a:cs typeface="Calibri" pitchFamily="34" charset="-120"/>
              </a:rPr>
              <a:t>CLEANUP AND NEXT STEPS</a:t>
            </a:r>
            <a:endParaRPr lang="en-US" sz="1050" dirty="0"/>
          </a:p>
        </p:txBody>
      </p:sp>
      <p:sp>
        <p:nvSpPr>
          <p:cNvPr id="3" name="title"/>
          <p:cNvSpPr txBox="1"/>
          <p:nvPr/>
        </p:nvSpPr>
        <p:spPr>
          <a:xfrm>
            <a:off x="502920" y="502920"/>
            <a:ext cx="11185855" cy="658368"/>
          </a:xfrm>
          <a:prstGeom prst="rect">
            <a:avLst/>
          </a:prstGeom>
          <a:noFill/>
          <a:ln/>
        </p:spPr>
        <p:txBody>
          <a:bodyPr wrap="square" lIns="0" tIns="0" rIns="0" bIns="0" rtlCol="0" anchor="ctr"/>
          <a:lstStyle/>
          <a:p>
            <a:pPr marL="0" indent="0">
              <a:buNone/>
            </a:pPr>
            <a:r>
              <a:rPr lang="en-US" sz="3000" b="1" dirty="0">
                <a:solidFill>
                  <a:srgbClr val="1B1537"/>
                </a:solidFill>
                <a:latin typeface="Arvo" pitchFamily="34" charset="0"/>
                <a:ea typeface="Arvo" pitchFamily="34" charset="-122"/>
                <a:cs typeface="Arvo" pitchFamily="34" charset="-120"/>
              </a:rPr>
              <a:t>Where to take this</a:t>
            </a:r>
            <a:endParaRPr lang="en-US" sz="3000" dirty="0"/>
          </a:p>
        </p:txBody>
      </p:sp>
      <p:sp>
        <p:nvSpPr>
          <p:cNvPr id="4" name="desc"/>
          <p:cNvSpPr txBox="1"/>
          <p:nvPr/>
        </p:nvSpPr>
        <p:spPr>
          <a:xfrm>
            <a:off x="502920" y="1207008"/>
            <a:ext cx="11185855" cy="3657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Delete the cluster when you are done — or keep it and break it some more.</a:t>
            </a:r>
            <a:endParaRPr lang="en-US" sz="1300" dirty="0"/>
          </a:p>
        </p:txBody>
      </p:sp>
      <p:sp>
        <p:nvSpPr>
          <p:cNvPr id="6" name="grid-card-0"/>
          <p:cNvSpPr/>
          <p:nvPr/>
        </p:nvSpPr>
        <p:spPr>
          <a:xfrm>
            <a:off x="502920"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7" name="dot-0"/>
          <p:cNvSpPr/>
          <p:nvPr/>
        </p:nvSpPr>
        <p:spPr>
          <a:xfrm>
            <a:off x="685800" y="1883664"/>
            <a:ext cx="155448" cy="155448"/>
          </a:xfrm>
          <a:prstGeom prst="ellipse">
            <a:avLst/>
          </a:prstGeom>
          <a:solidFill>
            <a:srgbClr val="0B4F5C"/>
          </a:solidFill>
          <a:ln w="12700">
            <a:solidFill>
              <a:srgbClr val="0B4F5C"/>
            </a:solidFill>
            <a:prstDash val="solid"/>
          </a:ln>
        </p:spPr>
        <p:txBody>
          <a:bodyPr/>
          <a:lstStyle/>
          <a:p>
            <a:endParaRPr lang="en-US"/>
          </a:p>
        </p:txBody>
      </p:sp>
      <p:sp>
        <p:nvSpPr>
          <p:cNvPr id="8" name="gh-0"/>
          <p:cNvSpPr txBox="1"/>
          <p:nvPr/>
        </p:nvSpPr>
        <p:spPr>
          <a:xfrm>
            <a:off x="932688" y="1810512"/>
            <a:ext cx="2981858" cy="310896"/>
          </a:xfrm>
          <a:prstGeom prst="rect">
            <a:avLst/>
          </a:prstGeom>
          <a:noFill/>
          <a:ln/>
        </p:spPr>
        <p:txBody>
          <a:bodyPr wrap="square" lIns="0" tIns="0" rIns="0" bIns="0" rtlCol="0" anchor="t"/>
          <a:lstStyle/>
          <a:p>
            <a:pPr marL="0" indent="0">
              <a:buNone/>
            </a:pPr>
            <a:r>
              <a:rPr lang="en-US" sz="1300" b="1" dirty="0">
                <a:solidFill>
                  <a:srgbClr val="0B4F5C"/>
                </a:solidFill>
                <a:latin typeface="Calibri" pitchFamily="34" charset="0"/>
                <a:ea typeface="Calibri" pitchFamily="34" charset="-122"/>
                <a:cs typeface="Calibri" pitchFamily="34" charset="-120"/>
              </a:rPr>
              <a:t>Clean up</a:t>
            </a:r>
            <a:endParaRPr lang="en-US" sz="1300" dirty="0"/>
          </a:p>
        </p:txBody>
      </p:sp>
      <p:sp>
        <p:nvSpPr>
          <p:cNvPr id="9" name="gb-0"/>
          <p:cNvSpPr txBox="1"/>
          <p:nvPr/>
        </p:nvSpPr>
        <p:spPr>
          <a:xfrm>
            <a:off x="685800"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minikube delete -p k8s-security</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Removes only this cluster. Also delete the staged file if you want a truly clean slate:</a:t>
            </a: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~/.minikube/files/etc/ssl/certs/audit-policy.yaml</a:t>
            </a:r>
            <a:endParaRPr lang="en-US" sz="1100" dirty="0"/>
          </a:p>
        </p:txBody>
      </p:sp>
      <p:sp>
        <p:nvSpPr>
          <p:cNvPr id="10" name="grid-card-1"/>
          <p:cNvSpPr/>
          <p:nvPr/>
        </p:nvSpPr>
        <p:spPr>
          <a:xfrm>
            <a:off x="4298594"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1" name="dot-1"/>
          <p:cNvSpPr/>
          <p:nvPr/>
        </p:nvSpPr>
        <p:spPr>
          <a:xfrm>
            <a:off x="4481474" y="1883664"/>
            <a:ext cx="155448" cy="155448"/>
          </a:xfrm>
          <a:prstGeom prst="ellipse">
            <a:avLst/>
          </a:prstGeom>
          <a:solidFill>
            <a:srgbClr val="0067C0"/>
          </a:solidFill>
          <a:ln w="12700">
            <a:solidFill>
              <a:srgbClr val="0067C0"/>
            </a:solidFill>
            <a:prstDash val="solid"/>
          </a:ln>
        </p:spPr>
        <p:txBody>
          <a:bodyPr/>
          <a:lstStyle/>
          <a:p>
            <a:endParaRPr lang="en-US"/>
          </a:p>
        </p:txBody>
      </p:sp>
      <p:sp>
        <p:nvSpPr>
          <p:cNvPr id="12" name="gh-1"/>
          <p:cNvSpPr txBox="1"/>
          <p:nvPr/>
        </p:nvSpPr>
        <p:spPr>
          <a:xfrm>
            <a:off x="4728362" y="1810512"/>
            <a:ext cx="2981858" cy="310896"/>
          </a:xfrm>
          <a:prstGeom prst="rect">
            <a:avLst/>
          </a:prstGeom>
          <a:noFill/>
          <a:ln/>
        </p:spPr>
        <p:txBody>
          <a:bodyPr wrap="square" lIns="0" tIns="0" rIns="0" bIns="0" rtlCol="0" anchor="t"/>
          <a:lstStyle/>
          <a:p>
            <a:pPr marL="0" indent="0">
              <a:buNone/>
            </a:pPr>
            <a:r>
              <a:rPr lang="en-US" sz="1300" b="1" dirty="0">
                <a:solidFill>
                  <a:srgbClr val="0067C0"/>
                </a:solidFill>
                <a:latin typeface="Calibri" pitchFamily="34" charset="0"/>
                <a:ea typeface="Calibri" pitchFamily="34" charset="-122"/>
                <a:cs typeface="Calibri" pitchFamily="34" charset="-120"/>
              </a:rPr>
              <a:t>Keep practicing, no install</a:t>
            </a:r>
            <a:endParaRPr lang="en-US" sz="1300" dirty="0"/>
          </a:p>
        </p:txBody>
      </p:sp>
      <p:sp>
        <p:nvSpPr>
          <p:cNvPr id="13" name="gb-1"/>
          <p:cNvSpPr txBox="1"/>
          <p:nvPr/>
        </p:nvSpPr>
        <p:spPr>
          <a:xfrm>
            <a:off x="4481474"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killercoda.com — free Kubernetes playgrounds in a browser tab. Every command from today works there, and there are guided security scenarios.</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Good if your laptop fought you today.</a:t>
            </a:r>
            <a:endParaRPr lang="en-US" sz="1100" dirty="0"/>
          </a:p>
        </p:txBody>
      </p:sp>
      <p:sp>
        <p:nvSpPr>
          <p:cNvPr id="14" name="grid-card-2"/>
          <p:cNvSpPr/>
          <p:nvPr/>
        </p:nvSpPr>
        <p:spPr>
          <a:xfrm>
            <a:off x="8094269" y="166420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5" name="dot-2"/>
          <p:cNvSpPr/>
          <p:nvPr/>
        </p:nvSpPr>
        <p:spPr>
          <a:xfrm>
            <a:off x="8277149" y="1883664"/>
            <a:ext cx="155448" cy="155448"/>
          </a:xfrm>
          <a:prstGeom prst="ellipse">
            <a:avLst/>
          </a:prstGeom>
          <a:solidFill>
            <a:srgbClr val="4C3FA3"/>
          </a:solidFill>
          <a:ln w="12700">
            <a:solidFill>
              <a:srgbClr val="4C3FA3"/>
            </a:solidFill>
            <a:prstDash val="solid"/>
          </a:ln>
        </p:spPr>
        <p:txBody>
          <a:bodyPr/>
          <a:lstStyle/>
          <a:p>
            <a:endParaRPr lang="en-US"/>
          </a:p>
        </p:txBody>
      </p:sp>
      <p:sp>
        <p:nvSpPr>
          <p:cNvPr id="16" name="gh-2"/>
          <p:cNvSpPr txBox="1"/>
          <p:nvPr/>
        </p:nvSpPr>
        <p:spPr>
          <a:xfrm>
            <a:off x="8524037" y="1810512"/>
            <a:ext cx="2981858" cy="310896"/>
          </a:xfrm>
          <a:prstGeom prst="rect">
            <a:avLst/>
          </a:prstGeom>
          <a:noFill/>
          <a:ln/>
        </p:spPr>
        <p:txBody>
          <a:bodyPr wrap="square" lIns="0" tIns="0" rIns="0" bIns="0" rtlCol="0" anchor="t"/>
          <a:lstStyle/>
          <a:p>
            <a:pPr marL="0" indent="0">
              <a:buNone/>
            </a:pPr>
            <a:r>
              <a:rPr lang="en-US" sz="1300" b="1" dirty="0">
                <a:solidFill>
                  <a:srgbClr val="4C3FA3"/>
                </a:solidFill>
                <a:latin typeface="Calibri" pitchFamily="34" charset="0"/>
                <a:ea typeface="Calibri" pitchFamily="34" charset="-122"/>
                <a:cs typeface="Calibri" pitchFamily="34" charset="-120"/>
              </a:rPr>
              <a:t>Read next</a:t>
            </a:r>
            <a:endParaRPr lang="en-US" sz="1300" dirty="0"/>
          </a:p>
        </p:txBody>
      </p:sp>
      <p:sp>
        <p:nvSpPr>
          <p:cNvPr id="17" name="gb-2"/>
          <p:cNvSpPr txBox="1"/>
          <p:nvPr/>
        </p:nvSpPr>
        <p:spPr>
          <a:xfrm>
            <a:off x="8277149" y="217627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kubernetes.io/docs/concepts/security — the multi-tenancy and RBAC pages especially.</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The CIS Kubernetes Benchmark, and kube-bench, which checks a cluster against it automatically.</a:t>
            </a:r>
            <a:endParaRPr lang="en-US" sz="1100" dirty="0"/>
          </a:p>
        </p:txBody>
      </p:sp>
      <p:sp>
        <p:nvSpPr>
          <p:cNvPr id="18" name="grid-card-3"/>
          <p:cNvSpPr/>
          <p:nvPr/>
        </p:nvSpPr>
        <p:spPr>
          <a:xfrm>
            <a:off x="502920"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19" name="dot-3"/>
          <p:cNvSpPr/>
          <p:nvPr/>
        </p:nvSpPr>
        <p:spPr>
          <a:xfrm>
            <a:off x="685800" y="4352544"/>
            <a:ext cx="155448" cy="155448"/>
          </a:xfrm>
          <a:prstGeom prst="ellipse">
            <a:avLst/>
          </a:prstGeom>
          <a:solidFill>
            <a:srgbClr val="0F7B45"/>
          </a:solidFill>
          <a:ln w="12700">
            <a:solidFill>
              <a:srgbClr val="0F7B45"/>
            </a:solidFill>
            <a:prstDash val="solid"/>
          </a:ln>
        </p:spPr>
        <p:txBody>
          <a:bodyPr/>
          <a:lstStyle/>
          <a:p>
            <a:endParaRPr lang="en-US"/>
          </a:p>
        </p:txBody>
      </p:sp>
      <p:sp>
        <p:nvSpPr>
          <p:cNvPr id="20" name="gh-3"/>
          <p:cNvSpPr txBox="1"/>
          <p:nvPr/>
        </p:nvSpPr>
        <p:spPr>
          <a:xfrm>
            <a:off x="932688" y="4279392"/>
            <a:ext cx="2981858" cy="310896"/>
          </a:xfrm>
          <a:prstGeom prst="rect">
            <a:avLst/>
          </a:prstGeom>
          <a:noFill/>
          <a:ln/>
        </p:spPr>
        <p:txBody>
          <a:bodyPr wrap="square" lIns="0" tIns="0" rIns="0" bIns="0" rtlCol="0" anchor="t"/>
          <a:lstStyle/>
          <a:p>
            <a:pPr marL="0" indent="0">
              <a:buNone/>
            </a:pPr>
            <a:r>
              <a:rPr lang="en-US" sz="1300" b="1" dirty="0">
                <a:solidFill>
                  <a:srgbClr val="0F7B45"/>
                </a:solidFill>
                <a:latin typeface="Calibri" pitchFamily="34" charset="0"/>
                <a:ea typeface="Calibri" pitchFamily="34" charset="-122"/>
                <a:cs typeface="Calibri" pitchFamily="34" charset="-120"/>
              </a:rPr>
              <a:t>The project that gets you hired</a:t>
            </a:r>
            <a:endParaRPr lang="en-US" sz="1300" dirty="0"/>
          </a:p>
        </p:txBody>
      </p:sp>
      <p:sp>
        <p:nvSpPr>
          <p:cNvPr id="21" name="gb-3"/>
          <p:cNvSpPr txBox="1"/>
          <p:nvPr/>
        </p:nvSpPr>
        <p:spPr>
          <a:xfrm>
            <a:off x="685800"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Take any cluster and write all five controls for it — then write the tests that prove each one actually blocks the attack.</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“I wrote admission policies and the tests that verify them” is a real portfolio piece.</a:t>
            </a:r>
            <a:endParaRPr lang="en-US" sz="1100" dirty="0"/>
          </a:p>
        </p:txBody>
      </p:sp>
      <p:sp>
        <p:nvSpPr>
          <p:cNvPr id="22" name="grid-card-4"/>
          <p:cNvSpPr/>
          <p:nvPr/>
        </p:nvSpPr>
        <p:spPr>
          <a:xfrm>
            <a:off x="4298594"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3" name="dot-4"/>
          <p:cNvSpPr/>
          <p:nvPr/>
        </p:nvSpPr>
        <p:spPr>
          <a:xfrm>
            <a:off x="4481474" y="4352544"/>
            <a:ext cx="155448" cy="155448"/>
          </a:xfrm>
          <a:prstGeom prst="ellipse">
            <a:avLst/>
          </a:prstGeom>
          <a:solidFill>
            <a:srgbClr val="9A5B0C"/>
          </a:solidFill>
          <a:ln w="12700">
            <a:solidFill>
              <a:srgbClr val="9A5B0C"/>
            </a:solidFill>
            <a:prstDash val="solid"/>
          </a:ln>
        </p:spPr>
        <p:txBody>
          <a:bodyPr/>
          <a:lstStyle/>
          <a:p>
            <a:endParaRPr lang="en-US"/>
          </a:p>
        </p:txBody>
      </p:sp>
      <p:sp>
        <p:nvSpPr>
          <p:cNvPr id="24" name="gh-4"/>
          <p:cNvSpPr txBox="1"/>
          <p:nvPr/>
        </p:nvSpPr>
        <p:spPr>
          <a:xfrm>
            <a:off x="4728362" y="4279392"/>
            <a:ext cx="2981858" cy="310896"/>
          </a:xfrm>
          <a:prstGeom prst="rect">
            <a:avLst/>
          </a:prstGeom>
          <a:noFill/>
          <a:ln/>
        </p:spPr>
        <p:txBody>
          <a:bodyPr wrap="square" lIns="0" tIns="0" rIns="0" bIns="0" rtlCol="0" anchor="t"/>
          <a:lstStyle/>
          <a:p>
            <a:pPr marL="0" indent="0">
              <a:buNone/>
            </a:pPr>
            <a:r>
              <a:rPr lang="en-US" sz="1300" b="1" dirty="0">
                <a:solidFill>
                  <a:srgbClr val="9A5B0C"/>
                </a:solidFill>
                <a:latin typeface="Calibri" pitchFamily="34" charset="0"/>
                <a:ea typeface="Calibri" pitchFamily="34" charset="-122"/>
                <a:cs typeface="Calibri" pitchFamily="34" charset="-120"/>
              </a:rPr>
              <a:t>Go deeper</a:t>
            </a:r>
            <a:endParaRPr lang="en-US" sz="1300" dirty="0"/>
          </a:p>
        </p:txBody>
      </p:sp>
      <p:sp>
        <p:nvSpPr>
          <p:cNvPr id="25" name="gb-4"/>
          <p:cNvSpPr txBox="1"/>
          <p:nvPr/>
        </p:nvSpPr>
        <p:spPr>
          <a:xfrm>
            <a:off x="4481474"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Falco or Tetragon for runtime detection — the layer the audit log cannot see.</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Sigstore and image signing. gVisor or Kata Containers for genuinely hostile workloads.</a:t>
            </a:r>
          </a:p>
          <a:p>
            <a:pPr marL="0" indent="0">
              <a:lnSpc>
                <a:spcPct val="114000"/>
              </a:lnSpc>
              <a:buNone/>
            </a:pPr>
            <a:endParaRPr lang="en-US" sz="1100" dirty="0">
              <a:solidFill>
                <a:srgbClr val="1F2937"/>
              </a:solidFill>
              <a:latin typeface="Calibri" pitchFamily="34" charset="0"/>
              <a:cs typeface="Calibri" pitchFamily="34" charset="-120"/>
            </a:endParaRPr>
          </a:p>
          <a:p>
            <a:pPr marL="0" indent="0">
              <a:lnSpc>
                <a:spcPct val="114000"/>
              </a:lnSpc>
              <a:buNone/>
            </a:pPr>
            <a:r>
              <a:rPr lang="en-US" sz="1100" dirty="0">
                <a:solidFill>
                  <a:srgbClr val="1F2937"/>
                </a:solidFill>
                <a:latin typeface="Calibri" pitchFamily="34" charset="0"/>
                <a:cs typeface="Calibri" pitchFamily="34" charset="-120"/>
              </a:rPr>
              <a:t>We use </a:t>
            </a:r>
            <a:r>
              <a:rPr lang="en-US" sz="1100" dirty="0" err="1">
                <a:solidFill>
                  <a:srgbClr val="1F2937"/>
                </a:solidFill>
                <a:latin typeface="Calibri" pitchFamily="34" charset="0"/>
                <a:cs typeface="Calibri" pitchFamily="34" charset="-120"/>
              </a:rPr>
              <a:t>NeuVector</a:t>
            </a:r>
            <a:r>
              <a:rPr lang="en-US" sz="1100" dirty="0">
                <a:solidFill>
                  <a:srgbClr val="1F2937"/>
                </a:solidFill>
                <a:latin typeface="Calibri" pitchFamily="34" charset="0"/>
                <a:cs typeface="Calibri" pitchFamily="34" charset="-120"/>
              </a:rPr>
              <a:t> on Geddes for container lifecycle management</a:t>
            </a:r>
            <a:endParaRPr lang="en-US" sz="1100" dirty="0"/>
          </a:p>
        </p:txBody>
      </p:sp>
      <p:sp>
        <p:nvSpPr>
          <p:cNvPr id="26" name="grid-card-5"/>
          <p:cNvSpPr/>
          <p:nvPr/>
        </p:nvSpPr>
        <p:spPr>
          <a:xfrm>
            <a:off x="8094269" y="4133088"/>
            <a:ext cx="3594506" cy="2267712"/>
          </a:xfrm>
          <a:prstGeom prst="roundRect">
            <a:avLst>
              <a:gd name="adj" fmla="val 4032"/>
            </a:avLst>
          </a:prstGeom>
          <a:solidFill>
            <a:srgbClr val="FFFFFF"/>
          </a:solidFill>
          <a:ln w="12700">
            <a:solidFill>
              <a:srgbClr val="CFE3E2"/>
            </a:solidFill>
            <a:prstDash val="solid"/>
          </a:ln>
        </p:spPr>
        <p:txBody>
          <a:bodyPr/>
          <a:lstStyle/>
          <a:p>
            <a:endParaRPr lang="en-US"/>
          </a:p>
        </p:txBody>
      </p:sp>
      <p:sp>
        <p:nvSpPr>
          <p:cNvPr id="27" name="dot-5"/>
          <p:cNvSpPr/>
          <p:nvPr/>
        </p:nvSpPr>
        <p:spPr>
          <a:xfrm>
            <a:off x="8277149" y="4352544"/>
            <a:ext cx="155448" cy="155448"/>
          </a:xfrm>
          <a:prstGeom prst="ellipse">
            <a:avLst/>
          </a:prstGeom>
          <a:solidFill>
            <a:srgbClr val="B3263B"/>
          </a:solidFill>
          <a:ln w="12700">
            <a:solidFill>
              <a:srgbClr val="B3263B"/>
            </a:solidFill>
            <a:prstDash val="solid"/>
          </a:ln>
        </p:spPr>
        <p:txBody>
          <a:bodyPr/>
          <a:lstStyle/>
          <a:p>
            <a:endParaRPr lang="en-US"/>
          </a:p>
        </p:txBody>
      </p:sp>
      <p:sp>
        <p:nvSpPr>
          <p:cNvPr id="28" name="gh-5"/>
          <p:cNvSpPr txBox="1"/>
          <p:nvPr/>
        </p:nvSpPr>
        <p:spPr>
          <a:xfrm>
            <a:off x="8524037" y="4279392"/>
            <a:ext cx="2981858" cy="310896"/>
          </a:xfrm>
          <a:prstGeom prst="rect">
            <a:avLst/>
          </a:prstGeom>
          <a:noFill/>
          <a:ln/>
        </p:spPr>
        <p:txBody>
          <a:bodyPr wrap="square" lIns="0" tIns="0" rIns="0" bIns="0" rtlCol="0" anchor="t"/>
          <a:lstStyle/>
          <a:p>
            <a:pPr marL="0" indent="0">
              <a:buNone/>
            </a:pPr>
            <a:r>
              <a:rPr lang="en-US" sz="1300" b="1" dirty="0">
                <a:solidFill>
                  <a:srgbClr val="B3263B"/>
                </a:solidFill>
                <a:latin typeface="Calibri" pitchFamily="34" charset="0"/>
                <a:ea typeface="Calibri" pitchFamily="34" charset="-122"/>
                <a:cs typeface="Calibri" pitchFamily="34" charset="-120"/>
              </a:rPr>
              <a:t>Certification</a:t>
            </a:r>
            <a:endParaRPr lang="en-US" sz="1300" dirty="0"/>
          </a:p>
        </p:txBody>
      </p:sp>
      <p:sp>
        <p:nvSpPr>
          <p:cNvPr id="29" name="gb-5"/>
          <p:cNvSpPr txBox="1"/>
          <p:nvPr/>
        </p:nvSpPr>
        <p:spPr>
          <a:xfrm>
            <a:off x="8277149" y="4645152"/>
            <a:ext cx="3228746" cy="1609344"/>
          </a:xfrm>
          <a:prstGeom prst="rect">
            <a:avLst/>
          </a:prstGeom>
          <a:noFill/>
          <a:ln/>
        </p:spPr>
        <p:txBody>
          <a:bodyPr wrap="square" lIns="0" tIns="0" rIns="0" bIns="0" rtlCol="0" anchor="t"/>
          <a:lstStyle/>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CKS — Certified Kubernetes Security Specialist. Hands-on, respected, and covers most of today plus runtime and supply chain.</a:t>
            </a:r>
            <a:endParaRPr lang="en-US" sz="1100" dirty="0"/>
          </a:p>
          <a:p>
            <a:pPr marL="0" indent="0">
              <a:lnSpc>
                <a:spcPct val="114000"/>
              </a:lnSpc>
              <a:buNone/>
            </a:pPr>
            <a:endParaRPr lang="en-US" sz="1100" dirty="0"/>
          </a:p>
          <a:p>
            <a:pPr marL="0" indent="0">
              <a:lnSpc>
                <a:spcPct val="114000"/>
              </a:lnSpc>
              <a:buNone/>
            </a:pPr>
            <a:r>
              <a:rPr lang="en-US" sz="1100" dirty="0">
                <a:solidFill>
                  <a:srgbClr val="1F2937"/>
                </a:solidFill>
                <a:latin typeface="Calibri" pitchFamily="34" charset="0"/>
                <a:ea typeface="Calibri" pitchFamily="34" charset="-122"/>
                <a:cs typeface="Calibri" pitchFamily="34" charset="-120"/>
              </a:rPr>
              <a:t>Requires the CKA first. A real commitment, not a weekend.</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822960" y="2331720"/>
            <a:ext cx="10543032"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Arvo" pitchFamily="34" charset="0"/>
                <a:ea typeface="Arvo" pitchFamily="34" charset="-122"/>
                <a:cs typeface="Arvo" pitchFamily="34" charset="-120"/>
              </a:rPr>
              <a:t>You broke a cluster, then made it defensible.</a:t>
            </a:r>
            <a:endParaRPr lang="en-US" sz="3600" dirty="0"/>
          </a:p>
        </p:txBody>
      </p:sp>
      <p:sp>
        <p:nvSpPr>
          <p:cNvPr id="3" name="Text 1"/>
          <p:cNvSpPr txBox="1"/>
          <p:nvPr/>
        </p:nvSpPr>
        <p:spPr>
          <a:xfrm>
            <a:off x="1463040" y="3401568"/>
            <a:ext cx="9262872" cy="420624"/>
          </a:xfrm>
          <a:prstGeom prst="rect">
            <a:avLst/>
          </a:prstGeom>
          <a:noFill/>
          <a:ln/>
        </p:spPr>
        <p:txBody>
          <a:bodyPr wrap="square" lIns="0" tIns="0" rIns="0" bIns="0" rtlCol="0" anchor="ctr"/>
          <a:lstStyle/>
          <a:p>
            <a:pPr marL="0" indent="0" algn="ctr">
              <a:buNone/>
            </a:pPr>
            <a:r>
              <a:rPr lang="en-US" sz="1800" b="1" kern="0" spc="160" dirty="0">
                <a:solidFill>
                  <a:srgbClr val="FFFFFF"/>
                </a:solidFill>
                <a:latin typeface="Calibri" pitchFamily="34" charset="0"/>
                <a:ea typeface="Calibri" pitchFamily="34" charset="-122"/>
                <a:cs typeface="Calibri" pitchFamily="34" charset="-120"/>
              </a:rPr>
              <a:t>Prevent · Limit · Contain · Protect · Detect</a:t>
            </a:r>
            <a:endParaRPr lang="en-US" sz="1800" dirty="0"/>
          </a:p>
        </p:txBody>
      </p:sp>
      <p:sp>
        <p:nvSpPr>
          <p:cNvPr id="5" name="Text 3"/>
          <p:cNvSpPr txBox="1"/>
          <p:nvPr/>
        </p:nvSpPr>
        <p:spPr>
          <a:xfrm>
            <a:off x="640080" y="5989320"/>
            <a:ext cx="10908792" cy="274320"/>
          </a:xfrm>
          <a:prstGeom prst="rect">
            <a:avLst/>
          </a:prstGeom>
          <a:noFill/>
          <a:ln/>
        </p:spPr>
        <p:txBody>
          <a:bodyPr wrap="square" lIns="0" tIns="0" rIns="0" bIns="0" rtlCol="0" anchor="ctr"/>
          <a:lstStyle/>
          <a:p>
            <a:pPr marL="0" indent="0" algn="ctr">
              <a:buNone/>
            </a:pPr>
            <a:r>
              <a:rPr lang="en-US" sz="1100" b="1" kern="0" spc="250" dirty="0">
                <a:solidFill>
                  <a:srgbClr val="9FE7DF"/>
                </a:solidFill>
                <a:latin typeface="Calibri" pitchFamily="34" charset="0"/>
                <a:ea typeface="Calibri" pitchFamily="34" charset="-122"/>
                <a:cs typeface="Calibri" pitchFamily="34" charset="-120"/>
              </a:rPr>
              <a:t>CLOUD NATIVE ASSOCIATION AT PURDUE</a:t>
            </a:r>
            <a:endParaRPr lang="en-US" sz="1100" dirty="0"/>
          </a:p>
        </p:txBody>
      </p:sp>
    </p:spTree>
  </p:cSld>
  <p:clrMapOvr>
    <a:masterClrMapping/>
  </p:clrMapOvr>
</p:sld>
</file>

<file path=ppt/theme/theme1.xml><?xml version="1.0" encoding="utf-8"?>
<a:theme xmlns:a="http://schemas.openxmlformats.org/drawingml/2006/main" name="CNAP Cloud Native">
  <a:themeElements>
    <a:clrScheme name="CNAP Cloud Native">
      <a:dk1>
        <a:srgbClr val="1B1537"/>
      </a:dk1>
      <a:lt1>
        <a:srgbClr val="FFFFFF"/>
      </a:lt1>
      <a:dk2>
        <a:srgbClr val="1F2A44"/>
      </a:dk2>
      <a:lt2>
        <a:srgbClr val="E8F3F2"/>
      </a:lt2>
      <a:accent1>
        <a:srgbClr val="0B4F5C"/>
      </a:accent1>
      <a:accent2>
        <a:srgbClr val="0F7B45"/>
      </a:accent2>
      <a:accent3>
        <a:srgbClr val="B3263B"/>
      </a:accent3>
      <a:accent4>
        <a:srgbClr val="C2771A"/>
      </a:accent4>
      <a:accent5>
        <a:srgbClr val="4C3FA3"/>
      </a:accent5>
      <a:accent6>
        <a:srgbClr val="0067C0"/>
      </a:accent6>
      <a:hlink>
        <a:srgbClr val="0067C0"/>
      </a:hlink>
      <a:folHlink>
        <a:srgbClr val="4C3FA3"/>
      </a:folHlink>
    </a:clrScheme>
    <a:fontScheme name="CNAP Cloud Native">
      <a:majorFont>
        <a:latin typeface="Ar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5556</TotalTime>
  <Words>27379</Words>
  <Application>Microsoft Macintosh PowerPoint</Application>
  <PresentationFormat>Widescreen</PresentationFormat>
  <Paragraphs>1384</Paragraphs>
  <Slides>58</Slides>
  <Notes>58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Arvo</vt:lpstr>
      <vt:lpstr>Calibri</vt:lpstr>
      <vt:lpstr>Roboto Mono</vt:lpstr>
      <vt:lpstr>CNAP Cloud Native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Cloud Native Association at Purdue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CNAP — Securing Multitenant Kubernetes</dc:title>
  <dc:subject>Securing Multitenant Kubernetes</dc:subject>
  <dc:creator>Cloud Native Association at Purdue</dc:creator>
  <cp:lastModifiedBy>Erik S Gough</cp:lastModifiedBy>
  <cp:revision>6</cp:revision>
  <dcterms:created xsi:type="dcterms:W3CDTF">2026-10-23T15:37:05Z</dcterms:created>
  <dcterms:modified xsi:type="dcterms:W3CDTF">2026-10-27T18:52:35Z</dcterms:modified>
</cp:coreProperties>
</file>